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Roboto Mon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RobotoMono-bold.fntdata"/><Relationship Id="rId41" Type="http://schemas.openxmlformats.org/officeDocument/2006/relationships/font" Target="fonts/RobotoMono-regular.fntdata"/><Relationship Id="rId22" Type="http://schemas.openxmlformats.org/officeDocument/2006/relationships/slide" Target="slides/slide17.xml"/><Relationship Id="rId44" Type="http://schemas.openxmlformats.org/officeDocument/2006/relationships/font" Target="fonts/RobotoMono-boldItalic.fntdata"/><Relationship Id="rId21" Type="http://schemas.openxmlformats.org/officeDocument/2006/relationships/slide" Target="slides/slide16.xml"/><Relationship Id="rId43" Type="http://schemas.openxmlformats.org/officeDocument/2006/relationships/font" Target="fonts/RobotoMono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529c42f6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3" name="Google Shape;63;g3e529c42f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e529c42f66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529c42f6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e529c42f66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529c42f6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e529c42f66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529c42f6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e529c42f66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529c42f6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e529c42f66_0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529c42f6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529c42f66_0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529c42f66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e529c42f66_0_1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529c42f66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e529c42f66_0_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529c42f66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e529c42f66_0_1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529c42f66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e529c42f66_0_2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e529c42f66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e529c42f66_0_2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529c42f66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e529c42f66_0_2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529c42f66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e529c42f66_0_2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e529c42f66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e529c42f66_0_2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e529c42f66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e529c42f66_0_2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e529c42f66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e529c42f66_0_2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e529c42f66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e529c42f66_0_2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e529c42f66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e529c42f66_0_2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e529c42f66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e529c42f66_0_2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529c42f66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e529c42f66_0_2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e529c42f66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e529c42f66_0_3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e529c42f66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e529c42f66_0_3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e529c42f66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e529c42f66_0_3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529c42f66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e529c42f66_0_3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e529c42f66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e529c42f66_0_3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e529c42f66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e529c42f66_0_3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e529c42f66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e529c42f66_0_3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529c42f66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e529c42f66_0_3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529c42f66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e529c42f66_0_3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e529c42f66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3e529c42f66_0_3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e529c42f66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e529c42f66_0_3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e529c42f66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g3e529c42f66_0_3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e529c42f66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e529c42f66_0_3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e529c42f66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e529c42f66_0_3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e529c42f66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e529c42f66_0_3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1">
  <p:cSld name="Title Slide - 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8243888" y="1131888"/>
            <a:ext cx="900000" cy="113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014_logo_only_reverse.png"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5188" y="1419225"/>
            <a:ext cx="407987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65762" y="3003798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365762" y="3507855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0C2344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C23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365587" y="1141558"/>
            <a:ext cx="54387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400" u="none" cap="none" strike="noStrike">
                <a:solidFill>
                  <a:srgbClr val="1F8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y Slide - 1">
  <p:cSld name="Copy Slide - 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4b282c2015.png"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13763" y="1439863"/>
            <a:ext cx="363537" cy="49371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/>
        </p:nvSpPr>
        <p:spPr>
          <a:xfrm flipH="1">
            <a:off x="8588375" y="4732338"/>
            <a:ext cx="30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b="0" i="0" lang="en-CA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100" u="none" cap="none" strike="noStrike">
                <a:solidFill>
                  <a:srgbClr val="1F8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beej.us/guide/bgnet/html/split/system-calls-or-bust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beej.us/guide/bgnet/html/split/system-calls-or-bust.html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beej.us/guide/bgnet/html/split/client-server-background.html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man7.org/linux/man-pages/man3/pthread_create.3.html" TargetMode="External"/><Relationship Id="rId4" Type="http://schemas.openxmlformats.org/officeDocument/2006/relationships/hyperlink" Target="https://man7.org/linux/man-pages/man3/pthread_join.3.html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65762" y="3003798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CA"/>
              <a:t>Sockets in C</a:t>
            </a:r>
            <a:endParaRPr/>
          </a:p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365762" y="3507855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C2344"/>
              </a:buClr>
              <a:buSzPts val="1000"/>
              <a:buNone/>
            </a:pPr>
            <a:r>
              <a:rPr lang="en-CA"/>
              <a:t>Han Kim</a:t>
            </a:r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65573" y="1141550"/>
            <a:ext cx="47004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CA" sz="3500">
                <a:solidFill>
                  <a:srgbClr val="0077C9"/>
                </a:solidFill>
              </a:rPr>
              <a:t>Tutorial 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This tutorial is designed to help with PA3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Unlike the previous two PAs, PA3 moves to a lower-level language: C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Sockets are still used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PA4 and PA5 will also be in C</a:t>
            </a:r>
            <a:endParaRPr/>
          </a:p>
          <a:p>
            <a:pPr indent="-323850" lvl="1" marL="13716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Understanding these basics will be useful later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Topics for today: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Introduction to PA3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Socket Programming in C</a:t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File descriptor</a:t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Client and Server in C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PThreads in C</a:t>
            </a:r>
            <a:endParaRPr/>
          </a:p>
        </p:txBody>
      </p:sp>
      <p:sp>
        <p:nvSpPr>
          <p:cNvPr id="74" name="Google Shape;74;p1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 flipH="1" rot="10800000">
            <a:off x="3175775" y="2868003"/>
            <a:ext cx="2628000" cy="239700"/>
          </a:xfrm>
          <a:prstGeom prst="frame">
            <a:avLst>
              <a:gd fmla="val 12500" name="adj1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Client</a:t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Server</a:t>
            </a:r>
            <a:endParaRPr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Server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85" name="Google Shape;85;p17"/>
          <p:cNvCxnSpPr>
            <a:stCxn id="83" idx="1"/>
            <a:endCxn id="86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7"/>
          <p:cNvSpPr txBox="1"/>
          <p:nvPr/>
        </p:nvSpPr>
        <p:spPr>
          <a:xfrm>
            <a:off x="973850" y="1327875"/>
            <a:ext cx="1880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Client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88" name="Google Shape;88;p17"/>
          <p:cNvCxnSpPr>
            <a:stCxn id="81" idx="3"/>
            <a:endCxn id="89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" name="Google Shape;90;p17"/>
          <p:cNvSpPr/>
          <p:nvPr/>
        </p:nvSpPr>
        <p:spPr>
          <a:xfrm>
            <a:off x="3432175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91" name="Google Shape;91;p17"/>
          <p:cNvSpPr/>
          <p:nvPr/>
        </p:nvSpPr>
        <p:spPr>
          <a:xfrm>
            <a:off x="3707939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92" name="Google Shape;92;p17"/>
          <p:cNvSpPr/>
          <p:nvPr/>
        </p:nvSpPr>
        <p:spPr>
          <a:xfrm>
            <a:off x="3983702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93" name="Google Shape;93;p17"/>
          <p:cNvSpPr/>
          <p:nvPr/>
        </p:nvSpPr>
        <p:spPr>
          <a:xfrm>
            <a:off x="4244938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94" name="Google Shape;94;p17"/>
          <p:cNvSpPr/>
          <p:nvPr/>
        </p:nvSpPr>
        <p:spPr>
          <a:xfrm>
            <a:off x="4520702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95" name="Google Shape;95;p17"/>
          <p:cNvSpPr/>
          <p:nvPr/>
        </p:nvSpPr>
        <p:spPr>
          <a:xfrm>
            <a:off x="4796465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96" name="Google Shape;96;p17"/>
          <p:cNvSpPr/>
          <p:nvPr/>
        </p:nvSpPr>
        <p:spPr>
          <a:xfrm>
            <a:off x="5064960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97" name="Google Shape;97;p17"/>
          <p:cNvSpPr/>
          <p:nvPr/>
        </p:nvSpPr>
        <p:spPr>
          <a:xfrm>
            <a:off x="5333435" y="2913463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98" name="Google Shape;98;p1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Introduction to PA3: Refresher on PA1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1" name="Google Shape;101;p17"/>
          <p:cNvSpPr/>
          <p:nvPr/>
        </p:nvSpPr>
        <p:spPr>
          <a:xfrm rot="-964725">
            <a:off x="2715139" y="1910193"/>
            <a:ext cx="920717" cy="820828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/>
        </p:nvSpPr>
        <p:spPr>
          <a:xfrm flipH="1" rot="10800000">
            <a:off x="3175775" y="2868003"/>
            <a:ext cx="2628000" cy="239700"/>
          </a:xfrm>
          <a:prstGeom prst="frame">
            <a:avLst>
              <a:gd fmla="val 12500" name="adj1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Client</a:t>
            </a:r>
            <a:endParaRPr/>
          </a:p>
        </p:txBody>
      </p:sp>
      <p:sp>
        <p:nvSpPr>
          <p:cNvPr id="109" name="Google Shape;109;p18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Server</a:t>
            </a:r>
            <a:endParaRPr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Server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12" name="Google Shape;112;p18"/>
          <p:cNvCxnSpPr>
            <a:stCxn id="110" idx="1"/>
            <a:endCxn id="113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8"/>
          <p:cNvSpPr txBox="1"/>
          <p:nvPr/>
        </p:nvSpPr>
        <p:spPr>
          <a:xfrm>
            <a:off x="973850" y="1327875"/>
            <a:ext cx="1880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Client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15" name="Google Shape;115;p18"/>
          <p:cNvCxnSpPr>
            <a:stCxn id="108" idx="3"/>
            <a:endCxn id="116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18"/>
          <p:cNvSpPr/>
          <p:nvPr/>
        </p:nvSpPr>
        <p:spPr>
          <a:xfrm>
            <a:off x="3432175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18" name="Google Shape;118;p18"/>
          <p:cNvSpPr/>
          <p:nvPr/>
        </p:nvSpPr>
        <p:spPr>
          <a:xfrm>
            <a:off x="3707939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19" name="Google Shape;119;p18"/>
          <p:cNvSpPr/>
          <p:nvPr/>
        </p:nvSpPr>
        <p:spPr>
          <a:xfrm>
            <a:off x="3983702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20" name="Google Shape;120;p18"/>
          <p:cNvSpPr/>
          <p:nvPr/>
        </p:nvSpPr>
        <p:spPr>
          <a:xfrm>
            <a:off x="4244938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21" name="Google Shape;121;p18"/>
          <p:cNvSpPr/>
          <p:nvPr/>
        </p:nvSpPr>
        <p:spPr>
          <a:xfrm>
            <a:off x="4520702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22" name="Google Shape;122;p18"/>
          <p:cNvSpPr/>
          <p:nvPr/>
        </p:nvSpPr>
        <p:spPr>
          <a:xfrm>
            <a:off x="4796465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23" name="Google Shape;123;p18"/>
          <p:cNvSpPr/>
          <p:nvPr/>
        </p:nvSpPr>
        <p:spPr>
          <a:xfrm>
            <a:off x="5064960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24" name="Google Shape;124;p18"/>
          <p:cNvSpPr/>
          <p:nvPr/>
        </p:nvSpPr>
        <p:spPr>
          <a:xfrm>
            <a:off x="5333435" y="2913463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125" name="Google Shape;125;p1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Introduction to PA3: Refresher on PA1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8" name="Google Shape;128;p18"/>
          <p:cNvSpPr/>
          <p:nvPr/>
        </p:nvSpPr>
        <p:spPr>
          <a:xfrm rot="-964725">
            <a:off x="2715139" y="1910193"/>
            <a:ext cx="920717" cy="820828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3295350" y="1080650"/>
            <a:ext cx="4115100" cy="774600"/>
          </a:xfrm>
          <a:prstGeom prst="wedgeRoundRectCallout">
            <a:avLst>
              <a:gd fmla="val -36200" name="adj1"/>
              <a:gd fmla="val 85325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/>
              <a:t>In PA1, we implemented a TCP client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Client</a:t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Server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39" name="Google Shape;139;p19"/>
          <p:cNvCxnSpPr>
            <a:stCxn id="137" idx="1"/>
            <a:endCxn id="138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19"/>
          <p:cNvCxnSpPr>
            <a:stCxn id="135" idx="3"/>
            <a:endCxn id="141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19"/>
          <p:cNvSpPr/>
          <p:nvPr/>
        </p:nvSpPr>
        <p:spPr>
          <a:xfrm>
            <a:off x="5934452" y="87408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143" name="Google Shape;143;p19"/>
          <p:cNvCxnSpPr>
            <a:stCxn id="141" idx="6"/>
            <a:endCxn id="142" idx="4"/>
          </p:cNvCxnSpPr>
          <p:nvPr/>
        </p:nvCxnSpPr>
        <p:spPr>
          <a:xfrm flipH="1" rot="10800000">
            <a:off x="3295354" y="948775"/>
            <a:ext cx="2639100" cy="20397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41" name="Google Shape;141;p19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4507952" y="2839075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145" name="Google Shape;145;p19"/>
          <p:cNvCxnSpPr>
            <a:stCxn id="141" idx="6"/>
            <a:endCxn id="144" idx="4"/>
          </p:cNvCxnSpPr>
          <p:nvPr/>
        </p:nvCxnSpPr>
        <p:spPr>
          <a:xfrm flipH="1" rot="10800000">
            <a:off x="3295354" y="2913775"/>
            <a:ext cx="1212600" cy="747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46" name="Google Shape;146;p19"/>
          <p:cNvSpPr/>
          <p:nvPr/>
        </p:nvSpPr>
        <p:spPr>
          <a:xfrm>
            <a:off x="2521252" y="4591950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147" name="Google Shape;147;p19"/>
          <p:cNvCxnSpPr>
            <a:stCxn id="138" idx="2"/>
            <a:endCxn id="146" idx="0"/>
          </p:cNvCxnSpPr>
          <p:nvPr/>
        </p:nvCxnSpPr>
        <p:spPr>
          <a:xfrm flipH="1">
            <a:off x="2735154" y="2988475"/>
            <a:ext cx="2949000" cy="16782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9"/>
          <p:cNvCxnSpPr>
            <a:stCxn id="138" idx="2"/>
            <a:endCxn id="144" idx="0"/>
          </p:cNvCxnSpPr>
          <p:nvPr/>
        </p:nvCxnSpPr>
        <p:spPr>
          <a:xfrm rot="10800000">
            <a:off x="4721754" y="2913775"/>
            <a:ext cx="962400" cy="747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49" name="Google Shape;149;p19"/>
          <p:cNvSpPr/>
          <p:nvPr/>
        </p:nvSpPr>
        <p:spPr>
          <a:xfrm>
            <a:off x="1946691" y="4486360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0" name="Google Shape;150;p19"/>
          <p:cNvCxnSpPr>
            <a:stCxn id="146" idx="4"/>
            <a:endCxn id="149" idx="3"/>
          </p:cNvCxnSpPr>
          <p:nvPr/>
        </p:nvCxnSpPr>
        <p:spPr>
          <a:xfrm flipH="1">
            <a:off x="2307352" y="4666650"/>
            <a:ext cx="213900" cy="600"/>
          </a:xfrm>
          <a:prstGeom prst="curvedConnector3">
            <a:avLst>
              <a:gd fmla="val 50014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51" name="Google Shape;151;p19"/>
          <p:cNvSpPr/>
          <p:nvPr/>
        </p:nvSpPr>
        <p:spPr>
          <a:xfrm>
            <a:off x="5470258" y="4697241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152" name="Google Shape;152;p19"/>
          <p:cNvCxnSpPr>
            <a:stCxn id="153" idx="6"/>
            <a:endCxn id="151" idx="5"/>
          </p:cNvCxnSpPr>
          <p:nvPr/>
        </p:nvCxnSpPr>
        <p:spPr>
          <a:xfrm>
            <a:off x="3295354" y="2988475"/>
            <a:ext cx="2193600" cy="1783500"/>
          </a:xfrm>
          <a:prstGeom prst="curvedConnector3">
            <a:avLst>
              <a:gd fmla="val 49574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54" name="Google Shape;154;p19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55" name="Google Shape;155;p19"/>
          <p:cNvCxnSpPr>
            <a:stCxn id="142" idx="0"/>
            <a:endCxn id="156" idx="1"/>
          </p:cNvCxnSpPr>
          <p:nvPr/>
        </p:nvCxnSpPr>
        <p:spPr>
          <a:xfrm>
            <a:off x="6148352" y="948788"/>
            <a:ext cx="7371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19"/>
          <p:cNvCxnSpPr>
            <a:stCxn id="151" idx="0"/>
            <a:endCxn id="158" idx="2"/>
          </p:cNvCxnSpPr>
          <p:nvPr/>
        </p:nvCxnSpPr>
        <p:spPr>
          <a:xfrm>
            <a:off x="5684158" y="4771941"/>
            <a:ext cx="1184700" cy="6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59" name="Google Shape;159;p19"/>
          <p:cNvSpPr/>
          <p:nvPr/>
        </p:nvSpPr>
        <p:spPr>
          <a:xfrm>
            <a:off x="4007077" y="2988475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160" name="Google Shape;160;p19"/>
          <p:cNvCxnSpPr>
            <a:stCxn id="153" idx="6"/>
            <a:endCxn id="159" idx="4"/>
          </p:cNvCxnSpPr>
          <p:nvPr/>
        </p:nvCxnSpPr>
        <p:spPr>
          <a:xfrm>
            <a:off x="3295354" y="2988475"/>
            <a:ext cx="711600" cy="74700"/>
          </a:xfrm>
          <a:prstGeom prst="curvedConnector3">
            <a:avLst>
              <a:gd fmla="val 50009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19"/>
          <p:cNvCxnSpPr>
            <a:stCxn id="154" idx="2"/>
            <a:endCxn id="159" idx="0"/>
          </p:cNvCxnSpPr>
          <p:nvPr/>
        </p:nvCxnSpPr>
        <p:spPr>
          <a:xfrm flipH="1">
            <a:off x="4221054" y="2988475"/>
            <a:ext cx="1463100" cy="747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62" name="Google Shape;162;p19"/>
          <p:cNvSpPr/>
          <p:nvPr/>
        </p:nvSpPr>
        <p:spPr>
          <a:xfrm>
            <a:off x="6885500" y="768502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63" name="Google Shape;163;p19"/>
          <p:cNvSpPr/>
          <p:nvPr/>
        </p:nvSpPr>
        <p:spPr>
          <a:xfrm>
            <a:off x="6964240" y="847250"/>
            <a:ext cx="203100" cy="2031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6852300" y="91565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6902100" y="4591652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66" name="Google Shape;166;p19"/>
          <p:cNvSpPr/>
          <p:nvPr/>
        </p:nvSpPr>
        <p:spPr>
          <a:xfrm>
            <a:off x="6980840" y="4670400"/>
            <a:ext cx="203100" cy="2031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6868900" y="473880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2025440" y="4565400"/>
            <a:ext cx="203100" cy="2031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2277475" y="463350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69" name="Google Shape;169;p1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Introduction to PA3: Refresher on PA2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973850" y="1327875"/>
            <a:ext cx="1880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Client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Server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72" name="Google Shape;172;p19"/>
          <p:cNvSpPr/>
          <p:nvPr/>
        </p:nvSpPr>
        <p:spPr>
          <a:xfrm rot="-964725">
            <a:off x="2715139" y="1910193"/>
            <a:ext cx="920717" cy="820828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Client</a:t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Server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82" name="Google Shape;182;p20"/>
          <p:cNvCxnSpPr>
            <a:stCxn id="180" idx="1"/>
            <a:endCxn id="181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" name="Google Shape;183;p20"/>
          <p:cNvCxnSpPr>
            <a:stCxn id="178" idx="3"/>
            <a:endCxn id="184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" name="Google Shape;185;p20"/>
          <p:cNvSpPr/>
          <p:nvPr/>
        </p:nvSpPr>
        <p:spPr>
          <a:xfrm>
            <a:off x="5934452" y="87408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186" name="Google Shape;186;p20"/>
          <p:cNvCxnSpPr>
            <a:stCxn id="184" idx="6"/>
            <a:endCxn id="185" idx="4"/>
          </p:cNvCxnSpPr>
          <p:nvPr/>
        </p:nvCxnSpPr>
        <p:spPr>
          <a:xfrm flipH="1" rot="10800000">
            <a:off x="3295354" y="948775"/>
            <a:ext cx="2639100" cy="20397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84" name="Google Shape;184;p20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507952" y="2839075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188" name="Google Shape;188;p20"/>
          <p:cNvCxnSpPr>
            <a:stCxn id="184" idx="6"/>
            <a:endCxn id="187" idx="4"/>
          </p:cNvCxnSpPr>
          <p:nvPr/>
        </p:nvCxnSpPr>
        <p:spPr>
          <a:xfrm flipH="1" rot="10800000">
            <a:off x="3295354" y="2913775"/>
            <a:ext cx="1212600" cy="747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89" name="Google Shape;189;p20"/>
          <p:cNvSpPr/>
          <p:nvPr/>
        </p:nvSpPr>
        <p:spPr>
          <a:xfrm>
            <a:off x="2521252" y="4591950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190" name="Google Shape;190;p20"/>
          <p:cNvCxnSpPr>
            <a:stCxn id="181" idx="2"/>
            <a:endCxn id="189" idx="0"/>
          </p:cNvCxnSpPr>
          <p:nvPr/>
        </p:nvCxnSpPr>
        <p:spPr>
          <a:xfrm flipH="1">
            <a:off x="2735154" y="2988475"/>
            <a:ext cx="2949000" cy="16782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0"/>
          <p:cNvCxnSpPr>
            <a:stCxn id="181" idx="2"/>
            <a:endCxn id="187" idx="0"/>
          </p:cNvCxnSpPr>
          <p:nvPr/>
        </p:nvCxnSpPr>
        <p:spPr>
          <a:xfrm rot="10800000">
            <a:off x="4721754" y="2913775"/>
            <a:ext cx="962400" cy="747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92" name="Google Shape;192;p20"/>
          <p:cNvSpPr/>
          <p:nvPr/>
        </p:nvSpPr>
        <p:spPr>
          <a:xfrm>
            <a:off x="1946691" y="4486360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3" name="Google Shape;193;p20"/>
          <p:cNvCxnSpPr>
            <a:stCxn id="189" idx="4"/>
            <a:endCxn id="192" idx="3"/>
          </p:cNvCxnSpPr>
          <p:nvPr/>
        </p:nvCxnSpPr>
        <p:spPr>
          <a:xfrm flipH="1">
            <a:off x="2307352" y="4666650"/>
            <a:ext cx="213900" cy="600"/>
          </a:xfrm>
          <a:prstGeom prst="curvedConnector3">
            <a:avLst>
              <a:gd fmla="val 50014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94" name="Google Shape;194;p20"/>
          <p:cNvSpPr/>
          <p:nvPr/>
        </p:nvSpPr>
        <p:spPr>
          <a:xfrm>
            <a:off x="5470258" y="4697241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195" name="Google Shape;195;p20"/>
          <p:cNvCxnSpPr>
            <a:stCxn id="196" idx="6"/>
            <a:endCxn id="194" idx="5"/>
          </p:cNvCxnSpPr>
          <p:nvPr/>
        </p:nvCxnSpPr>
        <p:spPr>
          <a:xfrm>
            <a:off x="3295354" y="2988475"/>
            <a:ext cx="2193600" cy="1783500"/>
          </a:xfrm>
          <a:prstGeom prst="curvedConnector3">
            <a:avLst>
              <a:gd fmla="val 49574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97" name="Google Shape;197;p20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98" name="Google Shape;198;p20"/>
          <p:cNvCxnSpPr>
            <a:stCxn id="185" idx="0"/>
            <a:endCxn id="199" idx="1"/>
          </p:cNvCxnSpPr>
          <p:nvPr/>
        </p:nvCxnSpPr>
        <p:spPr>
          <a:xfrm>
            <a:off x="6148352" y="948788"/>
            <a:ext cx="7371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0"/>
          <p:cNvCxnSpPr>
            <a:stCxn id="194" idx="0"/>
            <a:endCxn id="201" idx="2"/>
          </p:cNvCxnSpPr>
          <p:nvPr/>
        </p:nvCxnSpPr>
        <p:spPr>
          <a:xfrm>
            <a:off x="5684158" y="4771941"/>
            <a:ext cx="1184700" cy="6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202" name="Google Shape;202;p20"/>
          <p:cNvSpPr/>
          <p:nvPr/>
        </p:nvSpPr>
        <p:spPr>
          <a:xfrm>
            <a:off x="4007077" y="2988475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cxnSp>
        <p:nvCxnSpPr>
          <p:cNvPr id="203" name="Google Shape;203;p20"/>
          <p:cNvCxnSpPr>
            <a:stCxn id="196" idx="6"/>
            <a:endCxn id="202" idx="4"/>
          </p:cNvCxnSpPr>
          <p:nvPr/>
        </p:nvCxnSpPr>
        <p:spPr>
          <a:xfrm>
            <a:off x="3295354" y="2988475"/>
            <a:ext cx="711600" cy="74700"/>
          </a:xfrm>
          <a:prstGeom prst="curvedConnector3">
            <a:avLst>
              <a:gd fmla="val 50009" name="adj1"/>
            </a:avLst>
          </a:prstGeom>
          <a:noFill/>
          <a:ln cap="flat" cmpd="sng" w="19050">
            <a:solidFill>
              <a:srgbClr val="6D9EEB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0"/>
          <p:cNvCxnSpPr>
            <a:stCxn id="197" idx="2"/>
            <a:endCxn id="202" idx="0"/>
          </p:cNvCxnSpPr>
          <p:nvPr/>
        </p:nvCxnSpPr>
        <p:spPr>
          <a:xfrm flipH="1">
            <a:off x="4221054" y="2988475"/>
            <a:ext cx="1463100" cy="747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rgbClr val="6FA8DC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205" name="Google Shape;205;p20"/>
          <p:cNvSpPr/>
          <p:nvPr/>
        </p:nvSpPr>
        <p:spPr>
          <a:xfrm>
            <a:off x="6885500" y="768502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06" name="Google Shape;206;p20"/>
          <p:cNvSpPr/>
          <p:nvPr/>
        </p:nvSpPr>
        <p:spPr>
          <a:xfrm>
            <a:off x="6964240" y="847250"/>
            <a:ext cx="203100" cy="2031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6852300" y="91565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6902100" y="4591652"/>
            <a:ext cx="360600" cy="360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09" name="Google Shape;209;p20"/>
          <p:cNvSpPr/>
          <p:nvPr/>
        </p:nvSpPr>
        <p:spPr>
          <a:xfrm>
            <a:off x="6980840" y="4670400"/>
            <a:ext cx="203100" cy="2031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6868900" y="473880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2025440" y="4565400"/>
            <a:ext cx="203100" cy="2031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2277475" y="4633500"/>
            <a:ext cx="66300" cy="663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12" name="Google Shape;212;p2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Introduction to PA3: Refresher on PA2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973850" y="1327875"/>
            <a:ext cx="1880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Client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Server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15" name="Google Shape;215;p20"/>
          <p:cNvSpPr/>
          <p:nvPr/>
        </p:nvSpPr>
        <p:spPr>
          <a:xfrm rot="-964725">
            <a:off x="2715139" y="1910193"/>
            <a:ext cx="920717" cy="820828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3295350" y="1080650"/>
            <a:ext cx="4115100" cy="774600"/>
          </a:xfrm>
          <a:prstGeom prst="wedgeRoundRectCallout">
            <a:avLst>
              <a:gd fmla="val -36200" name="adj1"/>
              <a:gd fmla="val 85325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/>
              <a:t>In PA2, we implemented a UDP client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Client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Server</a:t>
            </a:r>
            <a:endParaRPr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Server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26" name="Google Shape;226;p21"/>
          <p:cNvCxnSpPr>
            <a:stCxn id="224" idx="1"/>
            <a:endCxn id="227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8" name="Google Shape;228;p21"/>
          <p:cNvSpPr txBox="1"/>
          <p:nvPr/>
        </p:nvSpPr>
        <p:spPr>
          <a:xfrm>
            <a:off x="973850" y="1327875"/>
            <a:ext cx="1880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Client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29" name="Google Shape;229;p21"/>
          <p:cNvCxnSpPr>
            <a:stCxn id="222" idx="3"/>
            <a:endCxn id="230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" name="Google Shape;231;p21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Introduction to PA3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34" name="Google Shape;234;p21"/>
          <p:cNvSpPr/>
          <p:nvPr/>
        </p:nvSpPr>
        <p:spPr>
          <a:xfrm flipH="1" rot="964725">
            <a:off x="5346809" y="1888093"/>
            <a:ext cx="920717" cy="820828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Client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Server</a:t>
            </a:r>
            <a:endParaRPr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Server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44" name="Google Shape;244;p22"/>
          <p:cNvCxnSpPr>
            <a:stCxn id="242" idx="1"/>
            <a:endCxn id="245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6" name="Google Shape;246;p22"/>
          <p:cNvSpPr txBox="1"/>
          <p:nvPr/>
        </p:nvSpPr>
        <p:spPr>
          <a:xfrm>
            <a:off x="973850" y="1327875"/>
            <a:ext cx="1880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Client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47" name="Google Shape;247;p22"/>
          <p:cNvCxnSpPr>
            <a:stCxn id="240" idx="3"/>
            <a:endCxn id="248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9" name="Google Shape;249;p22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Introduction to PA3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52" name="Google Shape;252;p22"/>
          <p:cNvSpPr/>
          <p:nvPr/>
        </p:nvSpPr>
        <p:spPr>
          <a:xfrm flipH="1" rot="964725">
            <a:off x="5346809" y="1888093"/>
            <a:ext cx="920717" cy="820828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3" name="Google Shape;253;p22"/>
          <p:cNvSpPr/>
          <p:nvPr/>
        </p:nvSpPr>
        <p:spPr>
          <a:xfrm flipH="1">
            <a:off x="1283900" y="1059850"/>
            <a:ext cx="4469100" cy="774600"/>
          </a:xfrm>
          <a:prstGeom prst="wedgeRoundRectCallout">
            <a:avLst>
              <a:gd fmla="val -36200" name="adj1"/>
              <a:gd fmla="val 85325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/>
              <a:t>In PA3, we shift our focus to the server side and implement a server in C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 flipH="1" rot="10800000">
            <a:off x="3175775" y="2868003"/>
            <a:ext cx="2628000" cy="239700"/>
          </a:xfrm>
          <a:prstGeom prst="frame">
            <a:avLst>
              <a:gd fmla="val 12500" name="adj1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3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Client</a:t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Server</a:t>
            </a:r>
            <a:endParaRPr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Server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64" name="Google Shape;264;p23"/>
          <p:cNvCxnSpPr>
            <a:stCxn id="262" idx="1"/>
            <a:endCxn id="265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6" name="Google Shape;266;p23"/>
          <p:cNvSpPr txBox="1"/>
          <p:nvPr/>
        </p:nvSpPr>
        <p:spPr>
          <a:xfrm>
            <a:off x="973850" y="1327875"/>
            <a:ext cx="1880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Client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67" name="Google Shape;267;p23"/>
          <p:cNvCxnSpPr>
            <a:stCxn id="260" idx="3"/>
            <a:endCxn id="268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" name="Google Shape;269;p23"/>
          <p:cNvSpPr/>
          <p:nvPr/>
        </p:nvSpPr>
        <p:spPr>
          <a:xfrm>
            <a:off x="3432175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270" name="Google Shape;270;p23"/>
          <p:cNvSpPr/>
          <p:nvPr/>
        </p:nvSpPr>
        <p:spPr>
          <a:xfrm>
            <a:off x="3707939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271" name="Google Shape;271;p23"/>
          <p:cNvSpPr/>
          <p:nvPr/>
        </p:nvSpPr>
        <p:spPr>
          <a:xfrm>
            <a:off x="3983702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272" name="Google Shape;272;p23"/>
          <p:cNvSpPr/>
          <p:nvPr/>
        </p:nvSpPr>
        <p:spPr>
          <a:xfrm>
            <a:off x="4244938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273" name="Google Shape;273;p23"/>
          <p:cNvSpPr/>
          <p:nvPr/>
        </p:nvSpPr>
        <p:spPr>
          <a:xfrm>
            <a:off x="4520702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274" name="Google Shape;274;p23"/>
          <p:cNvSpPr/>
          <p:nvPr/>
        </p:nvSpPr>
        <p:spPr>
          <a:xfrm>
            <a:off x="4796465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275" name="Google Shape;275;p23"/>
          <p:cNvSpPr/>
          <p:nvPr/>
        </p:nvSpPr>
        <p:spPr>
          <a:xfrm>
            <a:off x="5064960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276" name="Google Shape;276;p23"/>
          <p:cNvSpPr/>
          <p:nvPr/>
        </p:nvSpPr>
        <p:spPr>
          <a:xfrm>
            <a:off x="5333435" y="2913463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277" name="Google Shape;277;p23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Introduction to PA3: Refresher on PA1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80" name="Google Shape;280;p23"/>
          <p:cNvSpPr/>
          <p:nvPr/>
        </p:nvSpPr>
        <p:spPr>
          <a:xfrm flipH="1" rot="964725">
            <a:off x="5346809" y="1888093"/>
            <a:ext cx="920717" cy="820828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"/>
          <p:cNvSpPr/>
          <p:nvPr/>
        </p:nvSpPr>
        <p:spPr>
          <a:xfrm flipH="1" rot="10800000">
            <a:off x="3175775" y="2868003"/>
            <a:ext cx="2628000" cy="239700"/>
          </a:xfrm>
          <a:prstGeom prst="frame">
            <a:avLst>
              <a:gd fmla="val 12500" name="adj1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4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Client</a:t>
            </a: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4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Server</a:t>
            </a:r>
            <a:endParaRPr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Server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91" name="Google Shape;291;p24"/>
          <p:cNvCxnSpPr>
            <a:stCxn id="289" idx="1"/>
            <a:endCxn id="292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3" name="Google Shape;293;p24"/>
          <p:cNvSpPr txBox="1"/>
          <p:nvPr/>
        </p:nvSpPr>
        <p:spPr>
          <a:xfrm>
            <a:off x="973850" y="1327875"/>
            <a:ext cx="1880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Client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94" name="Google Shape;294;p24"/>
          <p:cNvCxnSpPr>
            <a:stCxn id="287" idx="3"/>
            <a:endCxn id="295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6" name="Google Shape;296;p24"/>
          <p:cNvSpPr/>
          <p:nvPr/>
        </p:nvSpPr>
        <p:spPr>
          <a:xfrm>
            <a:off x="3432175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297" name="Google Shape;297;p24"/>
          <p:cNvSpPr/>
          <p:nvPr/>
        </p:nvSpPr>
        <p:spPr>
          <a:xfrm>
            <a:off x="3707939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298" name="Google Shape;298;p24"/>
          <p:cNvSpPr/>
          <p:nvPr/>
        </p:nvSpPr>
        <p:spPr>
          <a:xfrm>
            <a:off x="3983702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299" name="Google Shape;299;p24"/>
          <p:cNvSpPr/>
          <p:nvPr/>
        </p:nvSpPr>
        <p:spPr>
          <a:xfrm>
            <a:off x="4244938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300" name="Google Shape;300;p24"/>
          <p:cNvSpPr/>
          <p:nvPr/>
        </p:nvSpPr>
        <p:spPr>
          <a:xfrm>
            <a:off x="4520702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301" name="Google Shape;301;p24"/>
          <p:cNvSpPr/>
          <p:nvPr/>
        </p:nvSpPr>
        <p:spPr>
          <a:xfrm>
            <a:off x="4796465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302" name="Google Shape;302;p24"/>
          <p:cNvSpPr/>
          <p:nvPr/>
        </p:nvSpPr>
        <p:spPr>
          <a:xfrm>
            <a:off x="5064960" y="2912838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303" name="Google Shape;303;p24"/>
          <p:cNvSpPr/>
          <p:nvPr/>
        </p:nvSpPr>
        <p:spPr>
          <a:xfrm>
            <a:off x="5333435" y="2913463"/>
            <a:ext cx="213900" cy="149400"/>
          </a:xfrm>
          <a:prstGeom prst="bevel">
            <a:avLst>
              <a:gd fmla="val 12500" name="adj"/>
            </a:avLst>
          </a:prstGeom>
          <a:solidFill>
            <a:srgbClr val="FFF2CC"/>
          </a:solidFill>
          <a:ln cap="flat" cmpd="sng" w="8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9"/>
          </a:p>
        </p:txBody>
      </p:sp>
      <p:sp>
        <p:nvSpPr>
          <p:cNvPr id="304" name="Google Shape;304;p2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Introduction to PA3: Refresher on PA1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07" name="Google Shape;307;p24"/>
          <p:cNvSpPr/>
          <p:nvPr/>
        </p:nvSpPr>
        <p:spPr>
          <a:xfrm flipH="1" rot="964725">
            <a:off x="5346809" y="1888093"/>
            <a:ext cx="920717" cy="820828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8" name="Google Shape;308;p24"/>
          <p:cNvSpPr/>
          <p:nvPr/>
        </p:nvSpPr>
        <p:spPr>
          <a:xfrm flipH="1">
            <a:off x="2407575" y="2164075"/>
            <a:ext cx="2388900" cy="451800"/>
          </a:xfrm>
          <a:prstGeom prst="wedgeRoundRectCallout">
            <a:avLst>
              <a:gd fmla="val -36200" name="adj1"/>
              <a:gd fmla="val 85325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/>
              <a:t>which will use TCP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5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What is a file descriptor(</a:t>
            </a:r>
            <a:r>
              <a:rPr b="1"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fd</a:t>
            </a:r>
            <a:r>
              <a:rPr lang="en-CA"/>
              <a:t>)?</a:t>
            </a:r>
            <a:endParaRPr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High Level: Like a pointer to an open file</a:t>
            </a:r>
            <a:endParaRPr/>
          </a:p>
          <a:p>
            <a:pPr indent="-3238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Not actually a C pointer</a:t>
            </a:r>
            <a:endParaRPr/>
          </a:p>
          <a:p>
            <a:pPr indent="-3238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More in CPSC 313...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Is socket a file?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CA"/>
              <a:t>In Unix-based system, many things are treated like files</a:t>
            </a:r>
            <a:endParaRPr sz="600">
              <a:solidFill>
                <a:srgbClr val="FF0000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File Interface: </a:t>
            </a: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READ</a:t>
            </a:r>
            <a:r>
              <a:rPr lang="en-CA"/>
              <a:t>, </a:t>
            </a: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WRITE</a:t>
            </a:r>
            <a:endParaRPr b="1">
              <a:latin typeface="Courier"/>
              <a:ea typeface="Courier"/>
              <a:cs typeface="Courier"/>
              <a:sym typeface="Courier"/>
            </a:endParaRPr>
          </a:p>
          <a:p>
            <a:pPr indent="-323850" lvl="1" marL="13716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We read and write to a </a:t>
            </a:r>
            <a:r>
              <a:rPr b="1" lang="en-CA">
                <a:solidFill>
                  <a:srgbClr val="CC0000"/>
                </a:solidFill>
              </a:rPr>
              <a:t>file</a:t>
            </a:r>
            <a:r>
              <a:rPr lang="en-CA"/>
              <a:t> 		→	a </a:t>
            </a:r>
            <a:r>
              <a:rPr b="1" lang="en-CA">
                <a:solidFill>
                  <a:srgbClr val="CC0000"/>
                </a:solidFill>
              </a:rPr>
              <a:t>file</a:t>
            </a:r>
            <a:r>
              <a:rPr lang="en-CA"/>
              <a:t> gets an </a:t>
            </a:r>
            <a:r>
              <a:rPr b="1"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fd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23850" lvl="1" marL="13716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We read and write to the </a:t>
            </a:r>
            <a:r>
              <a:rPr b="1" lang="en-CA">
                <a:solidFill>
                  <a:srgbClr val="E69138"/>
                </a:solidFill>
              </a:rPr>
              <a:t>terminal</a:t>
            </a:r>
            <a:r>
              <a:rPr lang="en-CA"/>
              <a:t>	→	the </a:t>
            </a:r>
            <a:r>
              <a:rPr b="1" lang="en-CA">
                <a:solidFill>
                  <a:srgbClr val="E69138"/>
                </a:solidFill>
              </a:rPr>
              <a:t>terminal</a:t>
            </a:r>
            <a:r>
              <a:rPr lang="en-CA"/>
              <a:t> get an </a:t>
            </a:r>
            <a:r>
              <a:rPr b="1"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fd</a:t>
            </a:r>
            <a:endParaRPr/>
          </a:p>
          <a:p>
            <a:pPr indent="-323850" lvl="1" marL="13716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We read and write to a </a:t>
            </a:r>
            <a:r>
              <a:rPr b="1" lang="en-CA">
                <a:solidFill>
                  <a:srgbClr val="6AA84F"/>
                </a:solidFill>
              </a:rPr>
              <a:t>socket</a:t>
            </a:r>
            <a:r>
              <a:rPr lang="en-CA"/>
              <a:t>		→	a </a:t>
            </a:r>
            <a:r>
              <a:rPr b="1" lang="en-CA">
                <a:solidFill>
                  <a:srgbClr val="6AA84F"/>
                </a:solidFill>
              </a:rPr>
              <a:t>socket</a:t>
            </a:r>
            <a:r>
              <a:rPr lang="en-CA"/>
              <a:t> gets an </a:t>
            </a:r>
            <a:r>
              <a:rPr b="1"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fd</a:t>
            </a:r>
            <a:endParaRPr/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We can read from and write to whatever the </a:t>
            </a:r>
            <a:r>
              <a:rPr b="1"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fd</a:t>
            </a:r>
            <a:r>
              <a:rPr lang="en-CA"/>
              <a:t> refers to</a:t>
            </a:r>
            <a:endParaRPr/>
          </a:p>
        </p:txBody>
      </p:sp>
      <p:sp>
        <p:nvSpPr>
          <p:cNvPr id="314" name="Google Shape;314;p25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Sockets Programming in C: File Descriptors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In C, sockets are referenced using socket </a:t>
            </a:r>
            <a:r>
              <a:rPr b="1"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fd</a:t>
            </a:r>
            <a:r>
              <a:rPr lang="en-CA"/>
              <a:t>s</a:t>
            </a:r>
            <a:endParaRPr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A socket </a:t>
            </a:r>
            <a:r>
              <a:rPr b="1"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fd</a:t>
            </a:r>
            <a:r>
              <a:rPr lang="en-CA"/>
              <a:t> is an integer variable, often named </a:t>
            </a:r>
            <a:r>
              <a:rPr b="1"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sockfd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During setup, functions use </a:t>
            </a:r>
            <a:r>
              <a:rPr b="1"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sockfd</a:t>
            </a:r>
            <a:r>
              <a:rPr lang="en-CA"/>
              <a:t> to change the socket’s properties</a:t>
            </a:r>
            <a:endParaRPr/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bind(sockfd, ...)</a:t>
            </a:r>
            <a:r>
              <a:rPr lang="en-CA"/>
              <a:t> attaches that socket to an address and port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listen(sockfd, ...)</a:t>
            </a:r>
            <a:r>
              <a:rPr lang="en-CA"/>
              <a:t> makes that socket ready to accept connections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During sending and receiving, sockfd is used to identify which socket to use</a:t>
            </a:r>
            <a:endParaRPr/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send(sockfd, ...)</a:t>
            </a:r>
            <a:r>
              <a:rPr lang="en-CA"/>
              <a:t> sends (</a:t>
            </a: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WRITE</a:t>
            </a:r>
            <a:r>
              <a:rPr lang="en-CA"/>
              <a:t>) data through that socket</a:t>
            </a:r>
            <a:endParaRPr/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recv(sockfd, ...)</a:t>
            </a:r>
            <a:r>
              <a:rPr lang="en-CA"/>
              <a:t> receives (</a:t>
            </a: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READ</a:t>
            </a:r>
            <a:r>
              <a:rPr lang="en-CA"/>
              <a:t>) data from that socket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Sockets Programming in C: File Descriptors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7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Server</a:t>
            </a:r>
            <a:endParaRPr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27" name="Google Shape;327;p27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Server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28" name="Google Shape;328;p27"/>
          <p:cNvCxnSpPr>
            <a:stCxn id="326" idx="1"/>
            <a:endCxn id="329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0" name="Google Shape;330;p2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C Sockets: Server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"/>
          <p:cNvSpPr txBox="1"/>
          <p:nvPr>
            <p:ph idx="1" type="body"/>
          </p:nvPr>
        </p:nvSpPr>
        <p:spPr>
          <a:xfrm>
            <a:off x="438950" y="1131894"/>
            <a:ext cx="7661400" cy="3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0956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CA"/>
              <a:t>Set up a socket: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domain</a:t>
            </a:r>
            <a:r>
              <a:rPr lang="en-CA"/>
              <a:t>: Specifies the communication domain</a:t>
            </a:r>
            <a:endParaRPr/>
          </a:p>
          <a:p>
            <a:pPr indent="-309563" lvl="0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AF_LOCAL</a:t>
            </a:r>
            <a:r>
              <a:rPr lang="en-CA"/>
              <a:t>: 	same host</a:t>
            </a:r>
            <a:endParaRPr/>
          </a:p>
          <a:p>
            <a:pPr indent="-309563" lvl="0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AF_INET</a:t>
            </a:r>
            <a:r>
              <a:rPr lang="en-CA"/>
              <a:t>: 	IPv4</a:t>
            </a:r>
            <a:endParaRPr/>
          </a:p>
          <a:p>
            <a:pPr indent="-309563" lvl="0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AF_INET6</a:t>
            </a:r>
            <a:r>
              <a:rPr lang="en-CA"/>
              <a:t>: 	IPv6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type</a:t>
            </a:r>
            <a:r>
              <a:rPr lang="en-CA"/>
              <a:t>: Specifies the communication type</a:t>
            </a:r>
            <a:endParaRPr/>
          </a:p>
          <a:p>
            <a:pPr indent="-309563" lvl="0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SOCK_STREAM</a:t>
            </a:r>
            <a:r>
              <a:rPr lang="en-CA"/>
              <a:t>: 	TCP</a:t>
            </a:r>
            <a:endParaRPr/>
          </a:p>
          <a:p>
            <a:pPr indent="-309563" lvl="0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SOCK_DGRAM</a:t>
            </a:r>
            <a:r>
              <a:rPr lang="en-CA"/>
              <a:t>: 	UDP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protocol</a:t>
            </a:r>
            <a:r>
              <a:rPr lang="en-CA"/>
              <a:t>: Used for special socket cases not covered here</a:t>
            </a:r>
            <a:endParaRPr/>
          </a:p>
          <a:p>
            <a:pPr indent="-309563" lvl="0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For now, set it to 0 to use the default protocol</a:t>
            </a:r>
            <a:endParaRPr/>
          </a:p>
        </p:txBody>
      </p:sp>
      <p:sp>
        <p:nvSpPr>
          <p:cNvPr id="337" name="Google Shape;337;p2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C Sockets: Server - Create Socket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38" name="Google Shape;338;p28"/>
          <p:cNvSpPr txBox="1"/>
          <p:nvPr>
            <p:ph idx="1" type="body"/>
          </p:nvPr>
        </p:nvSpPr>
        <p:spPr>
          <a:xfrm>
            <a:off x="924500" y="1419924"/>
            <a:ext cx="6843600" cy="694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General form: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socket(domain, type, protocol)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sockfd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socket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(AF_INET, SOCK_STREAM,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solidFill>
                <a:srgbClr val="4DD0E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/>
          <p:nvPr>
            <p:ph idx="1" type="body"/>
          </p:nvPr>
        </p:nvSpPr>
        <p:spPr>
          <a:xfrm>
            <a:off x="438950" y="1131894"/>
            <a:ext cx="7661400" cy="3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0956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 startAt="2"/>
            </a:pPr>
            <a:r>
              <a:rPr lang="en-CA"/>
              <a:t>Bind the socket to a local port: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struct sockaddr_in addr</a:t>
            </a:r>
            <a:r>
              <a:rPr lang="en-CA"/>
              <a:t>: contains local IP address and port information</a:t>
            </a:r>
            <a:endParaRPr/>
          </a:p>
          <a:p>
            <a:pPr indent="-309563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addrlen</a:t>
            </a:r>
            <a:r>
              <a:rPr lang="en-CA"/>
              <a:t> is the size of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addr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More details: Beej’s Guide, </a:t>
            </a:r>
            <a:r>
              <a:rPr lang="en-CA" u="sng">
                <a:solidFill>
                  <a:schemeClr val="hlink"/>
                </a:solidFill>
                <a:hlinkClick r:id="rId3"/>
              </a:rPr>
              <a:t>Section 5.3</a:t>
            </a:r>
            <a:endParaRPr/>
          </a:p>
        </p:txBody>
      </p:sp>
      <p:sp>
        <p:nvSpPr>
          <p:cNvPr id="344" name="Google Shape;344;p2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C Sockets: Server - Bind Socket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45" name="Google Shape;345;p29"/>
          <p:cNvSpPr txBox="1"/>
          <p:nvPr>
            <p:ph idx="1" type="body"/>
          </p:nvPr>
        </p:nvSpPr>
        <p:spPr>
          <a:xfrm>
            <a:off x="924500" y="1419925"/>
            <a:ext cx="6842400" cy="22059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Using the old way for explanation: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manually fill in struct sockaddr_in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struct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sockaddr_in addr;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memset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addr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sizeof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(addr));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addr.sin_family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AF_INET;</a:t>
            </a: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// Address family (E.g. AF_INET for IPv4)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addr.sin_port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htons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(port);</a:t>
            </a: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// port number in network byte order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addr.sin_addr.s_addr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INADDR_ANY;</a:t>
            </a: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// IP address (E.g. INADDR_ANY for any local IP)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bind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(sockfd, (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struct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sockaddr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addr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addrlen);</a:t>
            </a:r>
            <a:endParaRPr sz="900">
              <a:solidFill>
                <a:srgbClr val="F06292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0"/>
          <p:cNvSpPr txBox="1"/>
          <p:nvPr>
            <p:ph idx="1" type="body"/>
          </p:nvPr>
        </p:nvSpPr>
        <p:spPr>
          <a:xfrm>
            <a:off x="438950" y="1131894"/>
            <a:ext cx="7661400" cy="3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0956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 startAt="2"/>
            </a:pPr>
            <a:r>
              <a:rPr lang="en-CA"/>
              <a:t>Bind the socket to a local port: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struct sockaddr_in addr</a:t>
            </a:r>
            <a:r>
              <a:rPr lang="en-CA"/>
              <a:t>: contains local IP address and port information</a:t>
            </a:r>
            <a:endParaRPr/>
          </a:p>
          <a:p>
            <a:pPr indent="-309563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addrlen</a:t>
            </a:r>
            <a:r>
              <a:rPr lang="en-CA"/>
              <a:t> is the size of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addr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More details: Beej’s Guide, </a:t>
            </a:r>
            <a:r>
              <a:rPr lang="en-CA" u="sng">
                <a:solidFill>
                  <a:schemeClr val="hlink"/>
                </a:solidFill>
                <a:hlinkClick r:id="rId3"/>
              </a:rPr>
              <a:t>Section 5.3</a:t>
            </a:r>
            <a:endParaRPr/>
          </a:p>
        </p:txBody>
      </p:sp>
      <p:sp>
        <p:nvSpPr>
          <p:cNvPr id="351" name="Google Shape;351;p3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C Sockets: Server - Bind Socket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52" name="Google Shape;352;p30"/>
          <p:cNvSpPr txBox="1"/>
          <p:nvPr>
            <p:ph idx="1" type="body"/>
          </p:nvPr>
        </p:nvSpPr>
        <p:spPr>
          <a:xfrm>
            <a:off x="924500" y="1419925"/>
            <a:ext cx="6842400" cy="22059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Using the old way for explanation: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manually fill in struct sockaddr_in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struct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sockaddr_in addr;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memset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addr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sizeof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(addr));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addr.sin_family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AF_INET;</a:t>
            </a: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// Address family (E.g. AF_INET for IPv4)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addr.sin_port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htons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(port);</a:t>
            </a: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// port number in network byte order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addr.sin_addr.s_addr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INADDR_ANY;</a:t>
            </a: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// IP address (E.g. INADDR_ANY for any local IP)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bind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(sockfd, (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struct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sockaddr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addr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addrlen);</a:t>
            </a:r>
            <a:endParaRPr sz="900">
              <a:solidFill>
                <a:srgbClr val="F06292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3" name="Google Shape;353;p30"/>
          <p:cNvSpPr/>
          <p:nvPr/>
        </p:nvSpPr>
        <p:spPr>
          <a:xfrm flipH="1">
            <a:off x="370150" y="2163775"/>
            <a:ext cx="4469100" cy="1006800"/>
          </a:xfrm>
          <a:prstGeom prst="wedgeRoundRectCallout">
            <a:avLst>
              <a:gd fmla="val -3882" name="adj1"/>
              <a:gd fmla="val -93403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CA" sz="1800"/>
              <a:t>This is the old way of binding a socket.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/>
              <a:t>It is more verbose, but more intuitive.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1"/>
          <p:cNvSpPr txBox="1"/>
          <p:nvPr>
            <p:ph idx="1" type="body"/>
          </p:nvPr>
        </p:nvSpPr>
        <p:spPr>
          <a:xfrm>
            <a:off x="438950" y="1131894"/>
            <a:ext cx="7661400" cy="3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0956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 startAt="3"/>
            </a:pPr>
            <a:r>
              <a:rPr lang="en-CA"/>
              <a:t>Listen for incoming connections: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backlog</a:t>
            </a:r>
            <a:r>
              <a:rPr lang="en-CA"/>
              <a:t>: max size of the pending connection queue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Puts the socket into a state where it can accept connections</a:t>
            </a:r>
            <a:endParaRPr/>
          </a:p>
          <a:p>
            <a:pPr indent="-309563" lvl="0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Returns </a:t>
            </a: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-1</a:t>
            </a:r>
            <a:r>
              <a:rPr lang="en-CA"/>
              <a:t> on error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1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C Sockets: Server - Listen for Connections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60" name="Google Shape;360;p31"/>
          <p:cNvSpPr txBox="1"/>
          <p:nvPr>
            <p:ph idx="1" type="body"/>
          </p:nvPr>
        </p:nvSpPr>
        <p:spPr>
          <a:xfrm>
            <a:off x="924500" y="1419924"/>
            <a:ext cx="6843600" cy="694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General form: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listen(sockfd, backlog)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listen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(sockfd,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solidFill>
                <a:srgbClr val="F06292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2"/>
          <p:cNvSpPr txBox="1"/>
          <p:nvPr>
            <p:ph idx="1" type="body"/>
          </p:nvPr>
        </p:nvSpPr>
        <p:spPr>
          <a:xfrm>
            <a:off x="438950" y="1131894"/>
            <a:ext cx="7661400" cy="3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0956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 startAt="4"/>
            </a:pPr>
            <a:r>
              <a:rPr lang="en-CA"/>
              <a:t>Accept a connection from a client: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addr</a:t>
            </a:r>
            <a:r>
              <a:rPr lang="en-CA"/>
              <a:t>: where the client’s address information will be stored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addrlen</a:t>
            </a:r>
            <a:r>
              <a:rPr lang="en-CA"/>
              <a:t>: where the size of the client address struct will be stored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Accepting a client connection blocks, meaning it waits until a client arrives</a:t>
            </a:r>
            <a:endParaRPr/>
          </a:p>
          <a:p>
            <a:pPr indent="-309563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Returns a new fd for this client: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client_fd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0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Returns </a:t>
            </a: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-1</a:t>
            </a:r>
            <a:r>
              <a:rPr lang="en-CA"/>
              <a:t> on error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2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C Sockets: Server - Accept a Connection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67" name="Google Shape;367;p32"/>
          <p:cNvSpPr txBox="1"/>
          <p:nvPr>
            <p:ph idx="1" type="body"/>
          </p:nvPr>
        </p:nvSpPr>
        <p:spPr>
          <a:xfrm>
            <a:off x="924500" y="1419924"/>
            <a:ext cx="6843600" cy="694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General form: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accept(sockfd, addr, addrlen)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client_fd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accept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(sockfd, (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struct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sockaddr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client_addr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addrlen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solidFill>
                <a:srgbClr val="F06292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3"/>
          <p:cNvSpPr txBox="1"/>
          <p:nvPr>
            <p:ph idx="1" type="body"/>
          </p:nvPr>
        </p:nvSpPr>
        <p:spPr>
          <a:xfrm>
            <a:off x="438950" y="1131894"/>
            <a:ext cx="7661400" cy="3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0956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 startAt="5"/>
            </a:pPr>
            <a:r>
              <a:rPr lang="en-CA"/>
              <a:t>Send and receive data: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urier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message</a:t>
            </a:r>
            <a:r>
              <a:rPr lang="en-CA"/>
              <a:t>: data we want to send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buffer</a:t>
            </a:r>
            <a:r>
              <a:rPr lang="en-CA"/>
              <a:t>: space where received data will be stored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len</a:t>
            </a:r>
            <a:r>
              <a:rPr lang="en-CA"/>
              <a:t>: number of bytes to send or receive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flags</a:t>
            </a:r>
            <a:r>
              <a:rPr lang="en-CA"/>
              <a:t>: Optional settings for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send()</a:t>
            </a:r>
            <a:r>
              <a:rPr lang="en-CA"/>
              <a:t> and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recv()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0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For now, set it to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3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C Sockets: Server - Send and Receive Data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74" name="Google Shape;374;p33"/>
          <p:cNvSpPr txBox="1"/>
          <p:nvPr>
            <p:ph idx="1" type="body"/>
          </p:nvPr>
        </p:nvSpPr>
        <p:spPr>
          <a:xfrm>
            <a:off x="924500" y="1419925"/>
            <a:ext cx="6842400" cy="11517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General form: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send(sockfd, buf, len, flags)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recv(sockfd, buf, len, flags)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send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(client_fd, message, 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strlen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(message),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recv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(client_fd, buffer,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sizeof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(buffer),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solidFill>
                <a:srgbClr val="F06292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4"/>
          <p:cNvSpPr txBox="1"/>
          <p:nvPr>
            <p:ph idx="1" type="body"/>
          </p:nvPr>
        </p:nvSpPr>
        <p:spPr>
          <a:xfrm>
            <a:off x="438950" y="1131894"/>
            <a:ext cx="7661400" cy="3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0956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 startAt="6"/>
            </a:pPr>
            <a:r>
              <a:rPr lang="en-CA"/>
              <a:t>Close the socket: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8511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close()</a:t>
            </a:r>
            <a:r>
              <a:rPr lang="en-CA" sz="1382"/>
              <a:t> closes a socket </a:t>
            </a:r>
            <a:r>
              <a:rPr lang="en-CA" sz="1382">
                <a:latin typeface="Courier"/>
                <a:ea typeface="Courier"/>
                <a:cs typeface="Courier"/>
                <a:sym typeface="Courier"/>
              </a:rPr>
              <a:t>fd</a:t>
            </a:r>
            <a:endParaRPr sz="1382">
              <a:latin typeface="Courier"/>
              <a:ea typeface="Courier"/>
              <a:cs typeface="Courier"/>
              <a:sym typeface="Courier"/>
            </a:endParaRPr>
          </a:p>
          <a:p>
            <a:pPr indent="-309563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Close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client_fd</a:t>
            </a:r>
            <a:r>
              <a:rPr lang="en-CA"/>
              <a:t> to close one client connection</a:t>
            </a:r>
            <a:endParaRPr/>
          </a:p>
          <a:p>
            <a:pPr indent="-309563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Close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sockfd</a:t>
            </a:r>
            <a:r>
              <a:rPr lang="en-CA"/>
              <a:t> to close the listening socket when shutting down the server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C Sockets: Server - Close the Connection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924500" y="1419924"/>
            <a:ext cx="6843600" cy="694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General form: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close(sockfd)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close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(client_fd);</a:t>
            </a:r>
            <a:endParaRPr sz="900">
              <a:solidFill>
                <a:srgbClr val="F06292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5"/>
          <p:cNvSpPr txBox="1"/>
          <p:nvPr>
            <p:ph idx="1" type="body"/>
          </p:nvPr>
        </p:nvSpPr>
        <p:spPr>
          <a:xfrm>
            <a:off x="438950" y="1131900"/>
            <a:ext cx="7661400" cy="381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45720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NEW: Prepare address information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memset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hints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sizeof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(hints));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hints.ai_family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AF_INET;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hints.ai_socktype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SOCK_STREAM;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hints.ai_flags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AI_PASSIVE;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getaddrinfo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port,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hints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servinfo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1. Set up a socket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sockfd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socket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(servinfo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ai_family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servinfo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ai_socktype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servinfo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ai_protocol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2. Bind the socket to a local port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bind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(sockfd, servinfo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ai_addr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servinfo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ai_addrlen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3. Listen for incoming connections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listen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(sockfd, BACKLOG);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4. Accept a connection from a client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addrlen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sizeof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client_addr;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client_fd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accept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(sockfd, (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struct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sockaddr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client_addr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addrlen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5. Send and receive data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send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(client_fd, message, len,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recv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(client_fd, buffer, len,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6. Close the socket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close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(client_fd);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close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(sockfd);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NEW: Clean up getaddrinfo() results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freeaddrinfo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(servinfo);</a:t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87" name="Google Shape;387;p35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C Sockets: TCP Server - At a Glance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C Sockets: TCP Server - At a Glance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93" name="Google Shape;393;p36"/>
          <p:cNvSpPr txBox="1"/>
          <p:nvPr>
            <p:ph idx="1" type="body"/>
          </p:nvPr>
        </p:nvSpPr>
        <p:spPr>
          <a:xfrm>
            <a:off x="438950" y="1131900"/>
            <a:ext cx="7661400" cy="381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45720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NEW: Prepare address information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memset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hints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sizeof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(hints));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hints.ai_family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AF_INET;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hints.ai_socktype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SOCK_STREAM;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hints.ai_flags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AI_PASSIVE;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getaddrinfo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port,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hints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servinfo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1. Set up a socket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sockfd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socket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(servinfo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ai_family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servinfo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ai_socktype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servinfo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ai_protocol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2. Bind the socket to a local port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bind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(sockfd, servinfo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ai_addr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servinfo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ai_addrlen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3. Listen for incoming connections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listen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(sockfd, BACKLOG);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4. Accept a connection from a client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addrlen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sizeof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client_addr;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client_fd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accept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(sockfd, (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struct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sockaddr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client_addr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addrlen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5. Send and receive data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send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(client_fd, message, len,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recv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(client_fd, buffer, len,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6. Close the socket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close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(client_fd);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close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(sockfd);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NEW: Clean up getaddrinfo() results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freeaddrinfo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(servinfo);</a:t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4" name="Google Shape;394;p36"/>
          <p:cNvSpPr/>
          <p:nvPr/>
        </p:nvSpPr>
        <p:spPr>
          <a:xfrm>
            <a:off x="377450" y="2097400"/>
            <a:ext cx="7948200" cy="1017900"/>
          </a:xfrm>
          <a:prstGeom prst="wedgeRoundRectCallout">
            <a:avLst>
              <a:gd fmla="val -38503" name="adj1"/>
              <a:gd fmla="val -122298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CA" sz="1800"/>
              <a:t>The new way lets us skip manually setting up the address struct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>
                <a:latin typeface="Courier"/>
                <a:ea typeface="Courier"/>
                <a:cs typeface="Courier"/>
                <a:sym typeface="Courier"/>
              </a:rPr>
              <a:t>getaddrinfo() </a:t>
            </a:r>
            <a:r>
              <a:rPr lang="en-CA" sz="1800"/>
              <a:t>prepares the values we pass to </a:t>
            </a:r>
            <a:r>
              <a:rPr lang="en-CA" sz="1800">
                <a:latin typeface="Courier"/>
                <a:ea typeface="Courier"/>
                <a:cs typeface="Courier"/>
                <a:sym typeface="Courier"/>
              </a:rPr>
              <a:t>socket()</a:t>
            </a:r>
            <a:r>
              <a:rPr lang="en-CA" sz="1800"/>
              <a:t> and </a:t>
            </a:r>
            <a:r>
              <a:rPr lang="en-CA" sz="1800">
                <a:latin typeface="Courier"/>
                <a:ea typeface="Courier"/>
                <a:cs typeface="Courier"/>
                <a:sym typeface="Courier"/>
              </a:rPr>
              <a:t>bind()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7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7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Client</a:t>
            </a:r>
            <a:endParaRPr/>
          </a:p>
        </p:txBody>
      </p:sp>
      <p:sp>
        <p:nvSpPr>
          <p:cNvPr id="401" name="Google Shape;401;p37"/>
          <p:cNvSpPr txBox="1"/>
          <p:nvPr/>
        </p:nvSpPr>
        <p:spPr>
          <a:xfrm>
            <a:off x="973850" y="1327875"/>
            <a:ext cx="1880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Client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02" name="Google Shape;402;p37"/>
          <p:cNvCxnSpPr>
            <a:stCxn id="400" idx="3"/>
            <a:endCxn id="403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4" name="Google Shape;404;p3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C Sockets: Client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405" name="Google Shape;405;p37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8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Client</a:t>
            </a:r>
            <a:endParaRPr/>
          </a:p>
        </p:txBody>
      </p:sp>
      <p:sp>
        <p:nvSpPr>
          <p:cNvPr id="412" name="Google Shape;412;p38"/>
          <p:cNvSpPr txBox="1"/>
          <p:nvPr/>
        </p:nvSpPr>
        <p:spPr>
          <a:xfrm>
            <a:off x="973850" y="1327875"/>
            <a:ext cx="1880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Client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13" name="Google Shape;413;p38"/>
          <p:cNvCxnSpPr>
            <a:stCxn id="411" idx="3"/>
            <a:endCxn id="414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5" name="Google Shape;415;p3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C Sockets: Client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416" name="Google Shape;416;p38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17" name="Google Shape;417;p38"/>
          <p:cNvSpPr/>
          <p:nvPr/>
        </p:nvSpPr>
        <p:spPr>
          <a:xfrm>
            <a:off x="2275250" y="1453450"/>
            <a:ext cx="5559900" cy="604500"/>
          </a:xfrm>
          <a:prstGeom prst="wedgeRoundRectCallout">
            <a:avLst>
              <a:gd fmla="val -37234" name="adj1"/>
              <a:gd fmla="val 85819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/>
              <a:t>Similar to the server side, but with fewer steps</a:t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9"/>
          <p:cNvSpPr txBox="1"/>
          <p:nvPr>
            <p:ph idx="1" type="body"/>
          </p:nvPr>
        </p:nvSpPr>
        <p:spPr>
          <a:xfrm>
            <a:off x="438950" y="1131894"/>
            <a:ext cx="7661400" cy="3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0956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CA"/>
              <a:t>Set up a socket: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domain</a:t>
            </a:r>
            <a:r>
              <a:rPr lang="en-CA"/>
              <a:t>: Specifies the communication domain</a:t>
            </a:r>
            <a:endParaRPr/>
          </a:p>
          <a:p>
            <a:pPr indent="-309563" lvl="0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AF_LOCAL</a:t>
            </a:r>
            <a:r>
              <a:rPr lang="en-CA"/>
              <a:t>: 	same host</a:t>
            </a:r>
            <a:endParaRPr/>
          </a:p>
          <a:p>
            <a:pPr indent="-309563" lvl="0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AF_INET</a:t>
            </a:r>
            <a:r>
              <a:rPr lang="en-CA"/>
              <a:t>: 	IPv4</a:t>
            </a:r>
            <a:endParaRPr/>
          </a:p>
          <a:p>
            <a:pPr indent="-309563" lvl="0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AF_INET6</a:t>
            </a:r>
            <a:r>
              <a:rPr lang="en-CA"/>
              <a:t>: 	IPv6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type</a:t>
            </a:r>
            <a:r>
              <a:rPr lang="en-CA"/>
              <a:t>: Specifies the communication type</a:t>
            </a:r>
            <a:endParaRPr/>
          </a:p>
          <a:p>
            <a:pPr indent="-309563" lvl="0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SOCK_STREAM</a:t>
            </a:r>
            <a:r>
              <a:rPr lang="en-CA"/>
              <a:t>: 	TCP</a:t>
            </a:r>
            <a:endParaRPr/>
          </a:p>
          <a:p>
            <a:pPr indent="-309563" lvl="0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SOCK_DGRAM</a:t>
            </a:r>
            <a:r>
              <a:rPr lang="en-CA"/>
              <a:t>: 	UDP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protocol</a:t>
            </a:r>
            <a:r>
              <a:rPr lang="en-CA"/>
              <a:t>: Used for special socket cases not covered here</a:t>
            </a:r>
            <a:endParaRPr/>
          </a:p>
          <a:p>
            <a:pPr indent="-309563" lvl="0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For now, set it to 0 to use the default protocol</a:t>
            </a:r>
            <a:endParaRPr/>
          </a:p>
        </p:txBody>
      </p:sp>
      <p:sp>
        <p:nvSpPr>
          <p:cNvPr id="423" name="Google Shape;423;p3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C Sockets: Client - Create Socket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424" name="Google Shape;424;p39"/>
          <p:cNvSpPr txBox="1"/>
          <p:nvPr>
            <p:ph idx="1" type="body"/>
          </p:nvPr>
        </p:nvSpPr>
        <p:spPr>
          <a:xfrm>
            <a:off x="924500" y="1419924"/>
            <a:ext cx="6843600" cy="694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General form: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socket(domain, type, protocol)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sockfd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socket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(AF_INET, SOCK_STREAM,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solidFill>
                <a:srgbClr val="4DD0E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/>
          <p:cNvSpPr txBox="1"/>
          <p:nvPr>
            <p:ph idx="1" type="body"/>
          </p:nvPr>
        </p:nvSpPr>
        <p:spPr>
          <a:xfrm>
            <a:off x="438950" y="1131894"/>
            <a:ext cx="7661400" cy="3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0956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 startAt="2"/>
            </a:pPr>
            <a:r>
              <a:rPr lang="en-CA"/>
              <a:t>Connect to the server: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struct sockaddr_in addr</a:t>
            </a:r>
            <a:r>
              <a:rPr lang="en-CA"/>
              <a:t>: contains the server's IP address and port information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addrlen</a:t>
            </a:r>
            <a:r>
              <a:rPr lang="en-CA"/>
              <a:t>: size of the address struct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The server must call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listen()</a:t>
            </a:r>
            <a:r>
              <a:rPr lang="en-CA"/>
              <a:t> first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C Sockets: Client - Connect to the Server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431" name="Google Shape;431;p40"/>
          <p:cNvSpPr txBox="1"/>
          <p:nvPr>
            <p:ph idx="1" type="body"/>
          </p:nvPr>
        </p:nvSpPr>
        <p:spPr>
          <a:xfrm>
            <a:off x="924500" y="1419924"/>
            <a:ext cx="6843600" cy="694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General form: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connect(sockfd, addr, addrlen)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connect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(sockfd, (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struct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sockaddr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server_addr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sizeof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(server_addr));</a:t>
            </a:r>
            <a:endParaRPr sz="900">
              <a:solidFill>
                <a:srgbClr val="F06292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1"/>
          <p:cNvSpPr txBox="1"/>
          <p:nvPr>
            <p:ph idx="1" type="body"/>
          </p:nvPr>
        </p:nvSpPr>
        <p:spPr>
          <a:xfrm>
            <a:off x="438950" y="1131894"/>
            <a:ext cx="7661400" cy="3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0956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 startAt="3"/>
            </a:pPr>
            <a:r>
              <a:rPr lang="en-CA"/>
              <a:t>Send and receive data: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urier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message</a:t>
            </a:r>
            <a:r>
              <a:rPr lang="en-CA"/>
              <a:t>: data we want to send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buffer</a:t>
            </a:r>
            <a:r>
              <a:rPr lang="en-CA"/>
              <a:t>: space where received data will be stored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len</a:t>
            </a:r>
            <a:r>
              <a:rPr lang="en-CA"/>
              <a:t>: number of bytes to send or receive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flags</a:t>
            </a:r>
            <a:r>
              <a:rPr lang="en-CA"/>
              <a:t>: Optional settings for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send()</a:t>
            </a:r>
            <a:r>
              <a:rPr lang="en-CA"/>
              <a:t> and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recv()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0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For now, set it to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41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C Sockets: Client - Send and Receive Data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438" name="Google Shape;438;p41"/>
          <p:cNvSpPr txBox="1"/>
          <p:nvPr>
            <p:ph idx="1" type="body"/>
          </p:nvPr>
        </p:nvSpPr>
        <p:spPr>
          <a:xfrm>
            <a:off x="924500" y="1419925"/>
            <a:ext cx="6842400" cy="11517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General form: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send(sockfd, buf, len, flags)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recv(sockfd, buf, len, flags)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send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(sockfd, message, 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strlen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(message),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recv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(sockfd, buffer,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sizeof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(buffer),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solidFill>
                <a:srgbClr val="F06292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2"/>
          <p:cNvSpPr txBox="1"/>
          <p:nvPr>
            <p:ph idx="1" type="body"/>
          </p:nvPr>
        </p:nvSpPr>
        <p:spPr>
          <a:xfrm>
            <a:off x="438950" y="1131894"/>
            <a:ext cx="7661400" cy="3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0956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 startAt="4"/>
            </a:pPr>
            <a:r>
              <a:rPr lang="en-CA"/>
              <a:t>Close the socket: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8511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close()</a:t>
            </a:r>
            <a:r>
              <a:rPr lang="en-CA" sz="1382"/>
              <a:t> closes a socket </a:t>
            </a:r>
            <a:r>
              <a:rPr lang="en-CA" sz="1382">
                <a:latin typeface="Courier"/>
                <a:ea typeface="Courier"/>
                <a:cs typeface="Courier"/>
                <a:sym typeface="Courier"/>
              </a:rPr>
              <a:t>fd</a:t>
            </a:r>
            <a:endParaRPr sz="1382">
              <a:latin typeface="Courier"/>
              <a:ea typeface="Courier"/>
              <a:cs typeface="Courier"/>
              <a:sym typeface="Courier"/>
            </a:endParaRPr>
          </a:p>
          <a:p>
            <a:pPr indent="-309563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Close sockfd when the client is done communicating with the server</a:t>
            </a:r>
            <a:endParaRPr/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2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C Sockets: Client - Close the Connection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445" name="Google Shape;445;p42"/>
          <p:cNvSpPr txBox="1"/>
          <p:nvPr>
            <p:ph idx="1" type="body"/>
          </p:nvPr>
        </p:nvSpPr>
        <p:spPr>
          <a:xfrm>
            <a:off x="924500" y="1419924"/>
            <a:ext cx="6843600" cy="694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General form: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close(sockfd)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close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(sockfd);</a:t>
            </a:r>
            <a:endParaRPr sz="900">
              <a:solidFill>
                <a:srgbClr val="F06292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3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C Sockets: Client - At a Glance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451" name="Google Shape;451;p43"/>
          <p:cNvSpPr txBox="1"/>
          <p:nvPr>
            <p:ph idx="1" type="body"/>
          </p:nvPr>
        </p:nvSpPr>
        <p:spPr>
          <a:xfrm>
            <a:off x="438950" y="1131900"/>
            <a:ext cx="7661400" cy="381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06292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NEW: Prepare server address information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memset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hints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sizeof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hints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hints.ai_family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AF_INET;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hints.ai_socktype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SOCK_STREAM;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getaddrinfo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(hostname, port,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hints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servinfo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1. Set up a socket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sockfd 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socket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(servinfo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ai_family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servinfo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ai_socktype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servinfo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ai_protocol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2. Connect to the server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connect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(sockfd, servinfo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ai_addr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servinfo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-&gt;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ai_addrlen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3. Send and receive data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send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(sockfd, message, len,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recv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(sockfd, buffer, len, 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4. Close the connection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close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(sockfd);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NEW: Clean up getaddrinfo() results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freeaddrinfo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(servinfo);</a:t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Studying Beej’s TCP Socket Code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457" name="Google Shape;457;p44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Open Beej’s Guide, </a:t>
            </a:r>
            <a:r>
              <a:rPr lang="en-CA" u="sng">
                <a:solidFill>
                  <a:schemeClr val="hlink"/>
                </a:solidFill>
                <a:hlinkClick r:id="rId3"/>
              </a:rPr>
              <a:t>Section 6.1</a:t>
            </a:r>
            <a:r>
              <a:rPr lang="en-CA"/>
              <a:t>: A Simple Stream Server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Time to digest the information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Read through the code and identify which part corresponds to each step</a:t>
            </a:r>
            <a:endParaRPr/>
          </a:p>
          <a:p>
            <a:pPr indent="-323850" lvl="1" marL="13716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If you have questions, please ask!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5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Why Threads?</a:t>
            </a:r>
            <a:endParaRPr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A server should be able to handle multiple clients</a:t>
            </a:r>
            <a:endParaRPr/>
          </a:p>
          <a:p>
            <a:pPr indent="-3238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One listening socket can accept many client connections</a:t>
            </a:r>
            <a:endParaRPr/>
          </a:p>
          <a:p>
            <a:pPr indent="-3238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Each accepted client gets its own client socket fd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How can one server handle multiple clients at once?</a:t>
            </a:r>
            <a:endParaRPr/>
          </a:p>
          <a:p>
            <a:pPr indent="-3238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What was the solution to this in 213? </a:t>
            </a:r>
            <a:r>
              <a:rPr b="1" lang="en-CA">
                <a:solidFill>
                  <a:srgbClr val="6AA84F"/>
                </a:solidFill>
              </a:rPr>
              <a:t>Threads</a:t>
            </a:r>
            <a:r>
              <a:rPr lang="en-CA"/>
              <a:t>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5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PThreads in C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464" name="Google Shape;464;p45"/>
          <p:cNvSpPr txBox="1"/>
          <p:nvPr>
            <p:ph idx="1" type="body"/>
          </p:nvPr>
        </p:nvSpPr>
        <p:spPr>
          <a:xfrm>
            <a:off x="1829395" y="3140000"/>
            <a:ext cx="3185400" cy="1689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pthread_create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pthread_t *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thread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const pthread_attr_t *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attr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void *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start_routine)(</a:t>
            </a: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void *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void *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arg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solidFill>
                <a:srgbClr val="F06292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65" name="Google Shape;465;p45"/>
          <p:cNvSpPr txBox="1"/>
          <p:nvPr>
            <p:ph idx="1" type="body"/>
          </p:nvPr>
        </p:nvSpPr>
        <p:spPr>
          <a:xfrm>
            <a:off x="5164495" y="3140000"/>
            <a:ext cx="2260500" cy="1689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CA" sz="9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pthread_join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pthread_t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thread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void **</a:t>
            </a: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retval</a:t>
            </a:r>
            <a:endParaRPr sz="9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 to…</a:t>
            </a:r>
            <a:endParaRPr/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pthread_create()</a:t>
            </a:r>
            <a:r>
              <a:rPr lang="en-CA"/>
              <a:t> man page: </a:t>
            </a:r>
            <a:r>
              <a:rPr lang="en-CA" u="sng">
                <a:solidFill>
                  <a:schemeClr val="hlink"/>
                </a:solidFill>
                <a:hlinkClick r:id="rId3"/>
              </a:rPr>
              <a:t>link</a:t>
            </a:r>
            <a:endParaRPr/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pthread_join()</a:t>
            </a:r>
            <a:r>
              <a:rPr lang="en-CA"/>
              <a:t> man page: </a:t>
            </a:r>
            <a:r>
              <a:rPr lang="en-CA" u="sng">
                <a:solidFill>
                  <a:schemeClr val="hlink"/>
                </a:solidFill>
                <a:hlinkClick r:id="rId4"/>
              </a:rPr>
              <a:t>link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… </a:t>
            </a:r>
            <a:r>
              <a:rPr lang="en-CA"/>
              <a:t>and complete the exercise using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runTask()</a:t>
            </a:r>
            <a:r>
              <a:rPr lang="en-CA"/>
              <a:t>, which prints their task ID:</a:t>
            </a:r>
            <a:endParaRPr/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CA"/>
              <a:t>Create 50 threads to run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runTask()</a:t>
            </a:r>
            <a:endParaRPr/>
          </a:p>
          <a:p>
            <a:pPr indent="-3238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Tasks may finish in any order</a:t>
            </a:r>
            <a:endParaRPr/>
          </a:p>
          <a:p>
            <a:pPr indent="-3238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The starter code already handles joining the threads</a:t>
            </a:r>
            <a:endParaRPr/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CA"/>
              <a:t>Complete 50 tasks again, in groups of 10</a:t>
            </a:r>
            <a:endParaRPr/>
          </a:p>
          <a:p>
            <a:pPr indent="-3238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Create 10 threads, then use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pthread_join()</a:t>
            </a:r>
            <a:r>
              <a:rPr lang="en-CA"/>
              <a:t> to wait for all of them before starting the next group</a:t>
            </a:r>
            <a:endParaRPr/>
          </a:p>
          <a:p>
            <a:pPr indent="-3238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Tasks may finish in any order within each group.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We will first go through a basic PThreads example together for reference</a:t>
            </a:r>
            <a:endParaRPr/>
          </a:p>
        </p:txBody>
      </p:sp>
      <p:sp>
        <p:nvSpPr>
          <p:cNvPr id="471" name="Google Shape;471;p4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Exercise 2: Coding PThreads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7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rmAutofit fontScale="25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#</a:t>
            </a: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include</a:t>
            </a:r>
            <a:r>
              <a:rPr lang="en-CA" sz="30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&lt;stdio.h&gt;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#</a:t>
            </a: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include</a:t>
            </a:r>
            <a:r>
              <a:rPr lang="en-CA" sz="30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&lt;pthread.h&gt;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Thread function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void*</a:t>
            </a:r>
            <a:r>
              <a:rPr lang="en-CA" sz="3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thread_function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void*</a:t>
            </a: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arg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printf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30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"Hello from thread!</a:t>
            </a: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\n</a:t>
            </a:r>
            <a:r>
              <a:rPr lang="en-CA" sz="30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return</a:t>
            </a: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NULL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CA" sz="3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main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 {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// Thread ID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pthread_t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tid;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// 1. Create a thread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pthread_create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tid, </a:t>
            </a: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thread_function, </a:t>
            </a: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// 2. Wait for the thread to finish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pthread_join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(tid, </a:t>
            </a: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return</a:t>
            </a: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3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06292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06292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77" name="Google Shape;477;p4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C PThreads: Simple Example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8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rmAutofit fontScale="25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#</a:t>
            </a: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include</a:t>
            </a:r>
            <a:r>
              <a:rPr lang="en-CA" sz="30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&lt;stdio.h&gt;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#</a:t>
            </a: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include</a:t>
            </a:r>
            <a:r>
              <a:rPr lang="en-CA" sz="30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&lt;pthread.h&gt;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Thread function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void*</a:t>
            </a:r>
            <a:r>
              <a:rPr lang="en-CA" sz="3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thread_function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void*</a:t>
            </a: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arg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printf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30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"Hello from thread!</a:t>
            </a: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\n</a:t>
            </a:r>
            <a:r>
              <a:rPr lang="en-CA" sz="30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return</a:t>
            </a: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NULL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CA" sz="3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main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 {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// Thread ID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pthread_t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tid;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// 1. Create a thread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pthread_create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tid, </a:t>
            </a: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thread_function, </a:t>
            </a: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// 2. Wait for the thread to finish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pthread_join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(tid, </a:t>
            </a: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return</a:t>
            </a: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3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06292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06292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83" name="Google Shape;483;p4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C PThreads: Simple Example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484" name="Google Shape;484;p48"/>
          <p:cNvSpPr/>
          <p:nvPr/>
        </p:nvSpPr>
        <p:spPr>
          <a:xfrm>
            <a:off x="2175975" y="2246800"/>
            <a:ext cx="3030900" cy="889200"/>
          </a:xfrm>
          <a:prstGeom prst="wedgeRoundRectCallout">
            <a:avLst>
              <a:gd fmla="val -47331" name="adj1"/>
              <a:gd fmla="val 73209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tid</a:t>
            </a:r>
            <a:r>
              <a:rPr lang="en-CA" sz="1300"/>
              <a:t> is used to store the thread ID for the newly created thread</a:t>
            </a:r>
            <a:endParaRPr sz="1300"/>
          </a:p>
        </p:txBody>
      </p:sp>
      <p:sp>
        <p:nvSpPr>
          <p:cNvPr id="485" name="Google Shape;485;p48"/>
          <p:cNvSpPr/>
          <p:nvPr/>
        </p:nvSpPr>
        <p:spPr>
          <a:xfrm>
            <a:off x="2706975" y="3956925"/>
            <a:ext cx="4284300" cy="421800"/>
          </a:xfrm>
          <a:prstGeom prst="wedgeRoundRectCallout">
            <a:avLst>
              <a:gd fmla="val -39320" name="adj1"/>
              <a:gd fmla="val -150622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300"/>
              <a:t>The newly created thread runs </a:t>
            </a: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thread_function()</a:t>
            </a:r>
            <a:endParaRPr sz="13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9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rmAutofit fontScale="25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#</a:t>
            </a: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include</a:t>
            </a:r>
            <a:r>
              <a:rPr lang="en-CA" sz="30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&lt;stdio.h&gt;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#</a:t>
            </a: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include</a:t>
            </a:r>
            <a:r>
              <a:rPr lang="en-CA" sz="30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&lt;pthread.h&gt;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Thread function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void*</a:t>
            </a:r>
            <a:r>
              <a:rPr lang="en-CA" sz="3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thread_function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void*</a:t>
            </a: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arg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printf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30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"Hello from thread!</a:t>
            </a: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\n</a:t>
            </a:r>
            <a:r>
              <a:rPr lang="en-CA" sz="30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return</a:t>
            </a: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NULL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CA" sz="3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main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 {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// Thread ID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pthread_t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tid;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// 1. Create a thread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pthread_create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tid, </a:t>
            </a: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thread_function, </a:t>
            </a: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// 2. Wait for the thread to finish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pthread_join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(tid, </a:t>
            </a: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return</a:t>
            </a: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3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06292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06292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91" name="Google Shape;491;p4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C PThreads: Simple Example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492" name="Google Shape;492;p49"/>
          <p:cNvSpPr/>
          <p:nvPr/>
        </p:nvSpPr>
        <p:spPr>
          <a:xfrm>
            <a:off x="1893850" y="2823275"/>
            <a:ext cx="2650500" cy="770400"/>
          </a:xfrm>
          <a:prstGeom prst="wedgeRoundRectCallout">
            <a:avLst>
              <a:gd fmla="val -47331" name="adj1"/>
              <a:gd fmla="val 73209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300">
                <a:latin typeface="Courier"/>
                <a:ea typeface="Courier"/>
                <a:cs typeface="Courier"/>
                <a:sym typeface="Courier"/>
              </a:rPr>
              <a:t>pthread_join()</a:t>
            </a:r>
            <a:r>
              <a:rPr lang="en-CA" sz="1300"/>
              <a:t> waits for the thread with ID </a:t>
            </a:r>
            <a:r>
              <a:rPr lang="en-CA" sz="13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tid</a:t>
            </a:r>
            <a:r>
              <a:rPr lang="en-CA" sz="1300"/>
              <a:t> to finish</a:t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