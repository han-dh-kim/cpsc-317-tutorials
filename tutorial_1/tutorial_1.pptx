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3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1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</p:sldIdLst>
  <p:sldSz cy="5143500" cx="9144000"/>
  <p:notesSz cx="6858000" cy="9144000"/>
  <p:embeddedFontLst>
    <p:embeddedFont>
      <p:font typeface="Roboto Mono"/>
      <p:regular r:id="rId55"/>
      <p:bold r:id="rId56"/>
      <p:italic r:id="rId57"/>
      <p:boldItalic r:id="rId5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9" Type="http://schemas.openxmlformats.org/officeDocument/2006/relationships/slide" Target="slides/slide4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slide" Target="slides/slide46.xml"/><Relationship Id="rId50" Type="http://schemas.openxmlformats.org/officeDocument/2006/relationships/slide" Target="slides/slide45.xml"/><Relationship Id="rId53" Type="http://schemas.openxmlformats.org/officeDocument/2006/relationships/slide" Target="slides/slide48.xml"/><Relationship Id="rId52" Type="http://schemas.openxmlformats.org/officeDocument/2006/relationships/slide" Target="slides/slide47.xml"/><Relationship Id="rId11" Type="http://schemas.openxmlformats.org/officeDocument/2006/relationships/slide" Target="slides/slide6.xml"/><Relationship Id="rId55" Type="http://schemas.openxmlformats.org/officeDocument/2006/relationships/font" Target="fonts/RobotoMono-regular.fntdata"/><Relationship Id="rId10" Type="http://schemas.openxmlformats.org/officeDocument/2006/relationships/slide" Target="slides/slide5.xml"/><Relationship Id="rId54" Type="http://schemas.openxmlformats.org/officeDocument/2006/relationships/slide" Target="slides/slide49.xml"/><Relationship Id="rId13" Type="http://schemas.openxmlformats.org/officeDocument/2006/relationships/slide" Target="slides/slide8.xml"/><Relationship Id="rId57" Type="http://schemas.openxmlformats.org/officeDocument/2006/relationships/font" Target="fonts/RobotoMono-italic.fntdata"/><Relationship Id="rId12" Type="http://schemas.openxmlformats.org/officeDocument/2006/relationships/slide" Target="slides/slide7.xml"/><Relationship Id="rId56" Type="http://schemas.openxmlformats.org/officeDocument/2006/relationships/font" Target="fonts/RobotoMono-bold.fntdata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58" Type="http://schemas.openxmlformats.org/officeDocument/2006/relationships/font" Target="fonts/RobotoMono-boldItalic.fntdata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b55ded8380_0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63" name="Google Shape;63;g3b55ded838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g3b55ded8380_0_0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CA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b55ded8380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g3b55ded8380_0_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fa61642c03_3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g3fa61642c03_3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e7b4e1f135_1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g3e7b4e1f135_1_3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e6745c4b5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g3e6745c4b55_0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e6ee5daf72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g3e6ee5daf72_0_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b5b429b10f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g3b5b429b10f_0_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e6ee5daf72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g3e6ee5daf72_0_1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b5b429b10f_0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g3b5b429b10f_0_5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e6ee5daf72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g3e6ee5daf72_0_3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b5b429b10f_0_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g3b5b429b10f_0_7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e6ee5daf72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g3e6ee5daf72_0_4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e6ee5daf72_0_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g3e6ee5daf72_0_8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b5b429b10f_0_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g3b5b429b10f_0_8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3e6ee5daf72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g3e6ee5daf72_0_6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3e6ee5daf72_0_1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g3e6ee5daf72_0_10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3b5b429b10f_0_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g3b5b429b10f_0_9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g3e6ee5daf72_0_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g3e6ee5daf72_0_7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g3e6ee5daf72_0_1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g3e6ee5daf72_0_11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g3e6ee5daf72_0_1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g3e6ee5daf72_0_15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g3e6ee5daf72_1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g3e6ee5daf72_1_1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g3e6ee5daf72_1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g3e6ee5daf72_1_4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g3e6ee5daf72_1_1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" name="Google Shape;304;g3e6ee5daf72_1_11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g3e6ee5daf72_1_1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" name="Google Shape;322;g3e6ee5daf72_1_18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g3b5b429b10f_0_1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1" name="Google Shape;341;g3b5b429b10f_0_10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g3b5b429b10f_0_1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7" name="Google Shape;347;g3b5b429b10f_0_15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g3b5b429b10f_0_1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4" name="Google Shape;354;g3b5b429b10f_0_17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g3b5b429b10f_0_1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2" name="Google Shape;362;g3b5b429b10f_0_18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g3b5b429b10f_0_1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1" name="Google Shape;371;g3b5b429b10f_0_19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g3e6ee5daf72_1_2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1" name="Google Shape;381;g3e6ee5daf72_1_22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g3e6ee5daf72_1_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8" name="Google Shape;388;g3e6ee5daf72_1_7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g3dc0bf7405a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3" name="Google Shape;413;g3dc0bf7405a_0_1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g3b5b429b10f_0_2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9" name="Google Shape;439;g3b5b429b10f_0_21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2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g3b5b429b10f_0_2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4" name="Google Shape;454;g3b5b429b10f_0_22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8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g3dc0bf7405a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0" name="Google Shape;470;g3dc0bf7405a_0_4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6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g3b5b429b10f_0_2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8" name="Google Shape;488;g3b5b429b10f_0_26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7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Google Shape;498;g3dc0bf7405a_0_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9" name="Google Shape;499;g3dc0bf7405a_0_7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9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g3b5b429b10f_0_2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1" name="Google Shape;511;g3b5b429b10f_0_28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5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g3b5b429b10f_0_3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7" name="Google Shape;517;g3b5b429b10f_0_30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2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" name="Google Shape;523;g3b5b429b10f_0_3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4" name="Google Shape;524;g3b5b429b10f_0_31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0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Google Shape;531;g3dc0bf7405a_0_1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2" name="Google Shape;532;g3dc0bf7405a_0_11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7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g3dc0bf7405a_0_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9" name="Google Shape;539;g3dc0bf7405a_0_9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4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Google Shape;545;g3dc0bf7405a_0_1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6" name="Google Shape;546;g3dc0bf7405a_0_13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1" name="Shape 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Google Shape;552;g3dc0bf7405a_0_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3" name="Google Shape;553;g3dc0bf7405a_0_9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8" name="Shape 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" name="Google Shape;559;g3dc0bf7405a_0_1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0" name="Google Shape;560;g3dc0bf7405a_0_15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5" name="Shape 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Google Shape;566;g3dc0bf7405a_0_1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7" name="Google Shape;567;g3dc0bf7405a_0_16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1" name="Shape 5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2" name="Google Shape;572;g3dc0bf7405a_0_1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3" name="Google Shape;573;g3dc0bf7405a_0_17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7" name="Shape 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8" name="Google Shape;578;g3dc0bf7405a_0_1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9" name="Google Shape;579;g3dc0bf7405a_0_18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6" name="Shape 5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7" name="Google Shape;597;g3dc0bf7405a_0_2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8" name="Google Shape;598;g3dc0bf7405a_0_23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- 1">
  <p:cSld name="Title Slide - 1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/>
          <p:nvPr/>
        </p:nvSpPr>
        <p:spPr>
          <a:xfrm>
            <a:off x="8243888" y="1131888"/>
            <a:ext cx="900000" cy="11319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2014_logo_only_reverse.png" id="52" name="Google Shape;52;p1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485188" y="1419225"/>
            <a:ext cx="407987" cy="514350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13"/>
          <p:cNvSpPr txBox="1"/>
          <p:nvPr>
            <p:ph idx="1" type="body"/>
          </p:nvPr>
        </p:nvSpPr>
        <p:spPr>
          <a:xfrm>
            <a:off x="365762" y="3003798"/>
            <a:ext cx="5430300" cy="32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85750" lvl="1" marL="914400" marR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–"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85750" lvl="2" marL="1371600" marR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•"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85750" lvl="3" marL="1828800" marR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–"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85750" lvl="4" marL="2286000" marR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»"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4" name="Google Shape;54;p13"/>
          <p:cNvSpPr txBox="1"/>
          <p:nvPr>
            <p:ph idx="2" type="body"/>
          </p:nvPr>
        </p:nvSpPr>
        <p:spPr>
          <a:xfrm>
            <a:off x="365762" y="3507855"/>
            <a:ext cx="5430300" cy="32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algn="l">
              <a:spcBef>
                <a:spcPts val="200"/>
              </a:spcBef>
              <a:spcAft>
                <a:spcPts val="0"/>
              </a:spcAft>
              <a:buClr>
                <a:srgbClr val="0C2344"/>
              </a:buClr>
              <a:buSzPts val="1000"/>
              <a:buFont typeface="Arial"/>
              <a:buNone/>
              <a:defRPr b="1" i="0" sz="1000" u="none" cap="none" strike="noStrike">
                <a:solidFill>
                  <a:srgbClr val="0C2344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85750" lvl="1" marL="914400" marR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–"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85750" lvl="2" marL="1371600" marR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•"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85750" lvl="3" marL="1828800" marR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–"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85750" lvl="4" marL="2286000" marR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»"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5" name="Google Shape;55;p13"/>
          <p:cNvSpPr txBox="1"/>
          <p:nvPr>
            <p:ph type="title"/>
          </p:nvPr>
        </p:nvSpPr>
        <p:spPr>
          <a:xfrm>
            <a:off x="365587" y="1141558"/>
            <a:ext cx="5438700" cy="157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marR="0" algn="l">
              <a:lnSpc>
                <a:spcPct val="111764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1" i="0" sz="3400" u="none" cap="none" strike="noStrike">
                <a:solidFill>
                  <a:srgbClr val="1F8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ctr">
              <a:spcBef>
                <a:spcPts val="0"/>
              </a:spcBef>
              <a:spcAft>
                <a:spcPts val="0"/>
              </a:spcAft>
              <a:buSzPts val="2800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ctr">
              <a:spcBef>
                <a:spcPts val="0"/>
              </a:spcBef>
              <a:spcAft>
                <a:spcPts val="0"/>
              </a:spcAft>
              <a:buSzPts val="2800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ctr">
              <a:spcBef>
                <a:spcPts val="0"/>
              </a:spcBef>
              <a:spcAft>
                <a:spcPts val="0"/>
              </a:spcAft>
              <a:buSzPts val="2800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ctr">
              <a:spcBef>
                <a:spcPts val="0"/>
              </a:spcBef>
              <a:spcAft>
                <a:spcPts val="0"/>
              </a:spcAft>
              <a:buSzPts val="2800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ctr">
              <a:spcBef>
                <a:spcPts val="0"/>
              </a:spcBef>
              <a:spcAft>
                <a:spcPts val="0"/>
              </a:spcAft>
              <a:buSzPts val="2800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ctr">
              <a:spcBef>
                <a:spcPts val="0"/>
              </a:spcBef>
              <a:spcAft>
                <a:spcPts val="0"/>
              </a:spcAft>
              <a:buSzPts val="2800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ctr">
              <a:spcBef>
                <a:spcPts val="0"/>
              </a:spcBef>
              <a:spcAft>
                <a:spcPts val="0"/>
              </a:spcAft>
              <a:buSzPts val="2800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ctr">
              <a:spcBef>
                <a:spcPts val="0"/>
              </a:spcBef>
              <a:spcAft>
                <a:spcPts val="0"/>
              </a:spcAft>
              <a:buSzPts val="2800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py Slide - 1">
  <p:cSld name="Copy Slide - 1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4b282c2015.png" id="57" name="Google Shape;57;p1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513763" y="1439863"/>
            <a:ext cx="363537" cy="493712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14"/>
          <p:cNvSpPr txBox="1"/>
          <p:nvPr/>
        </p:nvSpPr>
        <p:spPr>
          <a:xfrm flipH="1">
            <a:off x="8588375" y="4732338"/>
            <a:ext cx="3048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</a:pPr>
            <a:fld id="{00000000-1234-1234-1234-123412341234}" type="slidenum">
              <a:rPr b="0" i="0" lang="en-CA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" name="Google Shape;59;p14"/>
          <p:cNvSpPr txBox="1"/>
          <p:nvPr>
            <p:ph idx="1" type="body"/>
          </p:nvPr>
        </p:nvSpPr>
        <p:spPr>
          <a:xfrm>
            <a:off x="438954" y="1131888"/>
            <a:ext cx="7661400" cy="369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23850" lvl="1" marL="914400" marR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marR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23850" lvl="3" marL="1828800" marR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23850" lvl="4" marL="2286000" marR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0" name="Google Shape;60;p14"/>
          <p:cNvSpPr txBox="1"/>
          <p:nvPr>
            <p:ph type="title"/>
          </p:nvPr>
        </p:nvSpPr>
        <p:spPr>
          <a:xfrm>
            <a:off x="438954" y="560541"/>
            <a:ext cx="7886700" cy="45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2800"/>
              <a:buNone/>
              <a:defRPr b="1" i="0" sz="2100" u="none" cap="none" strike="noStrike">
                <a:solidFill>
                  <a:srgbClr val="1F8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ctr">
              <a:spcBef>
                <a:spcPts val="0"/>
              </a:spcBef>
              <a:spcAft>
                <a:spcPts val="0"/>
              </a:spcAft>
              <a:buSzPts val="2800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ctr">
              <a:spcBef>
                <a:spcPts val="0"/>
              </a:spcBef>
              <a:spcAft>
                <a:spcPts val="0"/>
              </a:spcAft>
              <a:buSzPts val="2800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ctr">
              <a:spcBef>
                <a:spcPts val="0"/>
              </a:spcBef>
              <a:spcAft>
                <a:spcPts val="0"/>
              </a:spcAft>
              <a:buSzPts val="2800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ctr">
              <a:spcBef>
                <a:spcPts val="0"/>
              </a:spcBef>
              <a:spcAft>
                <a:spcPts val="0"/>
              </a:spcAft>
              <a:buSzPts val="2800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ctr">
              <a:spcBef>
                <a:spcPts val="0"/>
              </a:spcBef>
              <a:spcAft>
                <a:spcPts val="0"/>
              </a:spcAft>
              <a:buSzPts val="2800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ctr">
              <a:spcBef>
                <a:spcPts val="0"/>
              </a:spcBef>
              <a:spcAft>
                <a:spcPts val="0"/>
              </a:spcAft>
              <a:buSzPts val="2800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ctr">
              <a:spcBef>
                <a:spcPts val="0"/>
              </a:spcBef>
              <a:spcAft>
                <a:spcPts val="0"/>
              </a:spcAft>
              <a:buSzPts val="2800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ctr">
              <a:spcBef>
                <a:spcPts val="0"/>
              </a:spcBef>
              <a:spcAft>
                <a:spcPts val="0"/>
              </a:spcAft>
              <a:buSzPts val="2800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.xml"/><Relationship Id="rId3" Type="http://schemas.openxmlformats.org/officeDocument/2006/relationships/hyperlink" Target="https://learn.microsoft.com/en-us/windows/wsl/install" TargetMode="Externa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5.xml"/><Relationship Id="rId3" Type="http://schemas.openxmlformats.org/officeDocument/2006/relationships/hyperlink" Target="https://datatracker.ietf.org/doc/html/rfc2229" TargetMode="Externa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6.xml"/><Relationship Id="rId3" Type="http://schemas.openxmlformats.org/officeDocument/2006/relationships/hyperlink" Target="https://datatracker.ietf.org/doc/html/rfc2229" TargetMode="External"/><Relationship Id="rId4" Type="http://schemas.openxmlformats.org/officeDocument/2006/relationships/image" Target="../media/image5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7.xml"/><Relationship Id="rId3" Type="http://schemas.openxmlformats.org/officeDocument/2006/relationships/hyperlink" Target="https://datatracker.ietf.org/doc/html/rfc2229" TargetMode="External"/><Relationship Id="rId4" Type="http://schemas.openxmlformats.org/officeDocument/2006/relationships/image" Target="../media/image5.png"/><Relationship Id="rId5" Type="http://schemas.openxmlformats.org/officeDocument/2006/relationships/image" Target="../media/image10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8.xml"/><Relationship Id="rId3" Type="http://schemas.openxmlformats.org/officeDocument/2006/relationships/hyperlink" Target="https://datatracker.ietf.org/doc/html/rfc2229" TargetMode="External"/><Relationship Id="rId4" Type="http://schemas.openxmlformats.org/officeDocument/2006/relationships/image" Target="../media/image5.png"/><Relationship Id="rId5" Type="http://schemas.openxmlformats.org/officeDocument/2006/relationships/image" Target="../media/image10.png"/><Relationship Id="rId6" Type="http://schemas.openxmlformats.org/officeDocument/2006/relationships/image" Target="../media/image3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9.xml"/><Relationship Id="rId3" Type="http://schemas.openxmlformats.org/officeDocument/2006/relationships/hyperlink" Target="https://datatracker.ietf.org/doc/html/rfc2229" TargetMode="External"/><Relationship Id="rId4" Type="http://schemas.openxmlformats.org/officeDocument/2006/relationships/image" Target="../media/image5.png"/><Relationship Id="rId5" Type="http://schemas.openxmlformats.org/officeDocument/2006/relationships/image" Target="../media/image10.png"/><Relationship Id="rId6" Type="http://schemas.openxmlformats.org/officeDocument/2006/relationships/image" Target="../media/image3.png"/><Relationship Id="rId7" Type="http://schemas.openxmlformats.org/officeDocument/2006/relationships/image" Target="../media/image4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0.xml"/><Relationship Id="rId3" Type="http://schemas.openxmlformats.org/officeDocument/2006/relationships/hyperlink" Target="https://datatracker.ietf.org/doc/html/rfc959" TargetMode="Externa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11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6.png"/><Relationship Id="rId4" Type="http://schemas.openxmlformats.org/officeDocument/2006/relationships/image" Target="../media/image9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6.png"/><Relationship Id="rId4" Type="http://schemas.openxmlformats.org/officeDocument/2006/relationships/image" Target="../media/image9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9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9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8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5.xml"/><Relationship Id="rId3" Type="http://schemas.openxmlformats.org/officeDocument/2006/relationships/hyperlink" Target="https://docs.oracle.com/javase/tutorial/networking/sockets/" TargetMode="Externa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idx="1" type="body"/>
          </p:nvPr>
        </p:nvSpPr>
        <p:spPr>
          <a:xfrm>
            <a:off x="365762" y="3003798"/>
            <a:ext cx="5430300" cy="32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CA"/>
              <a:t>Playing with the Internet (Networking tools)</a:t>
            </a:r>
            <a:endParaRPr/>
          </a:p>
        </p:txBody>
      </p:sp>
      <p:sp>
        <p:nvSpPr>
          <p:cNvPr id="67" name="Google Shape;67;p15"/>
          <p:cNvSpPr txBox="1"/>
          <p:nvPr>
            <p:ph idx="2" type="body"/>
          </p:nvPr>
        </p:nvSpPr>
        <p:spPr>
          <a:xfrm>
            <a:off x="365762" y="3507855"/>
            <a:ext cx="5430300" cy="32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C2344"/>
              </a:buClr>
              <a:buSzPts val="1000"/>
              <a:buNone/>
            </a:pPr>
            <a:r>
              <a:rPr lang="en-CA"/>
              <a:t>Slides by Han Kim</a:t>
            </a:r>
            <a:endParaRPr/>
          </a:p>
        </p:txBody>
      </p:sp>
      <p:sp>
        <p:nvSpPr>
          <p:cNvPr id="68" name="Google Shape;68;p15"/>
          <p:cNvSpPr txBox="1"/>
          <p:nvPr>
            <p:ph type="title"/>
          </p:nvPr>
        </p:nvSpPr>
        <p:spPr>
          <a:xfrm>
            <a:off x="365573" y="1141550"/>
            <a:ext cx="4700400" cy="157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857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-CA" sz="3500">
                <a:solidFill>
                  <a:srgbClr val="0077C9"/>
                </a:solidFill>
              </a:rPr>
              <a:t>Tutorial 1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 txBox="1"/>
          <p:nvPr>
            <p:ph idx="1" type="body"/>
          </p:nvPr>
        </p:nvSpPr>
        <p:spPr>
          <a:xfrm>
            <a:off x="438954" y="1131888"/>
            <a:ext cx="7661400" cy="369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-CA"/>
              <a:t>TA_1</a:t>
            </a:r>
            <a:endParaRPr/>
          </a:p>
          <a:p>
            <a:pPr indent="-323850" lvl="0" marL="914400" rtl="0" algn="l">
              <a:spcBef>
                <a:spcPts val="0"/>
              </a:spcBef>
              <a:spcAft>
                <a:spcPts val="0"/>
              </a:spcAft>
              <a:buSzPts val="1500"/>
              <a:buChar char="-"/>
            </a:pPr>
            <a:r>
              <a:rPr lang="en-CA"/>
              <a:t>…</a:t>
            </a:r>
            <a:endParaRPr/>
          </a:p>
          <a:p>
            <a:pPr indent="-323850" lvl="0" marL="914400" rtl="0" algn="l">
              <a:spcBef>
                <a:spcPts val="0"/>
              </a:spcBef>
              <a:spcAft>
                <a:spcPts val="0"/>
              </a:spcAft>
              <a:buSzPts val="1500"/>
              <a:buChar char="-"/>
            </a:pPr>
            <a:r>
              <a:rPr lang="en-CA"/>
              <a:t>…</a:t>
            </a:r>
            <a:endParaRPr/>
          </a:p>
          <a:p>
            <a:pPr indent="-323850" lvl="0" marL="914400" rtl="0" algn="l">
              <a:spcBef>
                <a:spcPts val="0"/>
              </a:spcBef>
              <a:spcAft>
                <a:spcPts val="0"/>
              </a:spcAft>
              <a:buSzPts val="1500"/>
              <a:buChar char="-"/>
            </a:pPr>
            <a:r>
              <a:rPr lang="en-CA"/>
              <a:t>…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-CA"/>
              <a:t>TA_2</a:t>
            </a:r>
            <a:endParaRPr/>
          </a:p>
          <a:p>
            <a:pPr indent="-323850" lvl="0" marL="914400" rtl="0" algn="l">
              <a:spcBef>
                <a:spcPts val="0"/>
              </a:spcBef>
              <a:spcAft>
                <a:spcPts val="0"/>
              </a:spcAft>
              <a:buSzPts val="1500"/>
              <a:buChar char="-"/>
            </a:pPr>
            <a:r>
              <a:rPr lang="en-CA"/>
              <a:t>…</a:t>
            </a:r>
            <a:endParaRPr/>
          </a:p>
          <a:p>
            <a:pPr indent="-323850" lvl="0" marL="914400" rtl="0" algn="l">
              <a:spcBef>
                <a:spcPts val="0"/>
              </a:spcBef>
              <a:spcAft>
                <a:spcPts val="0"/>
              </a:spcAft>
              <a:buSzPts val="1500"/>
              <a:buChar char="-"/>
            </a:pPr>
            <a:r>
              <a:rPr lang="en-CA"/>
              <a:t>…</a:t>
            </a:r>
            <a:endParaRPr/>
          </a:p>
          <a:p>
            <a:pPr indent="-323850" lvl="0" marL="914400" rtl="0" algn="l">
              <a:spcBef>
                <a:spcPts val="0"/>
              </a:spcBef>
              <a:spcAft>
                <a:spcPts val="0"/>
              </a:spcAft>
              <a:buSzPts val="1500"/>
              <a:buChar char="-"/>
            </a:pPr>
            <a:r>
              <a:rPr lang="en-CA"/>
              <a:t>…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-CA"/>
              <a:t>Your turn! </a:t>
            </a:r>
            <a:endParaRPr/>
          </a:p>
          <a:p>
            <a:pPr indent="-323850" lvl="0" marL="914400" rtl="0" algn="l">
              <a:spcBef>
                <a:spcPts val="0"/>
              </a:spcBef>
              <a:spcAft>
                <a:spcPts val="0"/>
              </a:spcAft>
              <a:buSzPts val="1500"/>
              <a:buChar char="-"/>
            </a:pPr>
            <a:r>
              <a:rPr lang="en-CA"/>
              <a:t>Great opportunity to make study partners!</a:t>
            </a:r>
            <a:endParaRPr/>
          </a:p>
        </p:txBody>
      </p:sp>
      <p:sp>
        <p:nvSpPr>
          <p:cNvPr id="74" name="Google Shape;74;p16"/>
          <p:cNvSpPr txBox="1"/>
          <p:nvPr>
            <p:ph type="title"/>
          </p:nvPr>
        </p:nvSpPr>
        <p:spPr>
          <a:xfrm>
            <a:off x="438954" y="560541"/>
            <a:ext cx="7886700" cy="45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>
                <a:solidFill>
                  <a:srgbClr val="0077C8"/>
                </a:solidFill>
              </a:rPr>
              <a:t>Introduction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7"/>
          <p:cNvSpPr txBox="1"/>
          <p:nvPr>
            <p:ph idx="1" type="body"/>
          </p:nvPr>
        </p:nvSpPr>
        <p:spPr>
          <a:xfrm>
            <a:off x="438954" y="1131888"/>
            <a:ext cx="7661400" cy="369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-CA"/>
              <a:t>Han Kim</a:t>
            </a:r>
            <a:endParaRPr/>
          </a:p>
          <a:p>
            <a:pPr indent="-323850" lvl="0" marL="914400" rtl="0" algn="l">
              <a:spcBef>
                <a:spcPts val="0"/>
              </a:spcBef>
              <a:spcAft>
                <a:spcPts val="0"/>
              </a:spcAft>
              <a:buSzPts val="1500"/>
              <a:buChar char="-"/>
            </a:pPr>
            <a:r>
              <a:rPr lang="en-CA"/>
              <a:t>BSc: Honours in Computer Science, SENG opt</a:t>
            </a:r>
            <a:endParaRPr/>
          </a:p>
          <a:p>
            <a:pPr indent="-323850" lvl="0" marL="914400" rtl="0" algn="l">
              <a:spcBef>
                <a:spcPts val="0"/>
              </a:spcBef>
              <a:spcAft>
                <a:spcPts val="0"/>
              </a:spcAft>
              <a:buSzPts val="1500"/>
              <a:buChar char="-"/>
            </a:pPr>
            <a:r>
              <a:rPr lang="en-CA"/>
              <a:t>Research Assistant in Systopia - Serverless</a:t>
            </a:r>
            <a:endParaRPr/>
          </a:p>
          <a:p>
            <a:pPr indent="-323850" lvl="0" marL="914400" rtl="0" algn="l">
              <a:spcBef>
                <a:spcPts val="0"/>
              </a:spcBef>
              <a:spcAft>
                <a:spcPts val="0"/>
              </a:spcAft>
              <a:buSzPts val="1500"/>
              <a:buChar char="-"/>
            </a:pPr>
            <a:r>
              <a:rPr lang="en-CA"/>
              <a:t>Loves console games!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-CA"/>
              <a:t>Kevin Wang</a:t>
            </a:r>
            <a:endParaRPr/>
          </a:p>
          <a:p>
            <a:pPr indent="-323850" lvl="0" marL="914400" rtl="0" algn="l">
              <a:spcBef>
                <a:spcPts val="0"/>
              </a:spcBef>
              <a:spcAft>
                <a:spcPts val="0"/>
              </a:spcAft>
              <a:buSzPts val="1500"/>
              <a:buChar char="-"/>
            </a:pPr>
            <a:r>
              <a:rPr lang="en-CA"/>
              <a:t>PhD student in Systopia - network security</a:t>
            </a:r>
            <a:endParaRPr/>
          </a:p>
          <a:p>
            <a:pPr indent="-323850" lvl="0" marL="914400" rtl="0" algn="l">
              <a:spcBef>
                <a:spcPts val="0"/>
              </a:spcBef>
              <a:spcAft>
                <a:spcPts val="0"/>
              </a:spcAft>
              <a:buSzPts val="1500"/>
              <a:buChar char="-"/>
            </a:pPr>
            <a:r>
              <a:rPr lang="en-CA"/>
              <a:t>Ask me almost anything about:</a:t>
            </a:r>
            <a:endParaRPr/>
          </a:p>
          <a:p>
            <a:pPr indent="-323850" lvl="1" marL="1371600" rtl="0" algn="l">
              <a:spcBef>
                <a:spcPts val="0"/>
              </a:spcBef>
              <a:spcAft>
                <a:spcPts val="0"/>
              </a:spcAft>
              <a:buSzPts val="1500"/>
              <a:buChar char="-"/>
            </a:pPr>
            <a:r>
              <a:rPr lang="en-CA"/>
              <a:t>research, teaching, almost falling off a cliff in Iceland, Slay the Spire 2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-CA"/>
              <a:t>Your turn! </a:t>
            </a:r>
            <a:endParaRPr/>
          </a:p>
          <a:p>
            <a:pPr indent="-323850" lvl="0" marL="914400" rtl="0" algn="l">
              <a:spcBef>
                <a:spcPts val="0"/>
              </a:spcBef>
              <a:spcAft>
                <a:spcPts val="0"/>
              </a:spcAft>
              <a:buSzPts val="1500"/>
              <a:buChar char="-"/>
            </a:pPr>
            <a:r>
              <a:rPr lang="en-CA"/>
              <a:t>Great opportunity to make study partners!</a:t>
            </a:r>
            <a:endParaRPr/>
          </a:p>
        </p:txBody>
      </p:sp>
      <p:sp>
        <p:nvSpPr>
          <p:cNvPr id="80" name="Google Shape;80;p17"/>
          <p:cNvSpPr txBox="1"/>
          <p:nvPr>
            <p:ph type="title"/>
          </p:nvPr>
        </p:nvSpPr>
        <p:spPr>
          <a:xfrm>
            <a:off x="438954" y="560541"/>
            <a:ext cx="7886700" cy="45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>
                <a:solidFill>
                  <a:srgbClr val="0077C8"/>
                </a:solidFill>
              </a:rPr>
              <a:t>Introduction Example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8"/>
          <p:cNvSpPr txBox="1"/>
          <p:nvPr>
            <p:ph idx="1" type="body"/>
          </p:nvPr>
        </p:nvSpPr>
        <p:spPr>
          <a:xfrm>
            <a:off x="438954" y="1131888"/>
            <a:ext cx="7661400" cy="369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-CA"/>
              <a:t>Tutorials are usually made up of several exercises</a:t>
            </a:r>
            <a:endParaRPr/>
          </a:p>
          <a:p>
            <a:pPr indent="-323850" lvl="0" marL="914400" rtl="0" algn="l">
              <a:spcBef>
                <a:spcPts val="0"/>
              </a:spcBef>
              <a:spcAft>
                <a:spcPts val="0"/>
              </a:spcAft>
              <a:buSzPts val="1500"/>
              <a:buChar char="-"/>
            </a:pPr>
            <a:r>
              <a:rPr lang="en-CA"/>
              <a:t>I will explain the exercises, maybe demo a few parts, then give you time to work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-CA"/>
              <a:t>Tutorial attendance gives up to 2% bonus marks toward your final grade</a:t>
            </a:r>
            <a:endParaRPr/>
          </a:p>
          <a:p>
            <a:pPr indent="-323850" lvl="0" marL="914400" rtl="0" algn="l">
              <a:spcBef>
                <a:spcPts val="0"/>
              </a:spcBef>
              <a:spcAft>
                <a:spcPts val="0"/>
              </a:spcAft>
              <a:buSzPts val="1500"/>
              <a:buChar char="-"/>
            </a:pPr>
            <a:r>
              <a:rPr lang="en-CA"/>
              <a:t>A code will be shared at the start of the tutorial </a:t>
            </a:r>
            <a:endParaRPr/>
          </a:p>
          <a:p>
            <a:pPr indent="-323850" lvl="0" marL="1371600" rtl="0" algn="l">
              <a:spcBef>
                <a:spcPts val="0"/>
              </a:spcBef>
              <a:spcAft>
                <a:spcPts val="0"/>
              </a:spcAft>
              <a:buSzPts val="1500"/>
              <a:buChar char="-"/>
            </a:pPr>
            <a:r>
              <a:rPr lang="en-CA"/>
              <a:t>Enter it in PrairieLearn and click “Save &amp; Grade”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-CA"/>
              <a:t>Tutorial slides will be shared via Google Drive</a:t>
            </a:r>
            <a:endParaRPr/>
          </a:p>
          <a:p>
            <a:pPr indent="-323850" lvl="0" marL="914400" rtl="0" algn="l">
              <a:spcBef>
                <a:spcPts val="0"/>
              </a:spcBef>
              <a:spcAft>
                <a:spcPts val="0"/>
              </a:spcAft>
              <a:buSzPts val="1500"/>
              <a:buChar char="-"/>
            </a:pPr>
            <a:r>
              <a:rPr lang="en-CA"/>
              <a:t>Includes hidden annotation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-CA"/>
              <a:t>Feel free to ask questions anytime</a:t>
            </a:r>
            <a:endParaRPr/>
          </a:p>
        </p:txBody>
      </p:sp>
      <p:sp>
        <p:nvSpPr>
          <p:cNvPr id="86" name="Google Shape;86;p18"/>
          <p:cNvSpPr txBox="1"/>
          <p:nvPr>
            <p:ph type="title"/>
          </p:nvPr>
        </p:nvSpPr>
        <p:spPr>
          <a:xfrm>
            <a:off x="438954" y="560541"/>
            <a:ext cx="7886700" cy="45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>
                <a:solidFill>
                  <a:srgbClr val="0077C8"/>
                </a:solidFill>
              </a:rPr>
              <a:t>Tutorial Logistics &amp; Before we start…</a:t>
            </a:r>
            <a:endParaRPr/>
          </a:p>
        </p:txBody>
      </p:sp>
      <p:sp>
        <p:nvSpPr>
          <p:cNvPr id="87" name="Google Shape;87;p18"/>
          <p:cNvSpPr/>
          <p:nvPr/>
        </p:nvSpPr>
        <p:spPr>
          <a:xfrm>
            <a:off x="4572000" y="3586125"/>
            <a:ext cx="1654500" cy="625500"/>
          </a:xfrm>
          <a:prstGeom prst="wedgeRoundRectCallout">
            <a:avLst>
              <a:gd fmla="val -98249" name="adj1"/>
              <a:gd fmla="val -40715" name="adj2"/>
              <a:gd fmla="val 0" name="adj3"/>
            </a:avLst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800"/>
              <a:t>Like this one</a:t>
            </a:r>
            <a:endParaRPr sz="18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9"/>
          <p:cNvSpPr txBox="1"/>
          <p:nvPr>
            <p:ph idx="1" type="body"/>
          </p:nvPr>
        </p:nvSpPr>
        <p:spPr>
          <a:xfrm>
            <a:off x="438954" y="1131888"/>
            <a:ext cx="7661400" cy="369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-CA"/>
              <a:t>Understand how communication over a network works at a high level.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-CA"/>
              <a:t>Learn how to read RFCs. </a:t>
            </a:r>
            <a:r>
              <a:rPr lang="en-CA" sz="900">
                <a:solidFill>
                  <a:srgbClr val="FF0000"/>
                </a:solidFill>
              </a:rPr>
              <a:t>(More in tutorial 3)</a:t>
            </a:r>
            <a:endParaRPr sz="900">
              <a:solidFill>
                <a:srgbClr val="FF0000"/>
              </a:solidFill>
            </a:endParaRPr>
          </a:p>
          <a:p>
            <a:pPr indent="-323850" lvl="0" marL="914400" rtl="0" algn="l">
              <a:spcBef>
                <a:spcPts val="0"/>
              </a:spcBef>
              <a:spcAft>
                <a:spcPts val="0"/>
              </a:spcAft>
              <a:buSzPts val="1500"/>
              <a:buChar char="-"/>
            </a:pPr>
            <a:r>
              <a:rPr lang="en-CA"/>
              <a:t>RFC 2229: A Dictionary Server Protocol</a:t>
            </a:r>
            <a:endParaRPr/>
          </a:p>
          <a:p>
            <a:pPr indent="-323850" lvl="0" marL="914400" rtl="0" algn="l">
              <a:spcBef>
                <a:spcPts val="0"/>
              </a:spcBef>
              <a:spcAft>
                <a:spcPts val="0"/>
              </a:spcAft>
              <a:buSzPts val="1500"/>
              <a:buChar char="-"/>
            </a:pPr>
            <a:r>
              <a:rPr lang="en-CA"/>
              <a:t>Do not memorize RFCs!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-CA"/>
              <a:t>Experience using a server’s service without any app or browser</a:t>
            </a:r>
            <a:endParaRPr/>
          </a:p>
          <a:p>
            <a:pPr indent="-323850" lvl="0" marL="914400" rtl="0" algn="l">
              <a:spcBef>
                <a:spcPts val="0"/>
              </a:spcBef>
              <a:spcAft>
                <a:spcPts val="0"/>
              </a:spcAft>
              <a:buSzPts val="1500"/>
              <a:buChar char="-"/>
            </a:pPr>
            <a:r>
              <a:rPr lang="en-CA"/>
              <a:t>We will use </a:t>
            </a:r>
            <a:r>
              <a:rPr lang="en-CA">
                <a:solidFill>
                  <a:srgbClr val="0000FF"/>
                </a:solidFill>
                <a:latin typeface="Courier"/>
                <a:ea typeface="Courier"/>
                <a:cs typeface="Courier"/>
                <a:sym typeface="Courier"/>
              </a:rPr>
              <a:t>netcat</a:t>
            </a:r>
            <a:r>
              <a:rPr lang="en-CA"/>
              <a:t> for this!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-CA"/>
              <a:t>Try out some network tools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-CA"/>
              <a:t>Learn basic Socket programming </a:t>
            </a:r>
            <a:r>
              <a:rPr lang="en-CA" sz="900">
                <a:solidFill>
                  <a:srgbClr val="FF0000"/>
                </a:solidFill>
              </a:rPr>
              <a:t>(More in tutorial 2)</a:t>
            </a:r>
            <a:endParaRPr/>
          </a:p>
        </p:txBody>
      </p:sp>
      <p:sp>
        <p:nvSpPr>
          <p:cNvPr id="93" name="Google Shape;93;p19"/>
          <p:cNvSpPr txBox="1"/>
          <p:nvPr>
            <p:ph type="title"/>
          </p:nvPr>
        </p:nvSpPr>
        <p:spPr>
          <a:xfrm>
            <a:off x="438954" y="560541"/>
            <a:ext cx="7886700" cy="45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>
                <a:solidFill>
                  <a:srgbClr val="0077C8"/>
                </a:solidFill>
              </a:rPr>
              <a:t>Overview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0"/>
          <p:cNvSpPr txBox="1"/>
          <p:nvPr>
            <p:ph idx="1" type="body"/>
          </p:nvPr>
        </p:nvSpPr>
        <p:spPr>
          <a:xfrm>
            <a:off x="438954" y="1131888"/>
            <a:ext cx="7661400" cy="369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-CA"/>
              <a:t>We will be using </a:t>
            </a:r>
            <a:r>
              <a:rPr lang="en-CA">
                <a:solidFill>
                  <a:srgbClr val="0000FF"/>
                </a:solidFill>
                <a:latin typeface="Courier"/>
                <a:ea typeface="Courier"/>
                <a:cs typeface="Courier"/>
                <a:sym typeface="Courier"/>
              </a:rPr>
              <a:t>netcat</a:t>
            </a:r>
            <a:r>
              <a:rPr lang="en-CA"/>
              <a:t>: A simple CLI networking tool</a:t>
            </a:r>
            <a:endParaRPr/>
          </a:p>
          <a:p>
            <a:pPr indent="-323850" lvl="0" marL="914400" rtl="0" algn="l">
              <a:spcBef>
                <a:spcPts val="0"/>
              </a:spcBef>
              <a:spcAft>
                <a:spcPts val="0"/>
              </a:spcAft>
              <a:buSzPts val="1500"/>
              <a:buChar char="-"/>
            </a:pPr>
            <a:r>
              <a:rPr lang="en-CA"/>
              <a:t>Available by default on most </a:t>
            </a:r>
            <a:r>
              <a:rPr b="1" lang="en-CA"/>
              <a:t>Linux</a:t>
            </a:r>
            <a:r>
              <a:rPr lang="en-CA"/>
              <a:t> and </a:t>
            </a:r>
            <a:r>
              <a:rPr b="1" lang="en-CA"/>
              <a:t>macOS</a:t>
            </a:r>
            <a:endParaRPr b="1"/>
          </a:p>
          <a:p>
            <a:pPr indent="-323850" lvl="0" marL="914400" rtl="0" algn="l">
              <a:spcBef>
                <a:spcPts val="0"/>
              </a:spcBef>
              <a:spcAft>
                <a:spcPts val="0"/>
              </a:spcAft>
              <a:buSzPts val="1500"/>
              <a:buChar char="-"/>
            </a:pPr>
            <a:r>
              <a:rPr lang="en-CA"/>
              <a:t>Available on </a:t>
            </a:r>
            <a:r>
              <a:rPr b="1" lang="en-CA"/>
              <a:t>Windows</a:t>
            </a:r>
            <a:r>
              <a:rPr lang="en-CA"/>
              <a:t> via installation or WSL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-CA"/>
              <a:t>Install WSL (Windows Subsystem for Linux) by following the manual:</a:t>
            </a:r>
            <a:endParaRPr/>
          </a:p>
          <a:p>
            <a:pPr indent="-323850" lvl="0" marL="914400" rtl="0" algn="l">
              <a:spcBef>
                <a:spcPts val="0"/>
              </a:spcBef>
              <a:spcAft>
                <a:spcPts val="0"/>
              </a:spcAft>
              <a:buSzPts val="1500"/>
              <a:buChar char="-"/>
            </a:pPr>
            <a:r>
              <a:rPr lang="en-CA" u="sng">
                <a:solidFill>
                  <a:schemeClr val="hlink"/>
                </a:solidFill>
                <a:hlinkClick r:id="rId3"/>
              </a:rPr>
              <a:t>MS Doc for installing WSL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-CA"/>
              <a:t>Quick workaround:</a:t>
            </a:r>
            <a:endParaRPr/>
          </a:p>
          <a:p>
            <a:pPr indent="-323850" lvl="0" marL="914400" rtl="0" algn="l">
              <a:spcBef>
                <a:spcPts val="0"/>
              </a:spcBef>
              <a:spcAft>
                <a:spcPts val="0"/>
              </a:spcAft>
              <a:buSzPts val="1500"/>
              <a:buChar char="-"/>
            </a:pPr>
            <a:r>
              <a:rPr lang="en-CA"/>
              <a:t>Undergraduate Linux servers have netcat installed.</a:t>
            </a:r>
            <a:endParaRPr/>
          </a:p>
          <a:p>
            <a:pPr indent="-323850" lvl="0" marL="914400" rtl="0" algn="l">
              <a:spcBef>
                <a:spcPts val="0"/>
              </a:spcBef>
              <a:spcAft>
                <a:spcPts val="0"/>
              </a:spcAft>
              <a:buSzPts val="1500"/>
              <a:buChar char="-"/>
            </a:pPr>
            <a:r>
              <a:rPr lang="en-CA"/>
              <a:t>You can SSH into them using:</a:t>
            </a:r>
            <a:endParaRPr/>
          </a:p>
          <a:p>
            <a:pPr indent="45720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>
                <a:latin typeface="Courier"/>
                <a:ea typeface="Courier"/>
                <a:cs typeface="Courier"/>
                <a:sym typeface="Courier"/>
              </a:rPr>
              <a:t>ssh &lt;cwl&gt;@remote.students.cs.ubc.ca</a:t>
            </a:r>
            <a:endParaRPr>
              <a:latin typeface="Courier"/>
              <a:ea typeface="Courier"/>
              <a:cs typeface="Courier"/>
              <a:sym typeface="Courier"/>
            </a:endParaRPr>
          </a:p>
        </p:txBody>
      </p:sp>
      <p:sp>
        <p:nvSpPr>
          <p:cNvPr id="99" name="Google Shape;99;p20"/>
          <p:cNvSpPr txBox="1"/>
          <p:nvPr>
            <p:ph type="title"/>
          </p:nvPr>
        </p:nvSpPr>
        <p:spPr>
          <a:xfrm>
            <a:off x="438954" y="560541"/>
            <a:ext cx="7886700" cy="45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>
                <a:solidFill>
                  <a:srgbClr val="0077C8"/>
                </a:solidFill>
              </a:rPr>
              <a:t>Preparation: </a:t>
            </a:r>
            <a:r>
              <a:rPr lang="en-CA">
                <a:solidFill>
                  <a:srgbClr val="0077C8"/>
                </a:solidFill>
                <a:latin typeface="Courier"/>
                <a:ea typeface="Courier"/>
                <a:cs typeface="Courier"/>
                <a:sym typeface="Courier"/>
              </a:rPr>
              <a:t>netcat</a:t>
            </a:r>
            <a:endParaRPr>
              <a:latin typeface="Courier"/>
              <a:ea typeface="Courier"/>
              <a:cs typeface="Courier"/>
              <a:sym typeface="Courier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1"/>
          <p:cNvSpPr txBox="1"/>
          <p:nvPr>
            <p:ph type="title"/>
          </p:nvPr>
        </p:nvSpPr>
        <p:spPr>
          <a:xfrm>
            <a:off x="438954" y="560541"/>
            <a:ext cx="7886700" cy="45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>
                <a:solidFill>
                  <a:srgbClr val="0077C8"/>
                </a:solidFill>
              </a:rPr>
              <a:t>Exercise 1: Online Dictionaries</a:t>
            </a:r>
            <a:endParaRPr/>
          </a:p>
        </p:txBody>
      </p:sp>
      <p:sp>
        <p:nvSpPr>
          <p:cNvPr id="105" name="Google Shape;105;p21"/>
          <p:cNvSpPr/>
          <p:nvPr/>
        </p:nvSpPr>
        <p:spPr>
          <a:xfrm>
            <a:off x="1283888" y="2358475"/>
            <a:ext cx="1260000" cy="1260000"/>
          </a:xfrm>
          <a:prstGeom prst="rect">
            <a:avLst/>
          </a:prstGeom>
          <a:solidFill>
            <a:srgbClr val="D9EAD3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netcat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2"/>
          <p:cNvSpPr txBox="1"/>
          <p:nvPr>
            <p:ph type="title"/>
          </p:nvPr>
        </p:nvSpPr>
        <p:spPr>
          <a:xfrm>
            <a:off x="438954" y="560541"/>
            <a:ext cx="7886700" cy="45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>
                <a:solidFill>
                  <a:srgbClr val="0077C8"/>
                </a:solidFill>
              </a:rPr>
              <a:t>Exercise 1: Online Dictionaries</a:t>
            </a:r>
            <a:endParaRPr/>
          </a:p>
        </p:txBody>
      </p:sp>
      <p:sp>
        <p:nvSpPr>
          <p:cNvPr id="111" name="Google Shape;111;p22"/>
          <p:cNvSpPr/>
          <p:nvPr/>
        </p:nvSpPr>
        <p:spPr>
          <a:xfrm>
            <a:off x="1283888" y="2358475"/>
            <a:ext cx="1260000" cy="1260000"/>
          </a:xfrm>
          <a:prstGeom prst="rect">
            <a:avLst/>
          </a:prstGeom>
          <a:solidFill>
            <a:srgbClr val="D9EAD3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netcat</a:t>
            </a:r>
            <a:endParaRPr/>
          </a:p>
        </p:txBody>
      </p:sp>
      <p:sp>
        <p:nvSpPr>
          <p:cNvPr id="112" name="Google Shape;112;p22"/>
          <p:cNvSpPr/>
          <p:nvPr/>
        </p:nvSpPr>
        <p:spPr>
          <a:xfrm>
            <a:off x="2658700" y="1098575"/>
            <a:ext cx="4054200" cy="1876800"/>
          </a:xfrm>
          <a:prstGeom prst="wedgeRoundRectCallout">
            <a:avLst>
              <a:gd fmla="val -48005" name="adj1"/>
              <a:gd fmla="val 73203" name="adj2"/>
              <a:gd fmla="val 0" name="adj3"/>
            </a:avLst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CA" sz="1800"/>
              <a:t>This box represents a running netcat program on our device</a:t>
            </a:r>
            <a:endParaRPr sz="18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800"/>
              <a:t>Netcat is one of the simplest networking tools</a:t>
            </a:r>
            <a:endParaRPr sz="18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3"/>
          <p:cNvSpPr txBox="1"/>
          <p:nvPr>
            <p:ph type="title"/>
          </p:nvPr>
        </p:nvSpPr>
        <p:spPr>
          <a:xfrm>
            <a:off x="438954" y="560541"/>
            <a:ext cx="7886700" cy="45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>
                <a:solidFill>
                  <a:srgbClr val="0077C8"/>
                </a:solidFill>
              </a:rPr>
              <a:t>Exercise 1: Online Dictionaries</a:t>
            </a:r>
            <a:endParaRPr/>
          </a:p>
        </p:txBody>
      </p:sp>
      <p:sp>
        <p:nvSpPr>
          <p:cNvPr id="118" name="Google Shape;118;p23"/>
          <p:cNvSpPr/>
          <p:nvPr/>
        </p:nvSpPr>
        <p:spPr>
          <a:xfrm>
            <a:off x="1283888" y="2358475"/>
            <a:ext cx="1260000" cy="1260000"/>
          </a:xfrm>
          <a:prstGeom prst="rect">
            <a:avLst/>
          </a:prstGeom>
          <a:solidFill>
            <a:srgbClr val="D9EAD3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netcat</a:t>
            </a:r>
            <a:endParaRPr/>
          </a:p>
        </p:txBody>
      </p:sp>
      <p:cxnSp>
        <p:nvCxnSpPr>
          <p:cNvPr id="119" name="Google Shape;119;p23"/>
          <p:cNvCxnSpPr>
            <a:stCxn id="118" idx="3"/>
            <a:endCxn id="120" idx="2"/>
          </p:cNvCxnSpPr>
          <p:nvPr/>
        </p:nvCxnSpPr>
        <p:spPr>
          <a:xfrm>
            <a:off x="2543888" y="2988475"/>
            <a:ext cx="31404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21" name="Google Shape;121;p23"/>
          <p:cNvSpPr txBox="1"/>
          <p:nvPr/>
        </p:nvSpPr>
        <p:spPr>
          <a:xfrm>
            <a:off x="3918875" y="2588275"/>
            <a:ext cx="511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str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4"/>
          <p:cNvSpPr txBox="1"/>
          <p:nvPr>
            <p:ph type="title"/>
          </p:nvPr>
        </p:nvSpPr>
        <p:spPr>
          <a:xfrm>
            <a:off x="438954" y="560541"/>
            <a:ext cx="7886700" cy="45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>
                <a:solidFill>
                  <a:srgbClr val="0077C8"/>
                </a:solidFill>
              </a:rPr>
              <a:t>Exercise 1: Online Dictionaries</a:t>
            </a:r>
            <a:endParaRPr/>
          </a:p>
        </p:txBody>
      </p:sp>
      <p:sp>
        <p:nvSpPr>
          <p:cNvPr id="127" name="Google Shape;127;p24"/>
          <p:cNvSpPr/>
          <p:nvPr/>
        </p:nvSpPr>
        <p:spPr>
          <a:xfrm>
            <a:off x="1283888" y="2358475"/>
            <a:ext cx="1260000" cy="1260000"/>
          </a:xfrm>
          <a:prstGeom prst="rect">
            <a:avLst/>
          </a:prstGeom>
          <a:solidFill>
            <a:srgbClr val="D9EAD3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netcat</a:t>
            </a:r>
            <a:endParaRPr/>
          </a:p>
        </p:txBody>
      </p:sp>
      <p:cxnSp>
        <p:nvCxnSpPr>
          <p:cNvPr id="128" name="Google Shape;128;p24"/>
          <p:cNvCxnSpPr>
            <a:stCxn id="127" idx="3"/>
            <a:endCxn id="129" idx="2"/>
          </p:cNvCxnSpPr>
          <p:nvPr/>
        </p:nvCxnSpPr>
        <p:spPr>
          <a:xfrm>
            <a:off x="2543888" y="2988475"/>
            <a:ext cx="31404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30" name="Google Shape;130;p24"/>
          <p:cNvSpPr txBox="1"/>
          <p:nvPr/>
        </p:nvSpPr>
        <p:spPr>
          <a:xfrm>
            <a:off x="3918875" y="2588275"/>
            <a:ext cx="511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str</a:t>
            </a:r>
            <a:endParaRPr/>
          </a:p>
        </p:txBody>
      </p:sp>
      <p:sp>
        <p:nvSpPr>
          <p:cNvPr id="131" name="Google Shape;131;p24"/>
          <p:cNvSpPr/>
          <p:nvPr/>
        </p:nvSpPr>
        <p:spPr>
          <a:xfrm>
            <a:off x="3918875" y="1351813"/>
            <a:ext cx="4054200" cy="897000"/>
          </a:xfrm>
          <a:prstGeom prst="wedgeRoundRectCallout">
            <a:avLst>
              <a:gd fmla="val -35923" name="adj1"/>
              <a:gd fmla="val 76103" name="adj2"/>
              <a:gd fmla="val 0" name="adj3"/>
            </a:avLst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800"/>
              <a:t>Netcat simply sends the string entered by the user to…</a:t>
            </a:r>
            <a:endParaRPr sz="18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5"/>
          <p:cNvSpPr txBox="1"/>
          <p:nvPr>
            <p:ph type="title"/>
          </p:nvPr>
        </p:nvSpPr>
        <p:spPr>
          <a:xfrm>
            <a:off x="438954" y="560541"/>
            <a:ext cx="7886700" cy="45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>
                <a:solidFill>
                  <a:srgbClr val="0077C8"/>
                </a:solidFill>
              </a:rPr>
              <a:t>Exercise 1: Online Dictionaries</a:t>
            </a:r>
            <a:endParaRPr/>
          </a:p>
        </p:txBody>
      </p:sp>
      <p:sp>
        <p:nvSpPr>
          <p:cNvPr id="137" name="Google Shape;137;p25"/>
          <p:cNvSpPr/>
          <p:nvPr/>
        </p:nvSpPr>
        <p:spPr>
          <a:xfrm>
            <a:off x="1283888" y="2358475"/>
            <a:ext cx="1260000" cy="1260000"/>
          </a:xfrm>
          <a:prstGeom prst="rect">
            <a:avLst/>
          </a:prstGeom>
          <a:solidFill>
            <a:srgbClr val="D9EAD3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netcat</a:t>
            </a:r>
            <a:endParaRPr/>
          </a:p>
        </p:txBody>
      </p:sp>
      <p:sp>
        <p:nvSpPr>
          <p:cNvPr id="138" name="Google Shape;138;p25"/>
          <p:cNvSpPr/>
          <p:nvPr/>
        </p:nvSpPr>
        <p:spPr>
          <a:xfrm>
            <a:off x="5805638" y="1728475"/>
            <a:ext cx="2520000" cy="2520000"/>
          </a:xfrm>
          <a:prstGeom prst="rect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39" name="Google Shape;139;p25"/>
          <p:cNvCxnSpPr>
            <a:stCxn id="137" idx="3"/>
            <a:endCxn id="140" idx="2"/>
          </p:cNvCxnSpPr>
          <p:nvPr/>
        </p:nvCxnSpPr>
        <p:spPr>
          <a:xfrm>
            <a:off x="2543888" y="2988475"/>
            <a:ext cx="31404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41" name="Google Shape;141;p25"/>
          <p:cNvSpPr txBox="1"/>
          <p:nvPr/>
        </p:nvSpPr>
        <p:spPr>
          <a:xfrm>
            <a:off x="6385850" y="1327875"/>
            <a:ext cx="1359600" cy="4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800">
                <a:solidFill>
                  <a:srgbClr val="0000FF"/>
                </a:solidFill>
                <a:latin typeface="Courier"/>
                <a:ea typeface="Courier"/>
                <a:cs typeface="Courier"/>
                <a:sym typeface="Courier"/>
              </a:rPr>
              <a:t>dict.org</a:t>
            </a:r>
            <a:endParaRPr sz="1800">
              <a:solidFill>
                <a:srgbClr val="0000FF"/>
              </a:solidFill>
              <a:latin typeface="Courier"/>
              <a:ea typeface="Courier"/>
              <a:cs typeface="Courier"/>
              <a:sym typeface="Courier"/>
            </a:endParaRPr>
          </a:p>
        </p:txBody>
      </p:sp>
      <p:sp>
        <p:nvSpPr>
          <p:cNvPr id="140" name="Google Shape;140;p25"/>
          <p:cNvSpPr/>
          <p:nvPr/>
        </p:nvSpPr>
        <p:spPr>
          <a:xfrm>
            <a:off x="5684154" y="2868625"/>
            <a:ext cx="239700" cy="239700"/>
          </a:xfrm>
          <a:prstGeom prst="ellipse">
            <a:avLst/>
          </a:prstGeom>
          <a:solidFill>
            <a:srgbClr val="FF0000"/>
          </a:solidFill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urier"/>
              <a:ea typeface="Courier"/>
              <a:cs typeface="Courier"/>
              <a:sym typeface="Courier"/>
            </a:endParaRPr>
          </a:p>
        </p:txBody>
      </p:sp>
      <p:sp>
        <p:nvSpPr>
          <p:cNvPr id="142" name="Google Shape;142;p25"/>
          <p:cNvSpPr txBox="1"/>
          <p:nvPr/>
        </p:nvSpPr>
        <p:spPr>
          <a:xfrm>
            <a:off x="4913000" y="3108325"/>
            <a:ext cx="7713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>
                <a:solidFill>
                  <a:srgbClr val="FF0000"/>
                </a:solidFill>
                <a:latin typeface="Courier"/>
                <a:ea typeface="Courier"/>
                <a:cs typeface="Courier"/>
                <a:sym typeface="Courier"/>
              </a:rPr>
              <a:t>Port</a:t>
            </a:r>
            <a:endParaRPr b="1">
              <a:solidFill>
                <a:srgbClr val="FF0000"/>
              </a:solidFill>
              <a:latin typeface="Courier"/>
              <a:ea typeface="Courier"/>
              <a:cs typeface="Courier"/>
              <a:sym typeface="Courier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>
                <a:solidFill>
                  <a:srgbClr val="FF0000"/>
                </a:solidFill>
                <a:latin typeface="Courier"/>
                <a:ea typeface="Courier"/>
                <a:cs typeface="Courier"/>
                <a:sym typeface="Courier"/>
              </a:rPr>
              <a:t>2628</a:t>
            </a:r>
            <a:endParaRPr b="1">
              <a:solidFill>
                <a:srgbClr val="FF0000"/>
              </a:solidFill>
            </a:endParaRPr>
          </a:p>
        </p:txBody>
      </p:sp>
      <p:sp>
        <p:nvSpPr>
          <p:cNvPr id="143" name="Google Shape;143;p25"/>
          <p:cNvSpPr txBox="1"/>
          <p:nvPr/>
        </p:nvSpPr>
        <p:spPr>
          <a:xfrm>
            <a:off x="3918875" y="2588275"/>
            <a:ext cx="511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str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6"/>
          <p:cNvSpPr txBox="1"/>
          <p:nvPr>
            <p:ph type="title"/>
          </p:nvPr>
        </p:nvSpPr>
        <p:spPr>
          <a:xfrm>
            <a:off x="438954" y="560541"/>
            <a:ext cx="7886700" cy="45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>
                <a:solidFill>
                  <a:srgbClr val="0077C8"/>
                </a:solidFill>
              </a:rPr>
              <a:t>Exercise 1: Online Dictionaries</a:t>
            </a:r>
            <a:endParaRPr/>
          </a:p>
        </p:txBody>
      </p:sp>
      <p:sp>
        <p:nvSpPr>
          <p:cNvPr id="149" name="Google Shape;149;p26"/>
          <p:cNvSpPr/>
          <p:nvPr/>
        </p:nvSpPr>
        <p:spPr>
          <a:xfrm>
            <a:off x="1283888" y="2358475"/>
            <a:ext cx="1260000" cy="1260000"/>
          </a:xfrm>
          <a:prstGeom prst="rect">
            <a:avLst/>
          </a:prstGeom>
          <a:solidFill>
            <a:srgbClr val="D9EAD3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netcat</a:t>
            </a:r>
            <a:endParaRPr/>
          </a:p>
        </p:txBody>
      </p:sp>
      <p:sp>
        <p:nvSpPr>
          <p:cNvPr id="150" name="Google Shape;150;p26"/>
          <p:cNvSpPr/>
          <p:nvPr/>
        </p:nvSpPr>
        <p:spPr>
          <a:xfrm>
            <a:off x="5805638" y="1728475"/>
            <a:ext cx="2520000" cy="2520000"/>
          </a:xfrm>
          <a:prstGeom prst="rect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51" name="Google Shape;151;p26"/>
          <p:cNvCxnSpPr>
            <a:stCxn id="149" idx="3"/>
            <a:endCxn id="152" idx="2"/>
          </p:cNvCxnSpPr>
          <p:nvPr/>
        </p:nvCxnSpPr>
        <p:spPr>
          <a:xfrm>
            <a:off x="2543888" y="2988475"/>
            <a:ext cx="31404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53" name="Google Shape;153;p26"/>
          <p:cNvSpPr txBox="1"/>
          <p:nvPr/>
        </p:nvSpPr>
        <p:spPr>
          <a:xfrm>
            <a:off x="6385850" y="1327875"/>
            <a:ext cx="1359600" cy="4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800">
                <a:solidFill>
                  <a:srgbClr val="0000FF"/>
                </a:solidFill>
                <a:latin typeface="Courier"/>
                <a:ea typeface="Courier"/>
                <a:cs typeface="Courier"/>
                <a:sym typeface="Courier"/>
              </a:rPr>
              <a:t>dict.org</a:t>
            </a:r>
            <a:endParaRPr sz="1800">
              <a:solidFill>
                <a:srgbClr val="0000FF"/>
              </a:solidFill>
              <a:latin typeface="Courier"/>
              <a:ea typeface="Courier"/>
              <a:cs typeface="Courier"/>
              <a:sym typeface="Courier"/>
            </a:endParaRPr>
          </a:p>
        </p:txBody>
      </p:sp>
      <p:sp>
        <p:nvSpPr>
          <p:cNvPr id="152" name="Google Shape;152;p26"/>
          <p:cNvSpPr/>
          <p:nvPr/>
        </p:nvSpPr>
        <p:spPr>
          <a:xfrm>
            <a:off x="5684154" y="2868625"/>
            <a:ext cx="239700" cy="239700"/>
          </a:xfrm>
          <a:prstGeom prst="ellipse">
            <a:avLst/>
          </a:prstGeom>
          <a:solidFill>
            <a:srgbClr val="FF0000"/>
          </a:solidFill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urier"/>
              <a:ea typeface="Courier"/>
              <a:cs typeface="Courier"/>
              <a:sym typeface="Courier"/>
            </a:endParaRPr>
          </a:p>
        </p:txBody>
      </p:sp>
      <p:sp>
        <p:nvSpPr>
          <p:cNvPr id="154" name="Google Shape;154;p26"/>
          <p:cNvSpPr txBox="1"/>
          <p:nvPr/>
        </p:nvSpPr>
        <p:spPr>
          <a:xfrm>
            <a:off x="4913000" y="3108325"/>
            <a:ext cx="7713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>
                <a:solidFill>
                  <a:srgbClr val="FF0000"/>
                </a:solidFill>
                <a:latin typeface="Courier"/>
                <a:ea typeface="Courier"/>
                <a:cs typeface="Courier"/>
                <a:sym typeface="Courier"/>
              </a:rPr>
              <a:t>Port</a:t>
            </a:r>
            <a:endParaRPr b="1">
              <a:solidFill>
                <a:srgbClr val="FF0000"/>
              </a:solidFill>
              <a:latin typeface="Courier"/>
              <a:ea typeface="Courier"/>
              <a:cs typeface="Courier"/>
              <a:sym typeface="Courier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>
                <a:solidFill>
                  <a:srgbClr val="FF0000"/>
                </a:solidFill>
                <a:latin typeface="Courier"/>
                <a:ea typeface="Courier"/>
                <a:cs typeface="Courier"/>
                <a:sym typeface="Courier"/>
              </a:rPr>
              <a:t>2628</a:t>
            </a:r>
            <a:endParaRPr b="1">
              <a:solidFill>
                <a:srgbClr val="FF0000"/>
              </a:solidFill>
            </a:endParaRPr>
          </a:p>
        </p:txBody>
      </p:sp>
      <p:sp>
        <p:nvSpPr>
          <p:cNvPr id="155" name="Google Shape;155;p26"/>
          <p:cNvSpPr txBox="1"/>
          <p:nvPr/>
        </p:nvSpPr>
        <p:spPr>
          <a:xfrm>
            <a:off x="3918875" y="2588275"/>
            <a:ext cx="511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str</a:t>
            </a:r>
            <a:endParaRPr/>
          </a:p>
        </p:txBody>
      </p:sp>
      <p:sp>
        <p:nvSpPr>
          <p:cNvPr id="156" name="Google Shape;156;p26"/>
          <p:cNvSpPr/>
          <p:nvPr/>
        </p:nvSpPr>
        <p:spPr>
          <a:xfrm>
            <a:off x="3776900" y="115350"/>
            <a:ext cx="3407700" cy="897000"/>
          </a:xfrm>
          <a:prstGeom prst="wedgeRoundRectCallout">
            <a:avLst>
              <a:gd fmla="val 30920" name="adj1"/>
              <a:gd fmla="val 90860" name="adj2"/>
              <a:gd fmla="val 0" name="adj3"/>
            </a:avLst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800"/>
              <a:t>… another device somewhere out on the network</a:t>
            </a:r>
            <a:endParaRPr sz="18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7"/>
          <p:cNvSpPr txBox="1"/>
          <p:nvPr>
            <p:ph type="title"/>
          </p:nvPr>
        </p:nvSpPr>
        <p:spPr>
          <a:xfrm>
            <a:off x="438954" y="560541"/>
            <a:ext cx="7886700" cy="45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>
                <a:solidFill>
                  <a:srgbClr val="0077C8"/>
                </a:solidFill>
              </a:rPr>
              <a:t>Exercise 1: Online Dictionaries</a:t>
            </a:r>
            <a:endParaRPr/>
          </a:p>
        </p:txBody>
      </p:sp>
      <p:sp>
        <p:nvSpPr>
          <p:cNvPr id="162" name="Google Shape;162;p27"/>
          <p:cNvSpPr/>
          <p:nvPr/>
        </p:nvSpPr>
        <p:spPr>
          <a:xfrm>
            <a:off x="1283888" y="2358475"/>
            <a:ext cx="1260000" cy="1260000"/>
          </a:xfrm>
          <a:prstGeom prst="rect">
            <a:avLst/>
          </a:prstGeom>
          <a:solidFill>
            <a:srgbClr val="D9EAD3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netcat</a:t>
            </a:r>
            <a:endParaRPr/>
          </a:p>
        </p:txBody>
      </p:sp>
      <p:sp>
        <p:nvSpPr>
          <p:cNvPr id="163" name="Google Shape;163;p27"/>
          <p:cNvSpPr/>
          <p:nvPr/>
        </p:nvSpPr>
        <p:spPr>
          <a:xfrm>
            <a:off x="5805638" y="1728475"/>
            <a:ext cx="2520000" cy="2520000"/>
          </a:xfrm>
          <a:prstGeom prst="rect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64" name="Google Shape;164;p27"/>
          <p:cNvCxnSpPr>
            <a:stCxn id="162" idx="3"/>
            <a:endCxn id="165" idx="2"/>
          </p:cNvCxnSpPr>
          <p:nvPr/>
        </p:nvCxnSpPr>
        <p:spPr>
          <a:xfrm>
            <a:off x="2543888" y="2988475"/>
            <a:ext cx="31404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66" name="Google Shape;166;p27"/>
          <p:cNvSpPr txBox="1"/>
          <p:nvPr/>
        </p:nvSpPr>
        <p:spPr>
          <a:xfrm>
            <a:off x="6385850" y="1327875"/>
            <a:ext cx="1359600" cy="4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800">
                <a:solidFill>
                  <a:srgbClr val="0000FF"/>
                </a:solidFill>
                <a:latin typeface="Courier"/>
                <a:ea typeface="Courier"/>
                <a:cs typeface="Courier"/>
                <a:sym typeface="Courier"/>
              </a:rPr>
              <a:t>dict.org</a:t>
            </a:r>
            <a:endParaRPr sz="1800">
              <a:solidFill>
                <a:srgbClr val="0000FF"/>
              </a:solidFill>
              <a:latin typeface="Courier"/>
              <a:ea typeface="Courier"/>
              <a:cs typeface="Courier"/>
              <a:sym typeface="Courier"/>
            </a:endParaRPr>
          </a:p>
        </p:txBody>
      </p:sp>
      <p:sp>
        <p:nvSpPr>
          <p:cNvPr id="165" name="Google Shape;165;p27"/>
          <p:cNvSpPr/>
          <p:nvPr/>
        </p:nvSpPr>
        <p:spPr>
          <a:xfrm>
            <a:off x="5684154" y="2868625"/>
            <a:ext cx="239700" cy="239700"/>
          </a:xfrm>
          <a:prstGeom prst="ellipse">
            <a:avLst/>
          </a:prstGeom>
          <a:solidFill>
            <a:srgbClr val="FF0000"/>
          </a:solidFill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urier"/>
              <a:ea typeface="Courier"/>
              <a:cs typeface="Courier"/>
              <a:sym typeface="Courier"/>
            </a:endParaRPr>
          </a:p>
        </p:txBody>
      </p:sp>
      <p:sp>
        <p:nvSpPr>
          <p:cNvPr id="167" name="Google Shape;167;p27"/>
          <p:cNvSpPr txBox="1"/>
          <p:nvPr/>
        </p:nvSpPr>
        <p:spPr>
          <a:xfrm>
            <a:off x="4913000" y="3108325"/>
            <a:ext cx="7713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>
                <a:solidFill>
                  <a:srgbClr val="FF0000"/>
                </a:solidFill>
                <a:latin typeface="Courier"/>
                <a:ea typeface="Courier"/>
                <a:cs typeface="Courier"/>
                <a:sym typeface="Courier"/>
              </a:rPr>
              <a:t>Port</a:t>
            </a:r>
            <a:endParaRPr b="1">
              <a:solidFill>
                <a:srgbClr val="FF0000"/>
              </a:solidFill>
              <a:latin typeface="Courier"/>
              <a:ea typeface="Courier"/>
              <a:cs typeface="Courier"/>
              <a:sym typeface="Courier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>
                <a:solidFill>
                  <a:srgbClr val="FF0000"/>
                </a:solidFill>
                <a:latin typeface="Courier"/>
                <a:ea typeface="Courier"/>
                <a:cs typeface="Courier"/>
                <a:sym typeface="Courier"/>
              </a:rPr>
              <a:t>2628</a:t>
            </a:r>
            <a:endParaRPr b="1">
              <a:solidFill>
                <a:srgbClr val="FF0000"/>
              </a:solidFill>
            </a:endParaRPr>
          </a:p>
        </p:txBody>
      </p:sp>
      <p:sp>
        <p:nvSpPr>
          <p:cNvPr id="168" name="Google Shape;168;p27"/>
          <p:cNvSpPr txBox="1"/>
          <p:nvPr/>
        </p:nvSpPr>
        <p:spPr>
          <a:xfrm>
            <a:off x="3918875" y="2588275"/>
            <a:ext cx="511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str</a:t>
            </a:r>
            <a:endParaRPr/>
          </a:p>
        </p:txBody>
      </p:sp>
      <p:sp>
        <p:nvSpPr>
          <p:cNvPr id="169" name="Google Shape;169;p27"/>
          <p:cNvSpPr/>
          <p:nvPr/>
        </p:nvSpPr>
        <p:spPr>
          <a:xfrm>
            <a:off x="2398100" y="852724"/>
            <a:ext cx="3968400" cy="1396200"/>
          </a:xfrm>
          <a:prstGeom prst="wedgeRoundRectCallout">
            <a:avLst>
              <a:gd fmla="val 30920" name="adj1"/>
              <a:gd fmla="val 90860" name="adj2"/>
              <a:gd fmla="val 0" name="adj3"/>
            </a:avLst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800"/>
              <a:t>This device can be identified by the </a:t>
            </a:r>
            <a:r>
              <a:rPr lang="en-CA" sz="1800">
                <a:latin typeface="Courier"/>
                <a:ea typeface="Courier"/>
                <a:cs typeface="Courier"/>
                <a:sym typeface="Courier"/>
              </a:rPr>
              <a:t>&lt;Address, Port&gt;</a:t>
            </a:r>
            <a:r>
              <a:rPr lang="en-CA" sz="1800"/>
              <a:t> pair</a:t>
            </a:r>
            <a:endParaRPr sz="18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800"/>
              <a:t>E.g. </a:t>
            </a:r>
            <a:r>
              <a:rPr lang="en-CA" sz="18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&lt;</a:t>
            </a:r>
            <a:r>
              <a:rPr lang="en-CA" sz="1800">
                <a:solidFill>
                  <a:srgbClr val="0000FF"/>
                </a:solidFill>
                <a:latin typeface="Courier"/>
                <a:ea typeface="Courier"/>
                <a:cs typeface="Courier"/>
                <a:sym typeface="Courier"/>
              </a:rPr>
              <a:t>dict.org</a:t>
            </a:r>
            <a:r>
              <a:rPr lang="en-CA" sz="18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, </a:t>
            </a:r>
            <a:r>
              <a:rPr b="1" lang="en-CA" sz="1800">
                <a:solidFill>
                  <a:srgbClr val="FF0000"/>
                </a:solidFill>
                <a:latin typeface="Courier"/>
                <a:ea typeface="Courier"/>
                <a:cs typeface="Courier"/>
                <a:sym typeface="Courier"/>
              </a:rPr>
              <a:t>2628</a:t>
            </a:r>
            <a:r>
              <a:rPr lang="en-CA" sz="18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&gt;</a:t>
            </a:r>
            <a:endParaRPr sz="18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8"/>
          <p:cNvSpPr txBox="1"/>
          <p:nvPr>
            <p:ph type="title"/>
          </p:nvPr>
        </p:nvSpPr>
        <p:spPr>
          <a:xfrm>
            <a:off x="438954" y="560541"/>
            <a:ext cx="7886700" cy="45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>
                <a:solidFill>
                  <a:srgbClr val="0077C8"/>
                </a:solidFill>
              </a:rPr>
              <a:t>Exercise 1: Online Dictionaries</a:t>
            </a:r>
            <a:endParaRPr/>
          </a:p>
        </p:txBody>
      </p:sp>
      <p:sp>
        <p:nvSpPr>
          <p:cNvPr id="175" name="Google Shape;175;p28"/>
          <p:cNvSpPr/>
          <p:nvPr/>
        </p:nvSpPr>
        <p:spPr>
          <a:xfrm>
            <a:off x="1283888" y="2358475"/>
            <a:ext cx="1260000" cy="1260000"/>
          </a:xfrm>
          <a:prstGeom prst="rect">
            <a:avLst/>
          </a:prstGeom>
          <a:solidFill>
            <a:srgbClr val="D9EAD3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netcat</a:t>
            </a:r>
            <a:endParaRPr/>
          </a:p>
        </p:txBody>
      </p:sp>
      <p:sp>
        <p:nvSpPr>
          <p:cNvPr id="176" name="Google Shape;176;p28"/>
          <p:cNvSpPr/>
          <p:nvPr/>
        </p:nvSpPr>
        <p:spPr>
          <a:xfrm>
            <a:off x="5805638" y="1728475"/>
            <a:ext cx="2520000" cy="2520000"/>
          </a:xfrm>
          <a:prstGeom prst="rect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77" name="Google Shape;177;p28"/>
          <p:cNvCxnSpPr>
            <a:stCxn id="175" idx="3"/>
            <a:endCxn id="178" idx="2"/>
          </p:cNvCxnSpPr>
          <p:nvPr/>
        </p:nvCxnSpPr>
        <p:spPr>
          <a:xfrm>
            <a:off x="2543888" y="2988475"/>
            <a:ext cx="31404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79" name="Google Shape;179;p28"/>
          <p:cNvSpPr/>
          <p:nvPr/>
        </p:nvSpPr>
        <p:spPr>
          <a:xfrm>
            <a:off x="6435638" y="2358475"/>
            <a:ext cx="1260000" cy="1260000"/>
          </a:xfrm>
          <a:prstGeom prst="rect">
            <a:avLst/>
          </a:prstGeom>
          <a:solidFill>
            <a:srgbClr val="F4CCCC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>
                <a:latin typeface="Courier"/>
                <a:ea typeface="Courier"/>
                <a:cs typeface="Courier"/>
                <a:sym typeface="Courier"/>
              </a:rPr>
              <a:t>Dict App</a:t>
            </a:r>
            <a:endParaRPr>
              <a:latin typeface="Courier"/>
              <a:ea typeface="Courier"/>
              <a:cs typeface="Courier"/>
              <a:sym typeface="Courier"/>
            </a:endParaRPr>
          </a:p>
        </p:txBody>
      </p:sp>
      <p:sp>
        <p:nvSpPr>
          <p:cNvPr id="180" name="Google Shape;180;p28"/>
          <p:cNvSpPr txBox="1"/>
          <p:nvPr/>
        </p:nvSpPr>
        <p:spPr>
          <a:xfrm>
            <a:off x="6385850" y="1327875"/>
            <a:ext cx="1359600" cy="4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800">
                <a:solidFill>
                  <a:srgbClr val="0000FF"/>
                </a:solidFill>
                <a:latin typeface="Courier"/>
                <a:ea typeface="Courier"/>
                <a:cs typeface="Courier"/>
                <a:sym typeface="Courier"/>
              </a:rPr>
              <a:t>dict.org</a:t>
            </a:r>
            <a:endParaRPr sz="1800">
              <a:solidFill>
                <a:srgbClr val="0000FF"/>
              </a:solidFill>
              <a:latin typeface="Courier"/>
              <a:ea typeface="Courier"/>
              <a:cs typeface="Courier"/>
              <a:sym typeface="Courier"/>
            </a:endParaRPr>
          </a:p>
        </p:txBody>
      </p:sp>
      <p:sp>
        <p:nvSpPr>
          <p:cNvPr id="178" name="Google Shape;178;p28"/>
          <p:cNvSpPr/>
          <p:nvPr/>
        </p:nvSpPr>
        <p:spPr>
          <a:xfrm>
            <a:off x="5684154" y="2868625"/>
            <a:ext cx="239700" cy="239700"/>
          </a:xfrm>
          <a:prstGeom prst="ellipse">
            <a:avLst/>
          </a:prstGeom>
          <a:solidFill>
            <a:srgbClr val="FF0000"/>
          </a:solidFill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urier"/>
              <a:ea typeface="Courier"/>
              <a:cs typeface="Courier"/>
              <a:sym typeface="Courier"/>
            </a:endParaRPr>
          </a:p>
        </p:txBody>
      </p:sp>
      <p:cxnSp>
        <p:nvCxnSpPr>
          <p:cNvPr id="181" name="Google Shape;181;p28"/>
          <p:cNvCxnSpPr>
            <a:stCxn id="179" idx="1"/>
            <a:endCxn id="178" idx="6"/>
          </p:cNvCxnSpPr>
          <p:nvPr/>
        </p:nvCxnSpPr>
        <p:spPr>
          <a:xfrm rot="10800000">
            <a:off x="5923838" y="2988475"/>
            <a:ext cx="5118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82" name="Google Shape;182;p28"/>
          <p:cNvSpPr txBox="1"/>
          <p:nvPr/>
        </p:nvSpPr>
        <p:spPr>
          <a:xfrm>
            <a:off x="4913000" y="3108325"/>
            <a:ext cx="7713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>
                <a:solidFill>
                  <a:srgbClr val="FF0000"/>
                </a:solidFill>
                <a:latin typeface="Courier"/>
                <a:ea typeface="Courier"/>
                <a:cs typeface="Courier"/>
                <a:sym typeface="Courier"/>
              </a:rPr>
              <a:t>Port</a:t>
            </a:r>
            <a:endParaRPr b="1">
              <a:solidFill>
                <a:srgbClr val="FF0000"/>
              </a:solidFill>
              <a:latin typeface="Courier"/>
              <a:ea typeface="Courier"/>
              <a:cs typeface="Courier"/>
              <a:sym typeface="Courier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>
                <a:solidFill>
                  <a:srgbClr val="FF0000"/>
                </a:solidFill>
                <a:latin typeface="Courier"/>
                <a:ea typeface="Courier"/>
                <a:cs typeface="Courier"/>
                <a:sym typeface="Courier"/>
              </a:rPr>
              <a:t>2628</a:t>
            </a:r>
            <a:endParaRPr b="1">
              <a:solidFill>
                <a:srgbClr val="FF0000"/>
              </a:solidFill>
            </a:endParaRPr>
          </a:p>
        </p:txBody>
      </p:sp>
      <p:sp>
        <p:nvSpPr>
          <p:cNvPr id="183" name="Google Shape;183;p28"/>
          <p:cNvSpPr txBox="1"/>
          <p:nvPr/>
        </p:nvSpPr>
        <p:spPr>
          <a:xfrm>
            <a:off x="3918875" y="2588275"/>
            <a:ext cx="511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str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29"/>
          <p:cNvSpPr txBox="1"/>
          <p:nvPr>
            <p:ph type="title"/>
          </p:nvPr>
        </p:nvSpPr>
        <p:spPr>
          <a:xfrm>
            <a:off x="438954" y="560541"/>
            <a:ext cx="7886700" cy="45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>
                <a:solidFill>
                  <a:srgbClr val="0077C8"/>
                </a:solidFill>
              </a:rPr>
              <a:t>Exercise 1: Online Dictionaries</a:t>
            </a:r>
            <a:endParaRPr/>
          </a:p>
        </p:txBody>
      </p:sp>
      <p:sp>
        <p:nvSpPr>
          <p:cNvPr id="189" name="Google Shape;189;p29"/>
          <p:cNvSpPr/>
          <p:nvPr/>
        </p:nvSpPr>
        <p:spPr>
          <a:xfrm>
            <a:off x="1283888" y="2358475"/>
            <a:ext cx="1260000" cy="1260000"/>
          </a:xfrm>
          <a:prstGeom prst="rect">
            <a:avLst/>
          </a:prstGeom>
          <a:solidFill>
            <a:srgbClr val="D9EAD3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netcat</a:t>
            </a:r>
            <a:endParaRPr/>
          </a:p>
        </p:txBody>
      </p:sp>
      <p:sp>
        <p:nvSpPr>
          <p:cNvPr id="190" name="Google Shape;190;p29"/>
          <p:cNvSpPr/>
          <p:nvPr/>
        </p:nvSpPr>
        <p:spPr>
          <a:xfrm>
            <a:off x="5805638" y="1728475"/>
            <a:ext cx="2520000" cy="2520000"/>
          </a:xfrm>
          <a:prstGeom prst="rect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91" name="Google Shape;191;p29"/>
          <p:cNvCxnSpPr>
            <a:stCxn id="189" idx="3"/>
            <a:endCxn id="192" idx="2"/>
          </p:cNvCxnSpPr>
          <p:nvPr/>
        </p:nvCxnSpPr>
        <p:spPr>
          <a:xfrm>
            <a:off x="2543888" y="2988475"/>
            <a:ext cx="31404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93" name="Google Shape;193;p29"/>
          <p:cNvSpPr/>
          <p:nvPr/>
        </p:nvSpPr>
        <p:spPr>
          <a:xfrm>
            <a:off x="6435638" y="2358475"/>
            <a:ext cx="1260000" cy="1260000"/>
          </a:xfrm>
          <a:prstGeom prst="rect">
            <a:avLst/>
          </a:prstGeom>
          <a:solidFill>
            <a:srgbClr val="F4CCCC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>
                <a:latin typeface="Courier"/>
                <a:ea typeface="Courier"/>
                <a:cs typeface="Courier"/>
                <a:sym typeface="Courier"/>
              </a:rPr>
              <a:t>Dict App</a:t>
            </a:r>
            <a:endParaRPr>
              <a:latin typeface="Courier"/>
              <a:ea typeface="Courier"/>
              <a:cs typeface="Courier"/>
              <a:sym typeface="Courier"/>
            </a:endParaRPr>
          </a:p>
        </p:txBody>
      </p:sp>
      <p:sp>
        <p:nvSpPr>
          <p:cNvPr id="194" name="Google Shape;194;p29"/>
          <p:cNvSpPr txBox="1"/>
          <p:nvPr/>
        </p:nvSpPr>
        <p:spPr>
          <a:xfrm>
            <a:off x="6385850" y="1327875"/>
            <a:ext cx="1359600" cy="4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800">
                <a:solidFill>
                  <a:srgbClr val="0000FF"/>
                </a:solidFill>
                <a:latin typeface="Courier"/>
                <a:ea typeface="Courier"/>
                <a:cs typeface="Courier"/>
                <a:sym typeface="Courier"/>
              </a:rPr>
              <a:t>dict.org</a:t>
            </a:r>
            <a:endParaRPr sz="1800">
              <a:solidFill>
                <a:srgbClr val="0000FF"/>
              </a:solidFill>
              <a:latin typeface="Courier"/>
              <a:ea typeface="Courier"/>
              <a:cs typeface="Courier"/>
              <a:sym typeface="Courier"/>
            </a:endParaRPr>
          </a:p>
        </p:txBody>
      </p:sp>
      <p:sp>
        <p:nvSpPr>
          <p:cNvPr id="192" name="Google Shape;192;p29"/>
          <p:cNvSpPr/>
          <p:nvPr/>
        </p:nvSpPr>
        <p:spPr>
          <a:xfrm>
            <a:off x="5684154" y="2868625"/>
            <a:ext cx="239700" cy="239700"/>
          </a:xfrm>
          <a:prstGeom prst="ellipse">
            <a:avLst/>
          </a:prstGeom>
          <a:solidFill>
            <a:srgbClr val="FF0000"/>
          </a:solidFill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urier"/>
              <a:ea typeface="Courier"/>
              <a:cs typeface="Courier"/>
              <a:sym typeface="Courier"/>
            </a:endParaRPr>
          </a:p>
        </p:txBody>
      </p:sp>
      <p:cxnSp>
        <p:nvCxnSpPr>
          <p:cNvPr id="195" name="Google Shape;195;p29"/>
          <p:cNvCxnSpPr>
            <a:stCxn id="193" idx="1"/>
            <a:endCxn id="192" idx="6"/>
          </p:cNvCxnSpPr>
          <p:nvPr/>
        </p:nvCxnSpPr>
        <p:spPr>
          <a:xfrm rot="10800000">
            <a:off x="5923838" y="2988475"/>
            <a:ext cx="5118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96" name="Google Shape;196;p29"/>
          <p:cNvSpPr txBox="1"/>
          <p:nvPr/>
        </p:nvSpPr>
        <p:spPr>
          <a:xfrm>
            <a:off x="4913000" y="3108325"/>
            <a:ext cx="7713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>
                <a:solidFill>
                  <a:srgbClr val="FF0000"/>
                </a:solidFill>
                <a:latin typeface="Courier"/>
                <a:ea typeface="Courier"/>
                <a:cs typeface="Courier"/>
                <a:sym typeface="Courier"/>
              </a:rPr>
              <a:t>Port</a:t>
            </a:r>
            <a:endParaRPr b="1">
              <a:solidFill>
                <a:srgbClr val="FF0000"/>
              </a:solidFill>
              <a:latin typeface="Courier"/>
              <a:ea typeface="Courier"/>
              <a:cs typeface="Courier"/>
              <a:sym typeface="Courier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>
                <a:solidFill>
                  <a:srgbClr val="FF0000"/>
                </a:solidFill>
                <a:latin typeface="Courier"/>
                <a:ea typeface="Courier"/>
                <a:cs typeface="Courier"/>
                <a:sym typeface="Courier"/>
              </a:rPr>
              <a:t>2628</a:t>
            </a:r>
            <a:endParaRPr b="1">
              <a:solidFill>
                <a:srgbClr val="FF0000"/>
              </a:solidFill>
            </a:endParaRPr>
          </a:p>
        </p:txBody>
      </p:sp>
      <p:sp>
        <p:nvSpPr>
          <p:cNvPr id="197" name="Google Shape;197;p29"/>
          <p:cNvSpPr txBox="1"/>
          <p:nvPr/>
        </p:nvSpPr>
        <p:spPr>
          <a:xfrm>
            <a:off x="3918875" y="2588275"/>
            <a:ext cx="511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str</a:t>
            </a:r>
            <a:endParaRPr/>
          </a:p>
        </p:txBody>
      </p:sp>
      <p:sp>
        <p:nvSpPr>
          <p:cNvPr id="198" name="Google Shape;198;p29"/>
          <p:cNvSpPr/>
          <p:nvPr/>
        </p:nvSpPr>
        <p:spPr>
          <a:xfrm>
            <a:off x="4735275" y="784775"/>
            <a:ext cx="2302500" cy="1260000"/>
          </a:xfrm>
          <a:prstGeom prst="wedgeRoundRectCallout">
            <a:avLst>
              <a:gd fmla="val 30920" name="adj1"/>
              <a:gd fmla="val 90860" name="adj2"/>
              <a:gd fmla="val 0" name="adj3"/>
            </a:avLst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800"/>
              <a:t>Applications run on these device</a:t>
            </a:r>
            <a:r>
              <a:rPr lang="en-CA" sz="1800"/>
              <a:t>s</a:t>
            </a:r>
            <a:endParaRPr sz="18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30"/>
          <p:cNvSpPr txBox="1"/>
          <p:nvPr>
            <p:ph type="title"/>
          </p:nvPr>
        </p:nvSpPr>
        <p:spPr>
          <a:xfrm>
            <a:off x="438954" y="560541"/>
            <a:ext cx="7886700" cy="45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>
                <a:solidFill>
                  <a:srgbClr val="0077C8"/>
                </a:solidFill>
              </a:rPr>
              <a:t>Exercise 1: Online Dictionaries</a:t>
            </a:r>
            <a:endParaRPr/>
          </a:p>
        </p:txBody>
      </p:sp>
      <p:sp>
        <p:nvSpPr>
          <p:cNvPr id="204" name="Google Shape;204;p30"/>
          <p:cNvSpPr/>
          <p:nvPr/>
        </p:nvSpPr>
        <p:spPr>
          <a:xfrm>
            <a:off x="1283888" y="2358475"/>
            <a:ext cx="1260000" cy="1260000"/>
          </a:xfrm>
          <a:prstGeom prst="rect">
            <a:avLst/>
          </a:prstGeom>
          <a:solidFill>
            <a:srgbClr val="D9EAD3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netcat</a:t>
            </a:r>
            <a:endParaRPr/>
          </a:p>
        </p:txBody>
      </p:sp>
      <p:sp>
        <p:nvSpPr>
          <p:cNvPr id="205" name="Google Shape;205;p30"/>
          <p:cNvSpPr/>
          <p:nvPr/>
        </p:nvSpPr>
        <p:spPr>
          <a:xfrm>
            <a:off x="5805638" y="1728475"/>
            <a:ext cx="2520000" cy="2520000"/>
          </a:xfrm>
          <a:prstGeom prst="rect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06" name="Google Shape;206;p30"/>
          <p:cNvCxnSpPr>
            <a:stCxn id="204" idx="3"/>
            <a:endCxn id="207" idx="2"/>
          </p:cNvCxnSpPr>
          <p:nvPr/>
        </p:nvCxnSpPr>
        <p:spPr>
          <a:xfrm>
            <a:off x="2543888" y="2988475"/>
            <a:ext cx="31404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08" name="Google Shape;208;p30"/>
          <p:cNvSpPr/>
          <p:nvPr/>
        </p:nvSpPr>
        <p:spPr>
          <a:xfrm>
            <a:off x="6435638" y="2358475"/>
            <a:ext cx="1260000" cy="1260000"/>
          </a:xfrm>
          <a:prstGeom prst="rect">
            <a:avLst/>
          </a:prstGeom>
          <a:solidFill>
            <a:srgbClr val="F4CCCC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>
                <a:latin typeface="Courier"/>
                <a:ea typeface="Courier"/>
                <a:cs typeface="Courier"/>
                <a:sym typeface="Courier"/>
              </a:rPr>
              <a:t>Dict App</a:t>
            </a:r>
            <a:endParaRPr>
              <a:latin typeface="Courier"/>
              <a:ea typeface="Courier"/>
              <a:cs typeface="Courier"/>
              <a:sym typeface="Courier"/>
            </a:endParaRPr>
          </a:p>
        </p:txBody>
      </p:sp>
      <p:sp>
        <p:nvSpPr>
          <p:cNvPr id="209" name="Google Shape;209;p30"/>
          <p:cNvSpPr txBox="1"/>
          <p:nvPr/>
        </p:nvSpPr>
        <p:spPr>
          <a:xfrm>
            <a:off x="6385850" y="1327875"/>
            <a:ext cx="1359600" cy="4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800">
                <a:solidFill>
                  <a:srgbClr val="0000FF"/>
                </a:solidFill>
                <a:latin typeface="Courier"/>
                <a:ea typeface="Courier"/>
                <a:cs typeface="Courier"/>
                <a:sym typeface="Courier"/>
              </a:rPr>
              <a:t>dict.org</a:t>
            </a:r>
            <a:endParaRPr sz="1800">
              <a:solidFill>
                <a:srgbClr val="0000FF"/>
              </a:solidFill>
              <a:latin typeface="Courier"/>
              <a:ea typeface="Courier"/>
              <a:cs typeface="Courier"/>
              <a:sym typeface="Courier"/>
            </a:endParaRPr>
          </a:p>
        </p:txBody>
      </p:sp>
      <p:sp>
        <p:nvSpPr>
          <p:cNvPr id="207" name="Google Shape;207;p30"/>
          <p:cNvSpPr/>
          <p:nvPr/>
        </p:nvSpPr>
        <p:spPr>
          <a:xfrm>
            <a:off x="5684154" y="2868625"/>
            <a:ext cx="239700" cy="239700"/>
          </a:xfrm>
          <a:prstGeom prst="ellipse">
            <a:avLst/>
          </a:prstGeom>
          <a:solidFill>
            <a:srgbClr val="FF0000"/>
          </a:solidFill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urier"/>
              <a:ea typeface="Courier"/>
              <a:cs typeface="Courier"/>
              <a:sym typeface="Courier"/>
            </a:endParaRPr>
          </a:p>
        </p:txBody>
      </p:sp>
      <p:cxnSp>
        <p:nvCxnSpPr>
          <p:cNvPr id="210" name="Google Shape;210;p30"/>
          <p:cNvCxnSpPr>
            <a:stCxn id="208" idx="1"/>
            <a:endCxn id="207" idx="6"/>
          </p:cNvCxnSpPr>
          <p:nvPr/>
        </p:nvCxnSpPr>
        <p:spPr>
          <a:xfrm rot="10800000">
            <a:off x="5923838" y="2988475"/>
            <a:ext cx="5118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11" name="Google Shape;211;p30"/>
          <p:cNvSpPr txBox="1"/>
          <p:nvPr/>
        </p:nvSpPr>
        <p:spPr>
          <a:xfrm>
            <a:off x="4913000" y="3108325"/>
            <a:ext cx="7713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>
                <a:solidFill>
                  <a:srgbClr val="FF0000"/>
                </a:solidFill>
                <a:latin typeface="Courier"/>
                <a:ea typeface="Courier"/>
                <a:cs typeface="Courier"/>
                <a:sym typeface="Courier"/>
              </a:rPr>
              <a:t>Port</a:t>
            </a:r>
            <a:endParaRPr b="1">
              <a:solidFill>
                <a:srgbClr val="FF0000"/>
              </a:solidFill>
              <a:latin typeface="Courier"/>
              <a:ea typeface="Courier"/>
              <a:cs typeface="Courier"/>
              <a:sym typeface="Courier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>
                <a:solidFill>
                  <a:srgbClr val="FF0000"/>
                </a:solidFill>
                <a:latin typeface="Courier"/>
                <a:ea typeface="Courier"/>
                <a:cs typeface="Courier"/>
                <a:sym typeface="Courier"/>
              </a:rPr>
              <a:t>2628</a:t>
            </a:r>
            <a:endParaRPr b="1">
              <a:solidFill>
                <a:srgbClr val="FF0000"/>
              </a:solidFill>
            </a:endParaRPr>
          </a:p>
        </p:txBody>
      </p:sp>
      <p:sp>
        <p:nvSpPr>
          <p:cNvPr id="212" name="Google Shape;212;p30"/>
          <p:cNvSpPr txBox="1"/>
          <p:nvPr/>
        </p:nvSpPr>
        <p:spPr>
          <a:xfrm>
            <a:off x="3918875" y="2588275"/>
            <a:ext cx="511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str</a:t>
            </a:r>
            <a:endParaRPr/>
          </a:p>
        </p:txBody>
      </p:sp>
      <p:sp>
        <p:nvSpPr>
          <p:cNvPr id="213" name="Google Shape;213;p30"/>
          <p:cNvSpPr/>
          <p:nvPr/>
        </p:nvSpPr>
        <p:spPr>
          <a:xfrm>
            <a:off x="4735275" y="784775"/>
            <a:ext cx="2302500" cy="1260000"/>
          </a:xfrm>
          <a:prstGeom prst="wedgeRoundRectCallout">
            <a:avLst>
              <a:gd fmla="val 30920" name="adj1"/>
              <a:gd fmla="val 90860" name="adj2"/>
              <a:gd fmla="val 0" name="adj3"/>
            </a:avLst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800"/>
              <a:t>They can receive input through ports</a:t>
            </a:r>
            <a:endParaRPr sz="18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31"/>
          <p:cNvSpPr txBox="1"/>
          <p:nvPr>
            <p:ph type="title"/>
          </p:nvPr>
        </p:nvSpPr>
        <p:spPr>
          <a:xfrm>
            <a:off x="438954" y="560541"/>
            <a:ext cx="7886700" cy="45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>
                <a:solidFill>
                  <a:srgbClr val="0077C8"/>
                </a:solidFill>
              </a:rPr>
              <a:t>Exercise 1: Online Dictionaries</a:t>
            </a:r>
            <a:endParaRPr/>
          </a:p>
        </p:txBody>
      </p:sp>
      <p:sp>
        <p:nvSpPr>
          <p:cNvPr id="219" name="Google Shape;219;p31"/>
          <p:cNvSpPr/>
          <p:nvPr/>
        </p:nvSpPr>
        <p:spPr>
          <a:xfrm>
            <a:off x="1283888" y="2358475"/>
            <a:ext cx="1260000" cy="1260000"/>
          </a:xfrm>
          <a:prstGeom prst="rect">
            <a:avLst/>
          </a:prstGeom>
          <a:solidFill>
            <a:srgbClr val="D9EAD3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netcat</a:t>
            </a:r>
            <a:endParaRPr/>
          </a:p>
        </p:txBody>
      </p:sp>
      <p:sp>
        <p:nvSpPr>
          <p:cNvPr id="220" name="Google Shape;220;p31"/>
          <p:cNvSpPr/>
          <p:nvPr/>
        </p:nvSpPr>
        <p:spPr>
          <a:xfrm>
            <a:off x="5805638" y="1728475"/>
            <a:ext cx="2520000" cy="2520000"/>
          </a:xfrm>
          <a:prstGeom prst="rect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21" name="Google Shape;221;p31"/>
          <p:cNvCxnSpPr>
            <a:stCxn id="222" idx="2"/>
            <a:endCxn id="219" idx="3"/>
          </p:cNvCxnSpPr>
          <p:nvPr/>
        </p:nvCxnSpPr>
        <p:spPr>
          <a:xfrm rot="10800000">
            <a:off x="2543754" y="2988475"/>
            <a:ext cx="31404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23" name="Google Shape;223;p31"/>
          <p:cNvSpPr/>
          <p:nvPr/>
        </p:nvSpPr>
        <p:spPr>
          <a:xfrm>
            <a:off x="6435638" y="2358475"/>
            <a:ext cx="1260000" cy="1260000"/>
          </a:xfrm>
          <a:prstGeom prst="rect">
            <a:avLst/>
          </a:prstGeom>
          <a:solidFill>
            <a:srgbClr val="F4CCCC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>
                <a:latin typeface="Courier"/>
                <a:ea typeface="Courier"/>
                <a:cs typeface="Courier"/>
                <a:sym typeface="Courier"/>
              </a:rPr>
              <a:t>Dict App</a:t>
            </a:r>
            <a:endParaRPr>
              <a:latin typeface="Courier"/>
              <a:ea typeface="Courier"/>
              <a:cs typeface="Courier"/>
              <a:sym typeface="Courier"/>
            </a:endParaRPr>
          </a:p>
        </p:txBody>
      </p:sp>
      <p:sp>
        <p:nvSpPr>
          <p:cNvPr id="224" name="Google Shape;224;p31"/>
          <p:cNvSpPr txBox="1"/>
          <p:nvPr/>
        </p:nvSpPr>
        <p:spPr>
          <a:xfrm>
            <a:off x="6385850" y="1327875"/>
            <a:ext cx="1359600" cy="4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800">
                <a:solidFill>
                  <a:srgbClr val="0000FF"/>
                </a:solidFill>
                <a:latin typeface="Courier"/>
                <a:ea typeface="Courier"/>
                <a:cs typeface="Courier"/>
                <a:sym typeface="Courier"/>
              </a:rPr>
              <a:t>dict.org</a:t>
            </a:r>
            <a:endParaRPr sz="1800">
              <a:solidFill>
                <a:srgbClr val="0000FF"/>
              </a:solidFill>
              <a:latin typeface="Courier"/>
              <a:ea typeface="Courier"/>
              <a:cs typeface="Courier"/>
              <a:sym typeface="Courier"/>
            </a:endParaRPr>
          </a:p>
        </p:txBody>
      </p:sp>
      <p:sp>
        <p:nvSpPr>
          <p:cNvPr id="222" name="Google Shape;222;p31"/>
          <p:cNvSpPr/>
          <p:nvPr/>
        </p:nvSpPr>
        <p:spPr>
          <a:xfrm>
            <a:off x="5684154" y="2868625"/>
            <a:ext cx="239700" cy="239700"/>
          </a:xfrm>
          <a:prstGeom prst="ellipse">
            <a:avLst/>
          </a:prstGeom>
          <a:solidFill>
            <a:srgbClr val="FF0000"/>
          </a:solidFill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urier"/>
              <a:ea typeface="Courier"/>
              <a:cs typeface="Courier"/>
              <a:sym typeface="Courier"/>
            </a:endParaRPr>
          </a:p>
        </p:txBody>
      </p:sp>
      <p:cxnSp>
        <p:nvCxnSpPr>
          <p:cNvPr id="225" name="Google Shape;225;p31"/>
          <p:cNvCxnSpPr>
            <a:stCxn id="223" idx="1"/>
            <a:endCxn id="222" idx="6"/>
          </p:cNvCxnSpPr>
          <p:nvPr/>
        </p:nvCxnSpPr>
        <p:spPr>
          <a:xfrm rot="10800000">
            <a:off x="5923838" y="2988475"/>
            <a:ext cx="5118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26" name="Google Shape;226;p31"/>
          <p:cNvSpPr txBox="1"/>
          <p:nvPr/>
        </p:nvSpPr>
        <p:spPr>
          <a:xfrm>
            <a:off x="4913000" y="3108325"/>
            <a:ext cx="7713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>
                <a:solidFill>
                  <a:srgbClr val="FF0000"/>
                </a:solidFill>
                <a:latin typeface="Courier"/>
                <a:ea typeface="Courier"/>
                <a:cs typeface="Courier"/>
                <a:sym typeface="Courier"/>
              </a:rPr>
              <a:t>Port</a:t>
            </a:r>
            <a:endParaRPr b="1">
              <a:solidFill>
                <a:srgbClr val="FF0000"/>
              </a:solidFill>
              <a:latin typeface="Courier"/>
              <a:ea typeface="Courier"/>
              <a:cs typeface="Courier"/>
              <a:sym typeface="Courier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>
                <a:solidFill>
                  <a:srgbClr val="FF0000"/>
                </a:solidFill>
                <a:latin typeface="Courier"/>
                <a:ea typeface="Courier"/>
                <a:cs typeface="Courier"/>
                <a:sym typeface="Courier"/>
              </a:rPr>
              <a:t>2628</a:t>
            </a:r>
            <a:endParaRPr b="1">
              <a:solidFill>
                <a:srgbClr val="FF0000"/>
              </a:solidFill>
            </a:endParaRPr>
          </a:p>
        </p:txBody>
      </p:sp>
      <p:sp>
        <p:nvSpPr>
          <p:cNvPr id="227" name="Google Shape;227;p31"/>
          <p:cNvSpPr txBox="1"/>
          <p:nvPr/>
        </p:nvSpPr>
        <p:spPr>
          <a:xfrm>
            <a:off x="3918875" y="2588275"/>
            <a:ext cx="511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res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32"/>
          <p:cNvSpPr txBox="1"/>
          <p:nvPr>
            <p:ph type="title"/>
          </p:nvPr>
        </p:nvSpPr>
        <p:spPr>
          <a:xfrm>
            <a:off x="438954" y="560541"/>
            <a:ext cx="7886700" cy="45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>
                <a:solidFill>
                  <a:srgbClr val="0077C8"/>
                </a:solidFill>
              </a:rPr>
              <a:t>Exercise 1: Online Dictionaries</a:t>
            </a:r>
            <a:endParaRPr/>
          </a:p>
        </p:txBody>
      </p:sp>
      <p:sp>
        <p:nvSpPr>
          <p:cNvPr id="233" name="Google Shape;233;p32"/>
          <p:cNvSpPr/>
          <p:nvPr/>
        </p:nvSpPr>
        <p:spPr>
          <a:xfrm>
            <a:off x="1283888" y="2358475"/>
            <a:ext cx="1260000" cy="1260000"/>
          </a:xfrm>
          <a:prstGeom prst="rect">
            <a:avLst/>
          </a:prstGeom>
          <a:solidFill>
            <a:srgbClr val="D9EAD3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netcat</a:t>
            </a:r>
            <a:endParaRPr/>
          </a:p>
        </p:txBody>
      </p:sp>
      <p:sp>
        <p:nvSpPr>
          <p:cNvPr id="234" name="Google Shape;234;p32"/>
          <p:cNvSpPr/>
          <p:nvPr/>
        </p:nvSpPr>
        <p:spPr>
          <a:xfrm>
            <a:off x="5805638" y="1728475"/>
            <a:ext cx="2520000" cy="2520000"/>
          </a:xfrm>
          <a:prstGeom prst="rect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35" name="Google Shape;235;p32"/>
          <p:cNvCxnSpPr>
            <a:stCxn id="236" idx="2"/>
            <a:endCxn id="233" idx="3"/>
          </p:cNvCxnSpPr>
          <p:nvPr/>
        </p:nvCxnSpPr>
        <p:spPr>
          <a:xfrm rot="10800000">
            <a:off x="2543754" y="2988475"/>
            <a:ext cx="31404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37" name="Google Shape;237;p32"/>
          <p:cNvSpPr/>
          <p:nvPr/>
        </p:nvSpPr>
        <p:spPr>
          <a:xfrm>
            <a:off x="6435638" y="2358475"/>
            <a:ext cx="1260000" cy="1260000"/>
          </a:xfrm>
          <a:prstGeom prst="rect">
            <a:avLst/>
          </a:prstGeom>
          <a:solidFill>
            <a:srgbClr val="F4CCCC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>
                <a:latin typeface="Courier"/>
                <a:ea typeface="Courier"/>
                <a:cs typeface="Courier"/>
                <a:sym typeface="Courier"/>
              </a:rPr>
              <a:t>Dict App</a:t>
            </a:r>
            <a:endParaRPr>
              <a:latin typeface="Courier"/>
              <a:ea typeface="Courier"/>
              <a:cs typeface="Courier"/>
              <a:sym typeface="Courier"/>
            </a:endParaRPr>
          </a:p>
        </p:txBody>
      </p:sp>
      <p:sp>
        <p:nvSpPr>
          <p:cNvPr id="238" name="Google Shape;238;p32"/>
          <p:cNvSpPr txBox="1"/>
          <p:nvPr/>
        </p:nvSpPr>
        <p:spPr>
          <a:xfrm>
            <a:off x="6385850" y="1327875"/>
            <a:ext cx="1359600" cy="4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800">
                <a:solidFill>
                  <a:srgbClr val="0000FF"/>
                </a:solidFill>
                <a:latin typeface="Courier"/>
                <a:ea typeface="Courier"/>
                <a:cs typeface="Courier"/>
                <a:sym typeface="Courier"/>
              </a:rPr>
              <a:t>dict.org</a:t>
            </a:r>
            <a:endParaRPr sz="1800">
              <a:solidFill>
                <a:srgbClr val="0000FF"/>
              </a:solidFill>
              <a:latin typeface="Courier"/>
              <a:ea typeface="Courier"/>
              <a:cs typeface="Courier"/>
              <a:sym typeface="Courier"/>
            </a:endParaRPr>
          </a:p>
        </p:txBody>
      </p:sp>
      <p:sp>
        <p:nvSpPr>
          <p:cNvPr id="236" name="Google Shape;236;p32"/>
          <p:cNvSpPr/>
          <p:nvPr/>
        </p:nvSpPr>
        <p:spPr>
          <a:xfrm>
            <a:off x="5684154" y="2868625"/>
            <a:ext cx="239700" cy="239700"/>
          </a:xfrm>
          <a:prstGeom prst="ellipse">
            <a:avLst/>
          </a:prstGeom>
          <a:solidFill>
            <a:srgbClr val="FF0000"/>
          </a:solidFill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urier"/>
              <a:ea typeface="Courier"/>
              <a:cs typeface="Courier"/>
              <a:sym typeface="Courier"/>
            </a:endParaRPr>
          </a:p>
        </p:txBody>
      </p:sp>
      <p:cxnSp>
        <p:nvCxnSpPr>
          <p:cNvPr id="239" name="Google Shape;239;p32"/>
          <p:cNvCxnSpPr>
            <a:stCxn id="237" idx="1"/>
            <a:endCxn id="236" idx="6"/>
          </p:cNvCxnSpPr>
          <p:nvPr/>
        </p:nvCxnSpPr>
        <p:spPr>
          <a:xfrm rot="10800000">
            <a:off x="5923838" y="2988475"/>
            <a:ext cx="5118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40" name="Google Shape;240;p32"/>
          <p:cNvSpPr txBox="1"/>
          <p:nvPr/>
        </p:nvSpPr>
        <p:spPr>
          <a:xfrm>
            <a:off x="4913000" y="3108325"/>
            <a:ext cx="7713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>
                <a:solidFill>
                  <a:srgbClr val="FF0000"/>
                </a:solidFill>
                <a:latin typeface="Courier"/>
                <a:ea typeface="Courier"/>
                <a:cs typeface="Courier"/>
                <a:sym typeface="Courier"/>
              </a:rPr>
              <a:t>Port</a:t>
            </a:r>
            <a:endParaRPr b="1">
              <a:solidFill>
                <a:srgbClr val="FF0000"/>
              </a:solidFill>
              <a:latin typeface="Courier"/>
              <a:ea typeface="Courier"/>
              <a:cs typeface="Courier"/>
              <a:sym typeface="Courier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>
                <a:solidFill>
                  <a:srgbClr val="FF0000"/>
                </a:solidFill>
                <a:latin typeface="Courier"/>
                <a:ea typeface="Courier"/>
                <a:cs typeface="Courier"/>
                <a:sym typeface="Courier"/>
              </a:rPr>
              <a:t>2628</a:t>
            </a:r>
            <a:endParaRPr b="1">
              <a:solidFill>
                <a:srgbClr val="FF0000"/>
              </a:solidFill>
            </a:endParaRPr>
          </a:p>
        </p:txBody>
      </p:sp>
      <p:sp>
        <p:nvSpPr>
          <p:cNvPr id="241" name="Google Shape;241;p32"/>
          <p:cNvSpPr txBox="1"/>
          <p:nvPr/>
        </p:nvSpPr>
        <p:spPr>
          <a:xfrm>
            <a:off x="3918875" y="2588275"/>
            <a:ext cx="511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res</a:t>
            </a:r>
            <a:endParaRPr/>
          </a:p>
        </p:txBody>
      </p:sp>
      <p:sp>
        <p:nvSpPr>
          <p:cNvPr id="242" name="Google Shape;242;p32"/>
          <p:cNvSpPr/>
          <p:nvPr/>
        </p:nvSpPr>
        <p:spPr>
          <a:xfrm>
            <a:off x="2406725" y="898125"/>
            <a:ext cx="3536100" cy="1260000"/>
          </a:xfrm>
          <a:prstGeom prst="wedgeRoundRectCallout">
            <a:avLst>
              <a:gd fmla="val 6103" name="adj1"/>
              <a:gd fmla="val 83187" name="adj2"/>
              <a:gd fmla="val 0" name="adj3"/>
            </a:avLst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800"/>
              <a:t>The application processes the input and returns a response</a:t>
            </a:r>
            <a:endParaRPr sz="18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33"/>
          <p:cNvSpPr txBox="1"/>
          <p:nvPr>
            <p:ph type="title"/>
          </p:nvPr>
        </p:nvSpPr>
        <p:spPr>
          <a:xfrm>
            <a:off x="438954" y="560541"/>
            <a:ext cx="7886700" cy="45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>
                <a:solidFill>
                  <a:srgbClr val="0077C8"/>
                </a:solidFill>
              </a:rPr>
              <a:t>Exercise 1: Online Dictionaries</a:t>
            </a:r>
            <a:endParaRPr/>
          </a:p>
        </p:txBody>
      </p:sp>
      <p:sp>
        <p:nvSpPr>
          <p:cNvPr id="248" name="Google Shape;248;p33"/>
          <p:cNvSpPr/>
          <p:nvPr/>
        </p:nvSpPr>
        <p:spPr>
          <a:xfrm>
            <a:off x="1283888" y="2358475"/>
            <a:ext cx="1260000" cy="1260000"/>
          </a:xfrm>
          <a:prstGeom prst="rect">
            <a:avLst/>
          </a:prstGeom>
          <a:solidFill>
            <a:srgbClr val="D9EAD3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netcat</a:t>
            </a:r>
            <a:endParaRPr/>
          </a:p>
        </p:txBody>
      </p:sp>
      <p:sp>
        <p:nvSpPr>
          <p:cNvPr id="249" name="Google Shape;249;p33"/>
          <p:cNvSpPr/>
          <p:nvPr/>
        </p:nvSpPr>
        <p:spPr>
          <a:xfrm>
            <a:off x="5805638" y="1728475"/>
            <a:ext cx="2520000" cy="2520000"/>
          </a:xfrm>
          <a:prstGeom prst="rect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50" name="Google Shape;250;p33"/>
          <p:cNvCxnSpPr>
            <a:stCxn id="251" idx="2"/>
            <a:endCxn id="248" idx="3"/>
          </p:cNvCxnSpPr>
          <p:nvPr/>
        </p:nvCxnSpPr>
        <p:spPr>
          <a:xfrm rot="10800000">
            <a:off x="2543754" y="2988475"/>
            <a:ext cx="31404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52" name="Google Shape;252;p33"/>
          <p:cNvSpPr/>
          <p:nvPr/>
        </p:nvSpPr>
        <p:spPr>
          <a:xfrm>
            <a:off x="6435638" y="2358475"/>
            <a:ext cx="1260000" cy="1260000"/>
          </a:xfrm>
          <a:prstGeom prst="rect">
            <a:avLst/>
          </a:prstGeom>
          <a:solidFill>
            <a:srgbClr val="F4CCCC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>
                <a:latin typeface="Courier"/>
                <a:ea typeface="Courier"/>
                <a:cs typeface="Courier"/>
                <a:sym typeface="Courier"/>
              </a:rPr>
              <a:t>Dict App</a:t>
            </a:r>
            <a:endParaRPr>
              <a:latin typeface="Courier"/>
              <a:ea typeface="Courier"/>
              <a:cs typeface="Courier"/>
              <a:sym typeface="Courier"/>
            </a:endParaRPr>
          </a:p>
        </p:txBody>
      </p:sp>
      <p:sp>
        <p:nvSpPr>
          <p:cNvPr id="253" name="Google Shape;253;p33"/>
          <p:cNvSpPr txBox="1"/>
          <p:nvPr/>
        </p:nvSpPr>
        <p:spPr>
          <a:xfrm>
            <a:off x="6385850" y="1327875"/>
            <a:ext cx="1359600" cy="4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800">
                <a:solidFill>
                  <a:srgbClr val="0000FF"/>
                </a:solidFill>
                <a:latin typeface="Courier"/>
                <a:ea typeface="Courier"/>
                <a:cs typeface="Courier"/>
                <a:sym typeface="Courier"/>
              </a:rPr>
              <a:t>dict.org</a:t>
            </a:r>
            <a:endParaRPr sz="1800">
              <a:solidFill>
                <a:srgbClr val="0000FF"/>
              </a:solidFill>
              <a:latin typeface="Courier"/>
              <a:ea typeface="Courier"/>
              <a:cs typeface="Courier"/>
              <a:sym typeface="Courier"/>
            </a:endParaRPr>
          </a:p>
        </p:txBody>
      </p:sp>
      <p:sp>
        <p:nvSpPr>
          <p:cNvPr id="251" name="Google Shape;251;p33"/>
          <p:cNvSpPr/>
          <p:nvPr/>
        </p:nvSpPr>
        <p:spPr>
          <a:xfrm>
            <a:off x="5684154" y="2868625"/>
            <a:ext cx="239700" cy="239700"/>
          </a:xfrm>
          <a:prstGeom prst="ellipse">
            <a:avLst/>
          </a:prstGeom>
          <a:solidFill>
            <a:srgbClr val="FF0000"/>
          </a:solidFill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urier"/>
              <a:ea typeface="Courier"/>
              <a:cs typeface="Courier"/>
              <a:sym typeface="Courier"/>
            </a:endParaRPr>
          </a:p>
        </p:txBody>
      </p:sp>
      <p:cxnSp>
        <p:nvCxnSpPr>
          <p:cNvPr id="254" name="Google Shape;254;p33"/>
          <p:cNvCxnSpPr>
            <a:stCxn id="252" idx="1"/>
            <a:endCxn id="251" idx="6"/>
          </p:cNvCxnSpPr>
          <p:nvPr/>
        </p:nvCxnSpPr>
        <p:spPr>
          <a:xfrm rot="10800000">
            <a:off x="5923838" y="2988475"/>
            <a:ext cx="5118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55" name="Google Shape;255;p33"/>
          <p:cNvSpPr txBox="1"/>
          <p:nvPr/>
        </p:nvSpPr>
        <p:spPr>
          <a:xfrm>
            <a:off x="4913000" y="3108325"/>
            <a:ext cx="7713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>
                <a:solidFill>
                  <a:srgbClr val="FF0000"/>
                </a:solidFill>
                <a:latin typeface="Courier"/>
                <a:ea typeface="Courier"/>
                <a:cs typeface="Courier"/>
                <a:sym typeface="Courier"/>
              </a:rPr>
              <a:t>Port</a:t>
            </a:r>
            <a:endParaRPr b="1">
              <a:solidFill>
                <a:srgbClr val="FF0000"/>
              </a:solidFill>
              <a:latin typeface="Courier"/>
              <a:ea typeface="Courier"/>
              <a:cs typeface="Courier"/>
              <a:sym typeface="Courier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>
                <a:solidFill>
                  <a:srgbClr val="FF0000"/>
                </a:solidFill>
                <a:latin typeface="Courier"/>
                <a:ea typeface="Courier"/>
                <a:cs typeface="Courier"/>
                <a:sym typeface="Courier"/>
              </a:rPr>
              <a:t>2628</a:t>
            </a:r>
            <a:endParaRPr b="1">
              <a:solidFill>
                <a:srgbClr val="FF0000"/>
              </a:solidFill>
            </a:endParaRPr>
          </a:p>
        </p:txBody>
      </p:sp>
      <p:sp>
        <p:nvSpPr>
          <p:cNvPr id="256" name="Google Shape;256;p33"/>
          <p:cNvSpPr txBox="1"/>
          <p:nvPr/>
        </p:nvSpPr>
        <p:spPr>
          <a:xfrm>
            <a:off x="3918875" y="2588275"/>
            <a:ext cx="511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res</a:t>
            </a:r>
            <a:endParaRPr/>
          </a:p>
        </p:txBody>
      </p:sp>
      <p:sp>
        <p:nvSpPr>
          <p:cNvPr id="257" name="Google Shape;257;p33"/>
          <p:cNvSpPr/>
          <p:nvPr/>
        </p:nvSpPr>
        <p:spPr>
          <a:xfrm>
            <a:off x="2406725" y="898125"/>
            <a:ext cx="3536100" cy="1260000"/>
          </a:xfrm>
          <a:prstGeom prst="wedgeRoundRectCallout">
            <a:avLst>
              <a:gd fmla="val 6103" name="adj1"/>
              <a:gd fmla="val 83187" name="adj2"/>
              <a:gd fmla="val 0" name="adj3"/>
            </a:avLst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800"/>
              <a:t>The application processes the input and returns a response</a:t>
            </a:r>
            <a:endParaRPr sz="18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34"/>
          <p:cNvSpPr txBox="1"/>
          <p:nvPr>
            <p:ph type="title"/>
          </p:nvPr>
        </p:nvSpPr>
        <p:spPr>
          <a:xfrm>
            <a:off x="438954" y="560541"/>
            <a:ext cx="7886700" cy="45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>
                <a:solidFill>
                  <a:srgbClr val="0077C8"/>
                </a:solidFill>
              </a:rPr>
              <a:t>Exercise 1: Online Dictionaries</a:t>
            </a:r>
            <a:endParaRPr>
              <a:solidFill>
                <a:srgbClr val="0077C8"/>
              </a:solidFill>
            </a:endParaRPr>
          </a:p>
        </p:txBody>
      </p:sp>
      <p:sp>
        <p:nvSpPr>
          <p:cNvPr id="263" name="Google Shape;263;p34"/>
          <p:cNvSpPr/>
          <p:nvPr/>
        </p:nvSpPr>
        <p:spPr>
          <a:xfrm>
            <a:off x="1283888" y="2358475"/>
            <a:ext cx="1260000" cy="1260000"/>
          </a:xfrm>
          <a:prstGeom prst="rect">
            <a:avLst/>
          </a:prstGeom>
          <a:solidFill>
            <a:srgbClr val="D9EAD3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netcat</a:t>
            </a:r>
            <a:endParaRPr/>
          </a:p>
        </p:txBody>
      </p:sp>
      <p:sp>
        <p:nvSpPr>
          <p:cNvPr id="264" name="Google Shape;264;p34"/>
          <p:cNvSpPr/>
          <p:nvPr/>
        </p:nvSpPr>
        <p:spPr>
          <a:xfrm>
            <a:off x="5805638" y="1728475"/>
            <a:ext cx="2520000" cy="2520000"/>
          </a:xfrm>
          <a:prstGeom prst="rect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65" name="Google Shape;265;p34"/>
          <p:cNvCxnSpPr>
            <a:stCxn id="266" idx="2"/>
            <a:endCxn id="263" idx="3"/>
          </p:cNvCxnSpPr>
          <p:nvPr/>
        </p:nvCxnSpPr>
        <p:spPr>
          <a:xfrm rot="10800000">
            <a:off x="2543754" y="2988475"/>
            <a:ext cx="31404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267" name="Google Shape;267;p34"/>
          <p:cNvSpPr/>
          <p:nvPr/>
        </p:nvSpPr>
        <p:spPr>
          <a:xfrm>
            <a:off x="6435638" y="2358475"/>
            <a:ext cx="1260000" cy="1260000"/>
          </a:xfrm>
          <a:prstGeom prst="rect">
            <a:avLst/>
          </a:prstGeom>
          <a:solidFill>
            <a:srgbClr val="F4CCCC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>
                <a:latin typeface="Courier"/>
                <a:ea typeface="Courier"/>
                <a:cs typeface="Courier"/>
                <a:sym typeface="Courier"/>
              </a:rPr>
              <a:t>Dict App</a:t>
            </a:r>
            <a:endParaRPr>
              <a:latin typeface="Courier"/>
              <a:ea typeface="Courier"/>
              <a:cs typeface="Courier"/>
              <a:sym typeface="Courier"/>
            </a:endParaRPr>
          </a:p>
        </p:txBody>
      </p:sp>
      <p:sp>
        <p:nvSpPr>
          <p:cNvPr id="268" name="Google Shape;268;p34"/>
          <p:cNvSpPr txBox="1"/>
          <p:nvPr/>
        </p:nvSpPr>
        <p:spPr>
          <a:xfrm>
            <a:off x="6385850" y="1327875"/>
            <a:ext cx="1359600" cy="4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800">
                <a:solidFill>
                  <a:srgbClr val="0000FF"/>
                </a:solidFill>
                <a:latin typeface="Courier"/>
                <a:ea typeface="Courier"/>
                <a:cs typeface="Courier"/>
                <a:sym typeface="Courier"/>
              </a:rPr>
              <a:t>dict.org</a:t>
            </a:r>
            <a:endParaRPr sz="1800">
              <a:solidFill>
                <a:srgbClr val="0000FF"/>
              </a:solidFill>
              <a:latin typeface="Courier"/>
              <a:ea typeface="Courier"/>
              <a:cs typeface="Courier"/>
              <a:sym typeface="Courier"/>
            </a:endParaRPr>
          </a:p>
        </p:txBody>
      </p:sp>
      <p:sp>
        <p:nvSpPr>
          <p:cNvPr id="266" name="Google Shape;266;p34"/>
          <p:cNvSpPr/>
          <p:nvPr/>
        </p:nvSpPr>
        <p:spPr>
          <a:xfrm>
            <a:off x="5684154" y="2868625"/>
            <a:ext cx="239700" cy="239700"/>
          </a:xfrm>
          <a:prstGeom prst="ellipse">
            <a:avLst/>
          </a:prstGeom>
          <a:solidFill>
            <a:srgbClr val="FF0000"/>
          </a:solidFill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urier"/>
              <a:ea typeface="Courier"/>
              <a:cs typeface="Courier"/>
              <a:sym typeface="Courier"/>
            </a:endParaRPr>
          </a:p>
        </p:txBody>
      </p:sp>
      <p:cxnSp>
        <p:nvCxnSpPr>
          <p:cNvPr id="269" name="Google Shape;269;p34"/>
          <p:cNvCxnSpPr>
            <a:stCxn id="267" idx="1"/>
            <a:endCxn id="266" idx="6"/>
          </p:cNvCxnSpPr>
          <p:nvPr/>
        </p:nvCxnSpPr>
        <p:spPr>
          <a:xfrm rot="10800000">
            <a:off x="5923838" y="2988475"/>
            <a:ext cx="5118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70" name="Google Shape;270;p34"/>
          <p:cNvSpPr txBox="1"/>
          <p:nvPr/>
        </p:nvSpPr>
        <p:spPr>
          <a:xfrm>
            <a:off x="4913000" y="3108325"/>
            <a:ext cx="7713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>
                <a:solidFill>
                  <a:srgbClr val="FF0000"/>
                </a:solidFill>
                <a:latin typeface="Courier"/>
                <a:ea typeface="Courier"/>
                <a:cs typeface="Courier"/>
                <a:sym typeface="Courier"/>
              </a:rPr>
              <a:t>Port</a:t>
            </a:r>
            <a:endParaRPr b="1">
              <a:solidFill>
                <a:srgbClr val="FF0000"/>
              </a:solidFill>
              <a:latin typeface="Courier"/>
              <a:ea typeface="Courier"/>
              <a:cs typeface="Courier"/>
              <a:sym typeface="Courier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>
                <a:solidFill>
                  <a:srgbClr val="FF0000"/>
                </a:solidFill>
                <a:latin typeface="Courier"/>
                <a:ea typeface="Courier"/>
                <a:cs typeface="Courier"/>
                <a:sym typeface="Courier"/>
              </a:rPr>
              <a:t>2628</a:t>
            </a:r>
            <a:endParaRPr b="1">
              <a:solidFill>
                <a:srgbClr val="FF0000"/>
              </a:solidFill>
            </a:endParaRPr>
          </a:p>
        </p:txBody>
      </p:sp>
      <p:sp>
        <p:nvSpPr>
          <p:cNvPr id="271" name="Google Shape;271;p34"/>
          <p:cNvSpPr txBox="1"/>
          <p:nvPr/>
        </p:nvSpPr>
        <p:spPr>
          <a:xfrm>
            <a:off x="3116650" y="2571750"/>
            <a:ext cx="2116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s</a:t>
            </a:r>
            <a:r>
              <a:rPr lang="en-CA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tr(req)</a:t>
            </a:r>
            <a:r>
              <a:rPr lang="en-CA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 / res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35"/>
          <p:cNvSpPr txBox="1"/>
          <p:nvPr>
            <p:ph type="title"/>
          </p:nvPr>
        </p:nvSpPr>
        <p:spPr>
          <a:xfrm>
            <a:off x="438954" y="560541"/>
            <a:ext cx="7886700" cy="45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>
                <a:solidFill>
                  <a:srgbClr val="0077C8"/>
                </a:solidFill>
              </a:rPr>
              <a:t>Exercise 1: Online Dictionaries</a:t>
            </a:r>
            <a:endParaRPr>
              <a:solidFill>
                <a:srgbClr val="0077C8"/>
              </a:solidFill>
            </a:endParaRPr>
          </a:p>
        </p:txBody>
      </p:sp>
      <p:sp>
        <p:nvSpPr>
          <p:cNvPr id="277" name="Google Shape;277;p35"/>
          <p:cNvSpPr/>
          <p:nvPr/>
        </p:nvSpPr>
        <p:spPr>
          <a:xfrm>
            <a:off x="1283888" y="2358475"/>
            <a:ext cx="1260000" cy="1260000"/>
          </a:xfrm>
          <a:prstGeom prst="rect">
            <a:avLst/>
          </a:prstGeom>
          <a:solidFill>
            <a:srgbClr val="D9EAD3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netcat</a:t>
            </a:r>
            <a:endParaRPr/>
          </a:p>
        </p:txBody>
      </p:sp>
      <p:sp>
        <p:nvSpPr>
          <p:cNvPr id="278" name="Google Shape;278;p35"/>
          <p:cNvSpPr/>
          <p:nvPr/>
        </p:nvSpPr>
        <p:spPr>
          <a:xfrm>
            <a:off x="5805638" y="1728475"/>
            <a:ext cx="2520000" cy="2520000"/>
          </a:xfrm>
          <a:prstGeom prst="rect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79" name="Google Shape;279;p35"/>
          <p:cNvCxnSpPr>
            <a:stCxn id="280" idx="2"/>
            <a:endCxn id="277" idx="3"/>
          </p:cNvCxnSpPr>
          <p:nvPr/>
        </p:nvCxnSpPr>
        <p:spPr>
          <a:xfrm rot="10800000">
            <a:off x="2543754" y="2988475"/>
            <a:ext cx="31404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281" name="Google Shape;281;p35"/>
          <p:cNvSpPr/>
          <p:nvPr/>
        </p:nvSpPr>
        <p:spPr>
          <a:xfrm>
            <a:off x="6435638" y="2358475"/>
            <a:ext cx="1260000" cy="1260000"/>
          </a:xfrm>
          <a:prstGeom prst="rect">
            <a:avLst/>
          </a:prstGeom>
          <a:solidFill>
            <a:srgbClr val="F4CCCC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>
                <a:latin typeface="Courier"/>
                <a:ea typeface="Courier"/>
                <a:cs typeface="Courier"/>
                <a:sym typeface="Courier"/>
              </a:rPr>
              <a:t>Dict App</a:t>
            </a:r>
            <a:endParaRPr>
              <a:latin typeface="Courier"/>
              <a:ea typeface="Courier"/>
              <a:cs typeface="Courier"/>
              <a:sym typeface="Courier"/>
            </a:endParaRPr>
          </a:p>
        </p:txBody>
      </p:sp>
      <p:sp>
        <p:nvSpPr>
          <p:cNvPr id="282" name="Google Shape;282;p35"/>
          <p:cNvSpPr txBox="1"/>
          <p:nvPr/>
        </p:nvSpPr>
        <p:spPr>
          <a:xfrm>
            <a:off x="6385850" y="1327875"/>
            <a:ext cx="1359600" cy="4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800">
                <a:solidFill>
                  <a:srgbClr val="0000FF"/>
                </a:solidFill>
                <a:latin typeface="Courier"/>
                <a:ea typeface="Courier"/>
                <a:cs typeface="Courier"/>
                <a:sym typeface="Courier"/>
              </a:rPr>
              <a:t>dict.org</a:t>
            </a:r>
            <a:endParaRPr sz="1800">
              <a:solidFill>
                <a:srgbClr val="0000FF"/>
              </a:solidFill>
              <a:latin typeface="Courier"/>
              <a:ea typeface="Courier"/>
              <a:cs typeface="Courier"/>
              <a:sym typeface="Courier"/>
            </a:endParaRPr>
          </a:p>
        </p:txBody>
      </p:sp>
      <p:sp>
        <p:nvSpPr>
          <p:cNvPr id="280" name="Google Shape;280;p35"/>
          <p:cNvSpPr/>
          <p:nvPr/>
        </p:nvSpPr>
        <p:spPr>
          <a:xfrm>
            <a:off x="5684154" y="2868625"/>
            <a:ext cx="239700" cy="239700"/>
          </a:xfrm>
          <a:prstGeom prst="ellipse">
            <a:avLst/>
          </a:prstGeom>
          <a:solidFill>
            <a:srgbClr val="FF0000"/>
          </a:solidFill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urier"/>
              <a:ea typeface="Courier"/>
              <a:cs typeface="Courier"/>
              <a:sym typeface="Courier"/>
            </a:endParaRPr>
          </a:p>
        </p:txBody>
      </p:sp>
      <p:cxnSp>
        <p:nvCxnSpPr>
          <p:cNvPr id="283" name="Google Shape;283;p35"/>
          <p:cNvCxnSpPr>
            <a:stCxn id="281" idx="1"/>
            <a:endCxn id="280" idx="6"/>
          </p:cNvCxnSpPr>
          <p:nvPr/>
        </p:nvCxnSpPr>
        <p:spPr>
          <a:xfrm rot="10800000">
            <a:off x="5923838" y="2988475"/>
            <a:ext cx="5118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84" name="Google Shape;284;p35"/>
          <p:cNvSpPr txBox="1"/>
          <p:nvPr/>
        </p:nvSpPr>
        <p:spPr>
          <a:xfrm>
            <a:off x="4913000" y="3108325"/>
            <a:ext cx="7713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>
                <a:solidFill>
                  <a:srgbClr val="FF0000"/>
                </a:solidFill>
                <a:latin typeface="Courier"/>
                <a:ea typeface="Courier"/>
                <a:cs typeface="Courier"/>
                <a:sym typeface="Courier"/>
              </a:rPr>
              <a:t>Port</a:t>
            </a:r>
            <a:endParaRPr b="1">
              <a:solidFill>
                <a:srgbClr val="FF0000"/>
              </a:solidFill>
              <a:latin typeface="Courier"/>
              <a:ea typeface="Courier"/>
              <a:cs typeface="Courier"/>
              <a:sym typeface="Courier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>
                <a:solidFill>
                  <a:srgbClr val="FF0000"/>
                </a:solidFill>
                <a:latin typeface="Courier"/>
                <a:ea typeface="Courier"/>
                <a:cs typeface="Courier"/>
                <a:sym typeface="Courier"/>
              </a:rPr>
              <a:t>2628</a:t>
            </a:r>
            <a:endParaRPr b="1">
              <a:solidFill>
                <a:srgbClr val="FF0000"/>
              </a:solidFill>
            </a:endParaRPr>
          </a:p>
        </p:txBody>
      </p:sp>
      <p:sp>
        <p:nvSpPr>
          <p:cNvPr id="285" name="Google Shape;285;p35"/>
          <p:cNvSpPr/>
          <p:nvPr/>
        </p:nvSpPr>
        <p:spPr>
          <a:xfrm>
            <a:off x="2406725" y="898125"/>
            <a:ext cx="3536100" cy="1260000"/>
          </a:xfrm>
          <a:prstGeom prst="wedgeRoundRectCallout">
            <a:avLst>
              <a:gd fmla="val 6103" name="adj1"/>
              <a:gd fmla="val 83187" name="adj2"/>
              <a:gd fmla="val 0" name="adj3"/>
            </a:avLst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800"/>
              <a:t>RFCs define how requests and responses work</a:t>
            </a:r>
            <a:endParaRPr sz="1800"/>
          </a:p>
        </p:txBody>
      </p:sp>
      <p:sp>
        <p:nvSpPr>
          <p:cNvPr id="286" name="Google Shape;286;p35"/>
          <p:cNvSpPr txBox="1"/>
          <p:nvPr/>
        </p:nvSpPr>
        <p:spPr>
          <a:xfrm>
            <a:off x="3116650" y="2571750"/>
            <a:ext cx="2116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str(req) / res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36"/>
          <p:cNvSpPr txBox="1"/>
          <p:nvPr>
            <p:ph type="title"/>
          </p:nvPr>
        </p:nvSpPr>
        <p:spPr>
          <a:xfrm>
            <a:off x="438954" y="560541"/>
            <a:ext cx="7886700" cy="45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>
                <a:solidFill>
                  <a:srgbClr val="0077C8"/>
                </a:solidFill>
              </a:rPr>
              <a:t>Exercise 1: Online Dictionaries</a:t>
            </a:r>
            <a:endParaRPr>
              <a:solidFill>
                <a:srgbClr val="0077C8"/>
              </a:solidFill>
            </a:endParaRPr>
          </a:p>
        </p:txBody>
      </p:sp>
      <p:sp>
        <p:nvSpPr>
          <p:cNvPr id="292" name="Google Shape;292;p36"/>
          <p:cNvSpPr/>
          <p:nvPr/>
        </p:nvSpPr>
        <p:spPr>
          <a:xfrm>
            <a:off x="1283888" y="2358475"/>
            <a:ext cx="1260000" cy="1260000"/>
          </a:xfrm>
          <a:prstGeom prst="rect">
            <a:avLst/>
          </a:prstGeom>
          <a:solidFill>
            <a:srgbClr val="D9EAD3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netcat</a:t>
            </a:r>
            <a:endParaRPr/>
          </a:p>
        </p:txBody>
      </p:sp>
      <p:sp>
        <p:nvSpPr>
          <p:cNvPr id="293" name="Google Shape;293;p36"/>
          <p:cNvSpPr/>
          <p:nvPr/>
        </p:nvSpPr>
        <p:spPr>
          <a:xfrm>
            <a:off x="5805638" y="1728475"/>
            <a:ext cx="2520000" cy="2520000"/>
          </a:xfrm>
          <a:prstGeom prst="rect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94" name="Google Shape;294;p36"/>
          <p:cNvCxnSpPr>
            <a:stCxn id="295" idx="2"/>
            <a:endCxn id="292" idx="3"/>
          </p:cNvCxnSpPr>
          <p:nvPr/>
        </p:nvCxnSpPr>
        <p:spPr>
          <a:xfrm rot="10800000">
            <a:off x="2543754" y="2988475"/>
            <a:ext cx="31404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296" name="Google Shape;296;p36"/>
          <p:cNvSpPr/>
          <p:nvPr/>
        </p:nvSpPr>
        <p:spPr>
          <a:xfrm>
            <a:off x="6435638" y="2358475"/>
            <a:ext cx="1260000" cy="1260000"/>
          </a:xfrm>
          <a:prstGeom prst="rect">
            <a:avLst/>
          </a:prstGeom>
          <a:solidFill>
            <a:srgbClr val="F4CCCC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>
                <a:latin typeface="Courier"/>
                <a:ea typeface="Courier"/>
                <a:cs typeface="Courier"/>
                <a:sym typeface="Courier"/>
              </a:rPr>
              <a:t>Dict App</a:t>
            </a:r>
            <a:endParaRPr>
              <a:latin typeface="Courier"/>
              <a:ea typeface="Courier"/>
              <a:cs typeface="Courier"/>
              <a:sym typeface="Courier"/>
            </a:endParaRPr>
          </a:p>
        </p:txBody>
      </p:sp>
      <p:sp>
        <p:nvSpPr>
          <p:cNvPr id="297" name="Google Shape;297;p36"/>
          <p:cNvSpPr txBox="1"/>
          <p:nvPr/>
        </p:nvSpPr>
        <p:spPr>
          <a:xfrm>
            <a:off x="6385850" y="1327875"/>
            <a:ext cx="1359600" cy="4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800">
                <a:solidFill>
                  <a:srgbClr val="0000FF"/>
                </a:solidFill>
                <a:latin typeface="Courier"/>
                <a:ea typeface="Courier"/>
                <a:cs typeface="Courier"/>
                <a:sym typeface="Courier"/>
              </a:rPr>
              <a:t>dict.org</a:t>
            </a:r>
            <a:endParaRPr sz="1800">
              <a:solidFill>
                <a:srgbClr val="0000FF"/>
              </a:solidFill>
              <a:latin typeface="Courier"/>
              <a:ea typeface="Courier"/>
              <a:cs typeface="Courier"/>
              <a:sym typeface="Courier"/>
            </a:endParaRPr>
          </a:p>
        </p:txBody>
      </p:sp>
      <p:sp>
        <p:nvSpPr>
          <p:cNvPr id="295" name="Google Shape;295;p36"/>
          <p:cNvSpPr/>
          <p:nvPr/>
        </p:nvSpPr>
        <p:spPr>
          <a:xfrm>
            <a:off x="5684154" y="2868625"/>
            <a:ext cx="239700" cy="239700"/>
          </a:xfrm>
          <a:prstGeom prst="ellipse">
            <a:avLst/>
          </a:prstGeom>
          <a:solidFill>
            <a:srgbClr val="FF0000"/>
          </a:solidFill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urier"/>
              <a:ea typeface="Courier"/>
              <a:cs typeface="Courier"/>
              <a:sym typeface="Courier"/>
            </a:endParaRPr>
          </a:p>
        </p:txBody>
      </p:sp>
      <p:cxnSp>
        <p:nvCxnSpPr>
          <p:cNvPr id="298" name="Google Shape;298;p36"/>
          <p:cNvCxnSpPr>
            <a:stCxn id="296" idx="1"/>
            <a:endCxn id="295" idx="6"/>
          </p:cNvCxnSpPr>
          <p:nvPr/>
        </p:nvCxnSpPr>
        <p:spPr>
          <a:xfrm rot="10800000">
            <a:off x="5923838" y="2988475"/>
            <a:ext cx="5118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99" name="Google Shape;299;p36"/>
          <p:cNvSpPr txBox="1"/>
          <p:nvPr/>
        </p:nvSpPr>
        <p:spPr>
          <a:xfrm>
            <a:off x="4913000" y="3108325"/>
            <a:ext cx="7713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>
                <a:solidFill>
                  <a:srgbClr val="FF0000"/>
                </a:solidFill>
                <a:latin typeface="Courier"/>
                <a:ea typeface="Courier"/>
                <a:cs typeface="Courier"/>
                <a:sym typeface="Courier"/>
              </a:rPr>
              <a:t>Port</a:t>
            </a:r>
            <a:endParaRPr b="1">
              <a:solidFill>
                <a:srgbClr val="FF0000"/>
              </a:solidFill>
              <a:latin typeface="Courier"/>
              <a:ea typeface="Courier"/>
              <a:cs typeface="Courier"/>
              <a:sym typeface="Courier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>
                <a:solidFill>
                  <a:srgbClr val="FF0000"/>
                </a:solidFill>
                <a:latin typeface="Courier"/>
                <a:ea typeface="Courier"/>
                <a:cs typeface="Courier"/>
                <a:sym typeface="Courier"/>
              </a:rPr>
              <a:t>2628</a:t>
            </a:r>
            <a:endParaRPr b="1">
              <a:solidFill>
                <a:srgbClr val="FF0000"/>
              </a:solidFill>
            </a:endParaRPr>
          </a:p>
        </p:txBody>
      </p:sp>
      <p:sp>
        <p:nvSpPr>
          <p:cNvPr id="300" name="Google Shape;300;p36"/>
          <p:cNvSpPr/>
          <p:nvPr/>
        </p:nvSpPr>
        <p:spPr>
          <a:xfrm>
            <a:off x="3894450" y="560550"/>
            <a:ext cx="3536100" cy="1260000"/>
          </a:xfrm>
          <a:prstGeom prst="wedgeRoundRectCallout">
            <a:avLst>
              <a:gd fmla="val 29191" name="adj1"/>
              <a:gd fmla="val 78302" name="adj2"/>
              <a:gd fmla="val 0" name="adj3"/>
            </a:avLst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800"/>
              <a:t>Apps are usually built based on what is defined in the RFCs</a:t>
            </a:r>
            <a:endParaRPr sz="1800"/>
          </a:p>
        </p:txBody>
      </p:sp>
      <p:sp>
        <p:nvSpPr>
          <p:cNvPr id="301" name="Google Shape;301;p36"/>
          <p:cNvSpPr txBox="1"/>
          <p:nvPr/>
        </p:nvSpPr>
        <p:spPr>
          <a:xfrm>
            <a:off x="3116650" y="2571750"/>
            <a:ext cx="2116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str(req) / res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37"/>
          <p:cNvSpPr/>
          <p:nvPr/>
        </p:nvSpPr>
        <p:spPr>
          <a:xfrm>
            <a:off x="656390" y="1727861"/>
            <a:ext cx="2520000" cy="2520000"/>
          </a:xfrm>
          <a:prstGeom prst="rect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" name="Google Shape;307;p37"/>
          <p:cNvSpPr/>
          <p:nvPr/>
        </p:nvSpPr>
        <p:spPr>
          <a:xfrm>
            <a:off x="1283888" y="2358475"/>
            <a:ext cx="1260000" cy="1260000"/>
          </a:xfrm>
          <a:prstGeom prst="rect">
            <a:avLst/>
          </a:prstGeom>
          <a:solidFill>
            <a:srgbClr val="D9EAD3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netcat</a:t>
            </a:r>
            <a:endParaRPr/>
          </a:p>
        </p:txBody>
      </p:sp>
      <p:sp>
        <p:nvSpPr>
          <p:cNvPr id="308" name="Google Shape;308;p37"/>
          <p:cNvSpPr txBox="1"/>
          <p:nvPr>
            <p:ph type="title"/>
          </p:nvPr>
        </p:nvSpPr>
        <p:spPr>
          <a:xfrm>
            <a:off x="438954" y="560541"/>
            <a:ext cx="7886700" cy="45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CA">
                <a:solidFill>
                  <a:srgbClr val="0077C8"/>
                </a:solidFill>
              </a:rPr>
              <a:t>Exercise 1: Online Dictionaries</a:t>
            </a:r>
            <a:endParaRPr>
              <a:solidFill>
                <a:srgbClr val="0077C8"/>
              </a:solidFill>
            </a:endParaRPr>
          </a:p>
        </p:txBody>
      </p:sp>
      <p:sp>
        <p:nvSpPr>
          <p:cNvPr id="309" name="Google Shape;309;p37"/>
          <p:cNvSpPr/>
          <p:nvPr/>
        </p:nvSpPr>
        <p:spPr>
          <a:xfrm>
            <a:off x="5805638" y="1728475"/>
            <a:ext cx="2520000" cy="2520000"/>
          </a:xfrm>
          <a:prstGeom prst="rect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10" name="Google Shape;310;p37"/>
          <p:cNvCxnSpPr>
            <a:stCxn id="311" idx="2"/>
            <a:endCxn id="312" idx="6"/>
          </p:cNvCxnSpPr>
          <p:nvPr/>
        </p:nvCxnSpPr>
        <p:spPr>
          <a:xfrm rot="10800000">
            <a:off x="3295254" y="2988475"/>
            <a:ext cx="23889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313" name="Google Shape;313;p37"/>
          <p:cNvSpPr/>
          <p:nvPr/>
        </p:nvSpPr>
        <p:spPr>
          <a:xfrm>
            <a:off x="6435638" y="2358475"/>
            <a:ext cx="1260000" cy="1260000"/>
          </a:xfrm>
          <a:prstGeom prst="rect">
            <a:avLst/>
          </a:prstGeom>
          <a:solidFill>
            <a:srgbClr val="F4CCCC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>
                <a:latin typeface="Courier"/>
                <a:ea typeface="Courier"/>
                <a:cs typeface="Courier"/>
                <a:sym typeface="Courier"/>
              </a:rPr>
              <a:t>Dict App</a:t>
            </a:r>
            <a:endParaRPr>
              <a:latin typeface="Courier"/>
              <a:ea typeface="Courier"/>
              <a:cs typeface="Courier"/>
              <a:sym typeface="Courier"/>
            </a:endParaRPr>
          </a:p>
        </p:txBody>
      </p:sp>
      <p:sp>
        <p:nvSpPr>
          <p:cNvPr id="314" name="Google Shape;314;p37"/>
          <p:cNvSpPr txBox="1"/>
          <p:nvPr/>
        </p:nvSpPr>
        <p:spPr>
          <a:xfrm>
            <a:off x="6385850" y="1327875"/>
            <a:ext cx="1359600" cy="4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800">
                <a:solidFill>
                  <a:srgbClr val="0000FF"/>
                </a:solidFill>
                <a:latin typeface="Courier"/>
                <a:ea typeface="Courier"/>
                <a:cs typeface="Courier"/>
                <a:sym typeface="Courier"/>
              </a:rPr>
              <a:t>dict.org</a:t>
            </a:r>
            <a:endParaRPr sz="1800">
              <a:solidFill>
                <a:srgbClr val="0000FF"/>
              </a:solidFill>
              <a:latin typeface="Courier"/>
              <a:ea typeface="Courier"/>
              <a:cs typeface="Courier"/>
              <a:sym typeface="Courier"/>
            </a:endParaRPr>
          </a:p>
        </p:txBody>
      </p:sp>
      <p:sp>
        <p:nvSpPr>
          <p:cNvPr id="311" name="Google Shape;311;p37"/>
          <p:cNvSpPr/>
          <p:nvPr/>
        </p:nvSpPr>
        <p:spPr>
          <a:xfrm>
            <a:off x="5684154" y="2868625"/>
            <a:ext cx="239700" cy="239700"/>
          </a:xfrm>
          <a:prstGeom prst="ellipse">
            <a:avLst/>
          </a:prstGeom>
          <a:solidFill>
            <a:srgbClr val="FF0000"/>
          </a:solidFill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urier"/>
              <a:ea typeface="Courier"/>
              <a:cs typeface="Courier"/>
              <a:sym typeface="Courier"/>
            </a:endParaRPr>
          </a:p>
        </p:txBody>
      </p:sp>
      <p:cxnSp>
        <p:nvCxnSpPr>
          <p:cNvPr id="315" name="Google Shape;315;p37"/>
          <p:cNvCxnSpPr>
            <a:stCxn id="313" idx="1"/>
            <a:endCxn id="311" idx="6"/>
          </p:cNvCxnSpPr>
          <p:nvPr/>
        </p:nvCxnSpPr>
        <p:spPr>
          <a:xfrm rot="10800000">
            <a:off x="5923838" y="2988475"/>
            <a:ext cx="5118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16" name="Google Shape;316;p37"/>
          <p:cNvSpPr txBox="1"/>
          <p:nvPr/>
        </p:nvSpPr>
        <p:spPr>
          <a:xfrm>
            <a:off x="4913000" y="3108325"/>
            <a:ext cx="7713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>
                <a:solidFill>
                  <a:srgbClr val="FF0000"/>
                </a:solidFill>
                <a:latin typeface="Courier"/>
                <a:ea typeface="Courier"/>
                <a:cs typeface="Courier"/>
                <a:sym typeface="Courier"/>
              </a:rPr>
              <a:t>Port</a:t>
            </a:r>
            <a:endParaRPr b="1">
              <a:solidFill>
                <a:srgbClr val="FF0000"/>
              </a:solidFill>
              <a:latin typeface="Courier"/>
              <a:ea typeface="Courier"/>
              <a:cs typeface="Courier"/>
              <a:sym typeface="Courier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>
                <a:solidFill>
                  <a:srgbClr val="FF0000"/>
                </a:solidFill>
                <a:latin typeface="Courier"/>
                <a:ea typeface="Courier"/>
                <a:cs typeface="Courier"/>
                <a:sym typeface="Courier"/>
              </a:rPr>
              <a:t>2628</a:t>
            </a:r>
            <a:endParaRPr b="1">
              <a:solidFill>
                <a:srgbClr val="FF0000"/>
              </a:solidFill>
            </a:endParaRPr>
          </a:p>
        </p:txBody>
      </p:sp>
      <p:sp>
        <p:nvSpPr>
          <p:cNvPr id="317" name="Google Shape;317;p37"/>
          <p:cNvSpPr txBox="1"/>
          <p:nvPr/>
        </p:nvSpPr>
        <p:spPr>
          <a:xfrm>
            <a:off x="3809950" y="2588275"/>
            <a:ext cx="1359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req / res</a:t>
            </a:r>
            <a:endParaRPr/>
          </a:p>
        </p:txBody>
      </p:sp>
      <p:sp>
        <p:nvSpPr>
          <p:cNvPr id="318" name="Google Shape;318;p37"/>
          <p:cNvSpPr txBox="1"/>
          <p:nvPr/>
        </p:nvSpPr>
        <p:spPr>
          <a:xfrm>
            <a:off x="777099" y="1327250"/>
            <a:ext cx="2278500" cy="4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800">
                <a:solidFill>
                  <a:srgbClr val="0000FF"/>
                </a:solidFill>
                <a:latin typeface="Courier"/>
                <a:ea typeface="Courier"/>
                <a:cs typeface="Courier"/>
                <a:sym typeface="Courier"/>
              </a:rPr>
              <a:t>localhost</a:t>
            </a:r>
            <a:endParaRPr sz="1800">
              <a:solidFill>
                <a:srgbClr val="0000FF"/>
              </a:solidFill>
              <a:latin typeface="Courier"/>
              <a:ea typeface="Courier"/>
              <a:cs typeface="Courier"/>
              <a:sym typeface="Courier"/>
            </a:endParaRPr>
          </a:p>
        </p:txBody>
      </p:sp>
      <p:sp>
        <p:nvSpPr>
          <p:cNvPr id="312" name="Google Shape;312;p37"/>
          <p:cNvSpPr/>
          <p:nvPr/>
        </p:nvSpPr>
        <p:spPr>
          <a:xfrm>
            <a:off x="3055654" y="2868625"/>
            <a:ext cx="239700" cy="239700"/>
          </a:xfrm>
          <a:prstGeom prst="ellipse">
            <a:avLst/>
          </a:prstGeom>
          <a:solidFill>
            <a:srgbClr val="FF0000"/>
          </a:solidFill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urier"/>
              <a:ea typeface="Courier"/>
              <a:cs typeface="Courier"/>
              <a:sym typeface="Courier"/>
            </a:endParaRPr>
          </a:p>
        </p:txBody>
      </p:sp>
      <p:cxnSp>
        <p:nvCxnSpPr>
          <p:cNvPr id="319" name="Google Shape;319;p37"/>
          <p:cNvCxnSpPr>
            <a:stCxn id="307" idx="3"/>
            <a:endCxn id="312" idx="2"/>
          </p:cNvCxnSpPr>
          <p:nvPr/>
        </p:nvCxnSpPr>
        <p:spPr>
          <a:xfrm>
            <a:off x="2543888" y="2988475"/>
            <a:ext cx="5118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38"/>
          <p:cNvSpPr/>
          <p:nvPr/>
        </p:nvSpPr>
        <p:spPr>
          <a:xfrm>
            <a:off x="656390" y="1727861"/>
            <a:ext cx="2520000" cy="2520000"/>
          </a:xfrm>
          <a:prstGeom prst="rect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5" name="Google Shape;325;p38"/>
          <p:cNvSpPr/>
          <p:nvPr/>
        </p:nvSpPr>
        <p:spPr>
          <a:xfrm>
            <a:off x="1283888" y="2358475"/>
            <a:ext cx="1260000" cy="1260000"/>
          </a:xfrm>
          <a:prstGeom prst="rect">
            <a:avLst/>
          </a:prstGeom>
          <a:solidFill>
            <a:srgbClr val="D9EAD3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netcat</a:t>
            </a:r>
            <a:endParaRPr/>
          </a:p>
        </p:txBody>
      </p:sp>
      <p:sp>
        <p:nvSpPr>
          <p:cNvPr id="326" name="Google Shape;326;p38"/>
          <p:cNvSpPr txBox="1"/>
          <p:nvPr>
            <p:ph type="title"/>
          </p:nvPr>
        </p:nvSpPr>
        <p:spPr>
          <a:xfrm>
            <a:off x="438954" y="560541"/>
            <a:ext cx="7886700" cy="45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>
                <a:solidFill>
                  <a:srgbClr val="0077C8"/>
                </a:solidFill>
              </a:rPr>
              <a:t>Exercise 1: Online Dictionaries</a:t>
            </a:r>
            <a:endParaRPr>
              <a:solidFill>
                <a:srgbClr val="0077C8"/>
              </a:solidFill>
            </a:endParaRPr>
          </a:p>
        </p:txBody>
      </p:sp>
      <p:sp>
        <p:nvSpPr>
          <p:cNvPr id="327" name="Google Shape;327;p38"/>
          <p:cNvSpPr/>
          <p:nvPr/>
        </p:nvSpPr>
        <p:spPr>
          <a:xfrm>
            <a:off x="5805638" y="1728475"/>
            <a:ext cx="2520000" cy="2520000"/>
          </a:xfrm>
          <a:prstGeom prst="rect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28" name="Google Shape;328;p38"/>
          <p:cNvCxnSpPr>
            <a:stCxn id="329" idx="2"/>
            <a:endCxn id="330" idx="6"/>
          </p:cNvCxnSpPr>
          <p:nvPr/>
        </p:nvCxnSpPr>
        <p:spPr>
          <a:xfrm rot="10800000">
            <a:off x="3295254" y="2988475"/>
            <a:ext cx="23889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331" name="Google Shape;331;p38"/>
          <p:cNvSpPr/>
          <p:nvPr/>
        </p:nvSpPr>
        <p:spPr>
          <a:xfrm>
            <a:off x="6435638" y="2358475"/>
            <a:ext cx="1260000" cy="1260000"/>
          </a:xfrm>
          <a:prstGeom prst="rect">
            <a:avLst/>
          </a:prstGeom>
          <a:solidFill>
            <a:srgbClr val="F4CCCC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>
                <a:latin typeface="Courier"/>
                <a:ea typeface="Courier"/>
                <a:cs typeface="Courier"/>
                <a:sym typeface="Courier"/>
              </a:rPr>
              <a:t>Dict App</a:t>
            </a:r>
            <a:endParaRPr>
              <a:latin typeface="Courier"/>
              <a:ea typeface="Courier"/>
              <a:cs typeface="Courier"/>
              <a:sym typeface="Courier"/>
            </a:endParaRPr>
          </a:p>
        </p:txBody>
      </p:sp>
      <p:sp>
        <p:nvSpPr>
          <p:cNvPr id="332" name="Google Shape;332;p38"/>
          <p:cNvSpPr txBox="1"/>
          <p:nvPr/>
        </p:nvSpPr>
        <p:spPr>
          <a:xfrm>
            <a:off x="6385850" y="1327875"/>
            <a:ext cx="1359600" cy="4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800">
                <a:solidFill>
                  <a:srgbClr val="0000FF"/>
                </a:solidFill>
                <a:latin typeface="Courier"/>
                <a:ea typeface="Courier"/>
                <a:cs typeface="Courier"/>
                <a:sym typeface="Courier"/>
              </a:rPr>
              <a:t>dict.org</a:t>
            </a:r>
            <a:endParaRPr sz="1800">
              <a:solidFill>
                <a:srgbClr val="0000FF"/>
              </a:solidFill>
              <a:latin typeface="Courier"/>
              <a:ea typeface="Courier"/>
              <a:cs typeface="Courier"/>
              <a:sym typeface="Courier"/>
            </a:endParaRPr>
          </a:p>
        </p:txBody>
      </p:sp>
      <p:sp>
        <p:nvSpPr>
          <p:cNvPr id="329" name="Google Shape;329;p38"/>
          <p:cNvSpPr/>
          <p:nvPr/>
        </p:nvSpPr>
        <p:spPr>
          <a:xfrm>
            <a:off x="5684154" y="2868625"/>
            <a:ext cx="239700" cy="239700"/>
          </a:xfrm>
          <a:prstGeom prst="ellipse">
            <a:avLst/>
          </a:prstGeom>
          <a:solidFill>
            <a:srgbClr val="FF0000"/>
          </a:solidFill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urier"/>
              <a:ea typeface="Courier"/>
              <a:cs typeface="Courier"/>
              <a:sym typeface="Courier"/>
            </a:endParaRPr>
          </a:p>
        </p:txBody>
      </p:sp>
      <p:cxnSp>
        <p:nvCxnSpPr>
          <p:cNvPr id="333" name="Google Shape;333;p38"/>
          <p:cNvCxnSpPr>
            <a:stCxn id="331" idx="1"/>
            <a:endCxn id="329" idx="6"/>
          </p:cNvCxnSpPr>
          <p:nvPr/>
        </p:nvCxnSpPr>
        <p:spPr>
          <a:xfrm rot="10800000">
            <a:off x="5923838" y="2988475"/>
            <a:ext cx="5118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34" name="Google Shape;334;p38"/>
          <p:cNvSpPr txBox="1"/>
          <p:nvPr/>
        </p:nvSpPr>
        <p:spPr>
          <a:xfrm>
            <a:off x="4913000" y="3108325"/>
            <a:ext cx="7713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>
                <a:solidFill>
                  <a:srgbClr val="FF0000"/>
                </a:solidFill>
                <a:latin typeface="Courier"/>
                <a:ea typeface="Courier"/>
                <a:cs typeface="Courier"/>
                <a:sym typeface="Courier"/>
              </a:rPr>
              <a:t>Port</a:t>
            </a:r>
            <a:endParaRPr b="1">
              <a:solidFill>
                <a:srgbClr val="FF0000"/>
              </a:solidFill>
              <a:latin typeface="Courier"/>
              <a:ea typeface="Courier"/>
              <a:cs typeface="Courier"/>
              <a:sym typeface="Courier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>
                <a:solidFill>
                  <a:srgbClr val="FF0000"/>
                </a:solidFill>
                <a:latin typeface="Courier"/>
                <a:ea typeface="Courier"/>
                <a:cs typeface="Courier"/>
                <a:sym typeface="Courier"/>
              </a:rPr>
              <a:t>2628</a:t>
            </a:r>
            <a:endParaRPr b="1">
              <a:solidFill>
                <a:srgbClr val="FF0000"/>
              </a:solidFill>
            </a:endParaRPr>
          </a:p>
        </p:txBody>
      </p:sp>
      <p:sp>
        <p:nvSpPr>
          <p:cNvPr id="335" name="Google Shape;335;p38"/>
          <p:cNvSpPr txBox="1"/>
          <p:nvPr/>
        </p:nvSpPr>
        <p:spPr>
          <a:xfrm>
            <a:off x="3809950" y="2588275"/>
            <a:ext cx="1359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req / res</a:t>
            </a:r>
            <a:endParaRPr/>
          </a:p>
        </p:txBody>
      </p:sp>
      <p:sp>
        <p:nvSpPr>
          <p:cNvPr id="336" name="Google Shape;336;p38"/>
          <p:cNvSpPr txBox="1"/>
          <p:nvPr/>
        </p:nvSpPr>
        <p:spPr>
          <a:xfrm>
            <a:off x="777099" y="1327250"/>
            <a:ext cx="2278500" cy="4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800">
                <a:solidFill>
                  <a:srgbClr val="0000FF"/>
                </a:solidFill>
                <a:latin typeface="Courier"/>
                <a:ea typeface="Courier"/>
                <a:cs typeface="Courier"/>
                <a:sym typeface="Courier"/>
              </a:rPr>
              <a:t>localhost</a:t>
            </a:r>
            <a:endParaRPr sz="1800">
              <a:solidFill>
                <a:srgbClr val="0000FF"/>
              </a:solidFill>
              <a:latin typeface="Courier"/>
              <a:ea typeface="Courier"/>
              <a:cs typeface="Courier"/>
              <a:sym typeface="Courier"/>
            </a:endParaRPr>
          </a:p>
        </p:txBody>
      </p:sp>
      <p:sp>
        <p:nvSpPr>
          <p:cNvPr id="330" name="Google Shape;330;p38"/>
          <p:cNvSpPr/>
          <p:nvPr/>
        </p:nvSpPr>
        <p:spPr>
          <a:xfrm>
            <a:off x="3055654" y="2868625"/>
            <a:ext cx="239700" cy="239700"/>
          </a:xfrm>
          <a:prstGeom prst="ellipse">
            <a:avLst/>
          </a:prstGeom>
          <a:solidFill>
            <a:srgbClr val="FF0000"/>
          </a:solidFill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urier"/>
              <a:ea typeface="Courier"/>
              <a:cs typeface="Courier"/>
              <a:sym typeface="Courier"/>
            </a:endParaRPr>
          </a:p>
        </p:txBody>
      </p:sp>
      <p:cxnSp>
        <p:nvCxnSpPr>
          <p:cNvPr id="337" name="Google Shape;337;p38"/>
          <p:cNvCxnSpPr>
            <a:stCxn id="325" idx="3"/>
            <a:endCxn id="330" idx="2"/>
          </p:cNvCxnSpPr>
          <p:nvPr/>
        </p:nvCxnSpPr>
        <p:spPr>
          <a:xfrm>
            <a:off x="2543888" y="2988475"/>
            <a:ext cx="5118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38" name="Google Shape;338;p38"/>
          <p:cNvSpPr/>
          <p:nvPr/>
        </p:nvSpPr>
        <p:spPr>
          <a:xfrm>
            <a:off x="2269550" y="1170325"/>
            <a:ext cx="3654300" cy="1260000"/>
          </a:xfrm>
          <a:prstGeom prst="wedgeRoundRectCallout">
            <a:avLst>
              <a:gd fmla="val -22116" name="adj1"/>
              <a:gd fmla="val 69235" name="adj2"/>
              <a:gd fmla="val 0" name="adj3"/>
            </a:avLst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800"/>
              <a:t>Since netcat is also running on a device, it has its own </a:t>
            </a:r>
            <a:r>
              <a:rPr lang="en-CA" sz="18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&lt;Address, Port&gt;</a:t>
            </a:r>
            <a:r>
              <a:rPr lang="en-CA" sz="1800">
                <a:solidFill>
                  <a:schemeClr val="dk1"/>
                </a:solidFill>
              </a:rPr>
              <a:t> pair as well</a:t>
            </a:r>
            <a:endParaRPr sz="180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39"/>
          <p:cNvSpPr txBox="1"/>
          <p:nvPr>
            <p:ph type="title"/>
          </p:nvPr>
        </p:nvSpPr>
        <p:spPr>
          <a:xfrm>
            <a:off x="438954" y="560541"/>
            <a:ext cx="7886700" cy="45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>
                <a:solidFill>
                  <a:srgbClr val="0077C8"/>
                </a:solidFill>
              </a:rPr>
              <a:t>Exercise 1: Online Dictionaries</a:t>
            </a:r>
            <a:endParaRPr/>
          </a:p>
        </p:txBody>
      </p:sp>
      <p:sp>
        <p:nvSpPr>
          <p:cNvPr id="344" name="Google Shape;344;p39"/>
          <p:cNvSpPr txBox="1"/>
          <p:nvPr>
            <p:ph idx="1" type="body"/>
          </p:nvPr>
        </p:nvSpPr>
        <p:spPr>
          <a:xfrm>
            <a:off x="438950" y="1131900"/>
            <a:ext cx="8538000" cy="369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-CA"/>
              <a:t>Reference to </a:t>
            </a:r>
            <a:r>
              <a:rPr lang="en-CA" u="sng">
                <a:solidFill>
                  <a:schemeClr val="hlink"/>
                </a:solidFill>
                <a:hlinkClick r:id="rId3"/>
              </a:rPr>
              <a:t>RFC 2229</a:t>
            </a:r>
            <a:r>
              <a:rPr lang="en-CA"/>
              <a:t> in order to answer the following questions:</a:t>
            </a:r>
            <a:endParaRPr/>
          </a:p>
          <a:p>
            <a:pPr indent="-323850" lvl="0" marL="914400" rtl="0" algn="l">
              <a:spcBef>
                <a:spcPts val="0"/>
              </a:spcBef>
              <a:spcAft>
                <a:spcPts val="0"/>
              </a:spcAft>
              <a:buSzPts val="1500"/>
              <a:buChar char="-"/>
            </a:pPr>
            <a:r>
              <a:rPr lang="en-CA"/>
              <a:t>How many dictionaries does the server support?</a:t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23850" lvl="0" marL="914400" rtl="0" algn="l">
              <a:spcBef>
                <a:spcPts val="0"/>
              </a:spcBef>
              <a:spcAft>
                <a:spcPts val="0"/>
              </a:spcAft>
              <a:buSzPts val="1500"/>
              <a:buChar char="-"/>
            </a:pPr>
            <a:r>
              <a:rPr lang="en-CA"/>
              <a:t>What command would you use to discover the definition of the word “pemican”?</a:t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23850" lvl="0" marL="914400" rtl="0" algn="l">
              <a:spcBef>
                <a:spcPts val="0"/>
              </a:spcBef>
              <a:spcAft>
                <a:spcPts val="0"/>
              </a:spcAft>
              <a:buSzPts val="1500"/>
              <a:buChar char="-"/>
            </a:pPr>
            <a:r>
              <a:rPr lang="en-CA"/>
              <a:t>How many different dictionaries contain a definition of the word “protocol”?</a:t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23850" lvl="0" marL="914400" rtl="0" algn="l">
              <a:spcBef>
                <a:spcPts val="0"/>
              </a:spcBef>
              <a:spcAft>
                <a:spcPts val="0"/>
              </a:spcAft>
              <a:buSzPts val="1500"/>
              <a:buChar char="-"/>
            </a:pPr>
            <a:r>
              <a:rPr lang="en-CA"/>
              <a:t>What command would you use to find all the words that “sound like” the word “orange”?</a:t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40"/>
          <p:cNvSpPr txBox="1"/>
          <p:nvPr>
            <p:ph type="title"/>
          </p:nvPr>
        </p:nvSpPr>
        <p:spPr>
          <a:xfrm>
            <a:off x="438954" y="560541"/>
            <a:ext cx="7886700" cy="45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>
                <a:solidFill>
                  <a:srgbClr val="0077C8"/>
                </a:solidFill>
              </a:rPr>
              <a:t>Exercise 1: Online Dictionaries</a:t>
            </a:r>
            <a:endParaRPr/>
          </a:p>
        </p:txBody>
      </p:sp>
      <p:sp>
        <p:nvSpPr>
          <p:cNvPr id="350" name="Google Shape;350;p40"/>
          <p:cNvSpPr txBox="1"/>
          <p:nvPr>
            <p:ph idx="1" type="body"/>
          </p:nvPr>
        </p:nvSpPr>
        <p:spPr>
          <a:xfrm>
            <a:off x="438950" y="1131900"/>
            <a:ext cx="8538000" cy="369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-CA"/>
              <a:t>Reference </a:t>
            </a:r>
            <a:r>
              <a:rPr lang="en-CA"/>
              <a:t>to </a:t>
            </a:r>
            <a:r>
              <a:rPr lang="en-CA" u="sng">
                <a:solidFill>
                  <a:schemeClr val="accent5"/>
                </a:solid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RFC 2229</a:t>
            </a:r>
            <a:r>
              <a:rPr lang="en-CA"/>
              <a:t> in </a:t>
            </a:r>
            <a:r>
              <a:rPr lang="en-CA"/>
              <a:t>order to answer the following questions:</a:t>
            </a:r>
            <a:endParaRPr/>
          </a:p>
          <a:p>
            <a:pPr indent="-323850" lvl="0" marL="914400" rtl="0" algn="l">
              <a:spcBef>
                <a:spcPts val="0"/>
              </a:spcBef>
              <a:spcAft>
                <a:spcPts val="0"/>
              </a:spcAft>
              <a:buSzPts val="1500"/>
              <a:buChar char="-"/>
            </a:pPr>
            <a:r>
              <a:rPr lang="en-CA"/>
              <a:t>How many dictionaries does the server support?</a:t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23850" lvl="0" marL="914400" rtl="0" algn="l">
              <a:spcBef>
                <a:spcPts val="0"/>
              </a:spcBef>
              <a:spcAft>
                <a:spcPts val="0"/>
              </a:spcAft>
              <a:buSzPts val="1500"/>
              <a:buChar char="-"/>
            </a:pPr>
            <a:r>
              <a:rPr lang="en-CA"/>
              <a:t>What command would you use to discover the definition of the word “pemican”?</a:t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23850" lvl="0" marL="914400" rtl="0" algn="l">
              <a:spcBef>
                <a:spcPts val="0"/>
              </a:spcBef>
              <a:spcAft>
                <a:spcPts val="0"/>
              </a:spcAft>
              <a:buSzPts val="1500"/>
              <a:buChar char="-"/>
            </a:pPr>
            <a:r>
              <a:rPr lang="en-CA"/>
              <a:t>How many different dictionaries contain a definition of the word “protocol”?</a:t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23850" lvl="0" marL="914400" rtl="0" algn="l">
              <a:spcBef>
                <a:spcPts val="0"/>
              </a:spcBef>
              <a:spcAft>
                <a:spcPts val="0"/>
              </a:spcAft>
              <a:buSzPts val="1500"/>
              <a:buChar char="-"/>
            </a:pPr>
            <a:r>
              <a:rPr lang="en-CA"/>
              <a:t>What command would you use to find all the words that “sound like” the word “orange”?</a:t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51" name="Google Shape;351;p40" title="Screenshot 2026-01-08 at 4.04.19 P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67550" y="1690975"/>
            <a:ext cx="1924300" cy="329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41"/>
          <p:cNvSpPr txBox="1"/>
          <p:nvPr>
            <p:ph type="title"/>
          </p:nvPr>
        </p:nvSpPr>
        <p:spPr>
          <a:xfrm>
            <a:off x="438954" y="560541"/>
            <a:ext cx="7886700" cy="45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>
                <a:solidFill>
                  <a:srgbClr val="0077C8"/>
                </a:solidFill>
              </a:rPr>
              <a:t>Exercise 1: Online Dictionaries</a:t>
            </a:r>
            <a:endParaRPr/>
          </a:p>
        </p:txBody>
      </p:sp>
      <p:sp>
        <p:nvSpPr>
          <p:cNvPr id="357" name="Google Shape;357;p41"/>
          <p:cNvSpPr txBox="1"/>
          <p:nvPr>
            <p:ph idx="1" type="body"/>
          </p:nvPr>
        </p:nvSpPr>
        <p:spPr>
          <a:xfrm>
            <a:off x="438950" y="1131900"/>
            <a:ext cx="8538000" cy="369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-CA"/>
              <a:t>Reference </a:t>
            </a:r>
            <a:r>
              <a:rPr lang="en-CA"/>
              <a:t>to </a:t>
            </a:r>
            <a:r>
              <a:rPr lang="en-CA" u="sng">
                <a:solidFill>
                  <a:schemeClr val="accent5"/>
                </a:solid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RFC 2229</a:t>
            </a:r>
            <a:r>
              <a:rPr lang="en-CA"/>
              <a:t> in </a:t>
            </a:r>
            <a:r>
              <a:rPr lang="en-CA"/>
              <a:t>order to answer the following questions:</a:t>
            </a:r>
            <a:endParaRPr/>
          </a:p>
          <a:p>
            <a:pPr indent="-323850" lvl="0" marL="914400" rtl="0" algn="l">
              <a:spcBef>
                <a:spcPts val="0"/>
              </a:spcBef>
              <a:spcAft>
                <a:spcPts val="0"/>
              </a:spcAft>
              <a:buSzPts val="1500"/>
              <a:buChar char="-"/>
            </a:pPr>
            <a:r>
              <a:rPr lang="en-CA"/>
              <a:t>How many dictionaries does the server support?</a:t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23850" lvl="0" marL="914400" rtl="0" algn="l">
              <a:spcBef>
                <a:spcPts val="0"/>
              </a:spcBef>
              <a:spcAft>
                <a:spcPts val="0"/>
              </a:spcAft>
              <a:buSzPts val="1500"/>
              <a:buChar char="-"/>
            </a:pPr>
            <a:r>
              <a:rPr lang="en-CA"/>
              <a:t>What command would you use to discover the definition of the word “pemican”?</a:t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23850" lvl="0" marL="914400" rtl="0" algn="l">
              <a:spcBef>
                <a:spcPts val="0"/>
              </a:spcBef>
              <a:spcAft>
                <a:spcPts val="0"/>
              </a:spcAft>
              <a:buSzPts val="1500"/>
              <a:buChar char="-"/>
            </a:pPr>
            <a:r>
              <a:rPr lang="en-CA"/>
              <a:t>How many different dictionaries contain a definition of the word “protocol”?</a:t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23850" lvl="0" marL="914400" rtl="0" algn="l">
              <a:spcBef>
                <a:spcPts val="0"/>
              </a:spcBef>
              <a:spcAft>
                <a:spcPts val="0"/>
              </a:spcAft>
              <a:buSzPts val="1500"/>
              <a:buChar char="-"/>
            </a:pPr>
            <a:r>
              <a:rPr lang="en-CA"/>
              <a:t>What command would you use to find all the words that “sound like” the word “orange”?</a:t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58" name="Google Shape;358;p41" title="Screenshot 2026-01-08 at 4.04.19 P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67550" y="1690975"/>
            <a:ext cx="1924300" cy="329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9" name="Google Shape;359;p41" title="Screenshot 2026-01-08 at 4.06.12 PM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367550" y="2281050"/>
            <a:ext cx="4778801" cy="1214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42"/>
          <p:cNvSpPr txBox="1"/>
          <p:nvPr>
            <p:ph type="title"/>
          </p:nvPr>
        </p:nvSpPr>
        <p:spPr>
          <a:xfrm>
            <a:off x="438954" y="560541"/>
            <a:ext cx="7886700" cy="45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>
                <a:solidFill>
                  <a:srgbClr val="0077C8"/>
                </a:solidFill>
              </a:rPr>
              <a:t>Exercise 1: Online Dictionaries</a:t>
            </a:r>
            <a:endParaRPr/>
          </a:p>
        </p:txBody>
      </p:sp>
      <p:sp>
        <p:nvSpPr>
          <p:cNvPr id="365" name="Google Shape;365;p42"/>
          <p:cNvSpPr txBox="1"/>
          <p:nvPr>
            <p:ph idx="1" type="body"/>
          </p:nvPr>
        </p:nvSpPr>
        <p:spPr>
          <a:xfrm>
            <a:off x="438950" y="1131900"/>
            <a:ext cx="8538000" cy="369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-CA"/>
              <a:t>Reference </a:t>
            </a:r>
            <a:r>
              <a:rPr lang="en-CA"/>
              <a:t>to </a:t>
            </a:r>
            <a:r>
              <a:rPr lang="en-CA" u="sng">
                <a:solidFill>
                  <a:schemeClr val="accent5"/>
                </a:solid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RFC 2229</a:t>
            </a:r>
            <a:r>
              <a:rPr lang="en-CA"/>
              <a:t> in </a:t>
            </a:r>
            <a:r>
              <a:rPr lang="en-CA"/>
              <a:t>order to answer the following questions:</a:t>
            </a:r>
            <a:endParaRPr/>
          </a:p>
          <a:p>
            <a:pPr indent="-323850" lvl="0" marL="914400" rtl="0" algn="l">
              <a:spcBef>
                <a:spcPts val="0"/>
              </a:spcBef>
              <a:spcAft>
                <a:spcPts val="0"/>
              </a:spcAft>
              <a:buSzPts val="1500"/>
              <a:buChar char="-"/>
            </a:pPr>
            <a:r>
              <a:rPr lang="en-CA"/>
              <a:t>How many dictionaries does the server support?</a:t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23850" lvl="0" marL="914400" rtl="0" algn="l">
              <a:spcBef>
                <a:spcPts val="0"/>
              </a:spcBef>
              <a:spcAft>
                <a:spcPts val="0"/>
              </a:spcAft>
              <a:buSzPts val="1500"/>
              <a:buChar char="-"/>
            </a:pPr>
            <a:r>
              <a:rPr lang="en-CA"/>
              <a:t>What command would you use to discover the definition of the word “pemican”?</a:t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23850" lvl="0" marL="914400" rtl="0" algn="l">
              <a:spcBef>
                <a:spcPts val="0"/>
              </a:spcBef>
              <a:spcAft>
                <a:spcPts val="0"/>
              </a:spcAft>
              <a:buSzPts val="1500"/>
              <a:buChar char="-"/>
            </a:pPr>
            <a:r>
              <a:rPr lang="en-CA"/>
              <a:t>How many different dictionaries contain a definition of the word “protocol”?</a:t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23850" lvl="0" marL="914400" rtl="0" algn="l">
              <a:spcBef>
                <a:spcPts val="0"/>
              </a:spcBef>
              <a:spcAft>
                <a:spcPts val="0"/>
              </a:spcAft>
              <a:buSzPts val="1500"/>
              <a:buChar char="-"/>
            </a:pPr>
            <a:r>
              <a:rPr lang="en-CA"/>
              <a:t>What command would you use to find all the words that “sound like” the word “orange”?</a:t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66" name="Google Shape;366;p42" title="Screenshot 2026-01-08 at 4.04.19 P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67550" y="1690975"/>
            <a:ext cx="1924300" cy="329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67" name="Google Shape;367;p42" title="Screenshot 2026-01-08 at 4.06.12 PM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367550" y="2281050"/>
            <a:ext cx="4778801" cy="1214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68" name="Google Shape;368;p42" title="Screenshot 2026-01-08 at 4.07.21 PM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367550" y="3756275"/>
            <a:ext cx="1636806" cy="329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43"/>
          <p:cNvSpPr txBox="1"/>
          <p:nvPr>
            <p:ph type="title"/>
          </p:nvPr>
        </p:nvSpPr>
        <p:spPr>
          <a:xfrm>
            <a:off x="438954" y="560541"/>
            <a:ext cx="7886700" cy="45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>
                <a:solidFill>
                  <a:srgbClr val="0077C8"/>
                </a:solidFill>
              </a:rPr>
              <a:t>Exercise 1: Online Dictionaries</a:t>
            </a:r>
            <a:endParaRPr/>
          </a:p>
        </p:txBody>
      </p:sp>
      <p:sp>
        <p:nvSpPr>
          <p:cNvPr id="374" name="Google Shape;374;p43"/>
          <p:cNvSpPr txBox="1"/>
          <p:nvPr>
            <p:ph idx="1" type="body"/>
          </p:nvPr>
        </p:nvSpPr>
        <p:spPr>
          <a:xfrm>
            <a:off x="438950" y="1131900"/>
            <a:ext cx="8538000" cy="369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-CA"/>
              <a:t>Reference </a:t>
            </a:r>
            <a:r>
              <a:rPr lang="en-CA"/>
              <a:t>to </a:t>
            </a:r>
            <a:r>
              <a:rPr lang="en-CA" u="sng">
                <a:solidFill>
                  <a:schemeClr val="accent5"/>
                </a:solid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RFC 2229</a:t>
            </a:r>
            <a:r>
              <a:rPr lang="en-CA"/>
              <a:t> in </a:t>
            </a:r>
            <a:r>
              <a:rPr lang="en-CA"/>
              <a:t>order to answer the following questions:</a:t>
            </a:r>
            <a:endParaRPr/>
          </a:p>
          <a:p>
            <a:pPr indent="-323850" lvl="0" marL="914400" rtl="0" algn="l">
              <a:spcBef>
                <a:spcPts val="0"/>
              </a:spcBef>
              <a:spcAft>
                <a:spcPts val="0"/>
              </a:spcAft>
              <a:buSzPts val="1500"/>
              <a:buChar char="-"/>
            </a:pPr>
            <a:r>
              <a:rPr lang="en-CA"/>
              <a:t>How many dictionaries does the server support?</a:t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23850" lvl="0" marL="914400" rtl="0" algn="l">
              <a:spcBef>
                <a:spcPts val="0"/>
              </a:spcBef>
              <a:spcAft>
                <a:spcPts val="0"/>
              </a:spcAft>
              <a:buSzPts val="1500"/>
              <a:buChar char="-"/>
            </a:pPr>
            <a:r>
              <a:rPr lang="en-CA"/>
              <a:t>What command would you use to discover the definition of the word “pemican”?</a:t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23850" lvl="0" marL="914400" rtl="0" algn="l">
              <a:spcBef>
                <a:spcPts val="0"/>
              </a:spcBef>
              <a:spcAft>
                <a:spcPts val="0"/>
              </a:spcAft>
              <a:buSzPts val="1500"/>
              <a:buChar char="-"/>
            </a:pPr>
            <a:r>
              <a:rPr lang="en-CA"/>
              <a:t>How many different dictionaries contain a definition of the word “protocol”?</a:t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23850" lvl="0" marL="914400" rtl="0" algn="l">
              <a:spcBef>
                <a:spcPts val="0"/>
              </a:spcBef>
              <a:spcAft>
                <a:spcPts val="0"/>
              </a:spcAft>
              <a:buSzPts val="1500"/>
              <a:buChar char="-"/>
            </a:pPr>
            <a:r>
              <a:rPr lang="en-CA"/>
              <a:t>What command would you use to find all the words that “sound like” the word “orange”?</a:t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75" name="Google Shape;375;p43" title="Screenshot 2026-01-08 at 4.04.19 P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67550" y="1690975"/>
            <a:ext cx="1924300" cy="329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6" name="Google Shape;376;p43" title="Screenshot 2026-01-08 at 4.06.12 PM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367550" y="2281050"/>
            <a:ext cx="4778801" cy="1214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7" name="Google Shape;377;p43" title="Screenshot 2026-01-08 at 4.07.21 PM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367550" y="3756275"/>
            <a:ext cx="1636806" cy="329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8" name="Google Shape;378;p43" title="Screenshot 2026-01-08 at 4.08.11 PM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367550" y="4346350"/>
            <a:ext cx="1536688" cy="329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44"/>
          <p:cNvSpPr txBox="1"/>
          <p:nvPr>
            <p:ph idx="1" type="body"/>
          </p:nvPr>
        </p:nvSpPr>
        <p:spPr>
          <a:xfrm>
            <a:off x="438950" y="1131900"/>
            <a:ext cx="7661400" cy="214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-CA"/>
              <a:t>File Transfer Protocol (FTP)</a:t>
            </a:r>
            <a:endParaRPr/>
          </a:p>
          <a:p>
            <a:pPr indent="-323850" lvl="0" marL="914400" rtl="0" algn="l">
              <a:spcBef>
                <a:spcPts val="0"/>
              </a:spcBef>
              <a:spcAft>
                <a:spcPts val="0"/>
              </a:spcAft>
              <a:buSzPts val="1500"/>
              <a:buChar char="-"/>
            </a:pPr>
            <a:r>
              <a:rPr lang="en-CA"/>
              <a:t>Another service on the internet!</a:t>
            </a:r>
            <a:endParaRPr/>
          </a:p>
          <a:p>
            <a:pPr indent="-323850" lvl="0" marL="914400" rtl="0" algn="l">
              <a:spcBef>
                <a:spcPts val="0"/>
              </a:spcBef>
              <a:spcAft>
                <a:spcPts val="0"/>
              </a:spcAft>
              <a:buSzPts val="1500"/>
              <a:buChar char="-"/>
            </a:pPr>
            <a:r>
              <a:rPr lang="en-CA"/>
              <a:t>One of the earliest Internet services – Not secure these days</a:t>
            </a:r>
            <a:endParaRPr/>
          </a:p>
          <a:p>
            <a:pPr indent="-323850" lvl="0" marL="914400" rtl="0" algn="l">
              <a:spcBef>
                <a:spcPts val="0"/>
              </a:spcBef>
              <a:spcAft>
                <a:spcPts val="0"/>
              </a:spcAft>
              <a:buSzPts val="1500"/>
              <a:buChar char="-"/>
            </a:pPr>
            <a:r>
              <a:rPr lang="en-CA"/>
              <a:t>Used for uploading/downloading files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-CA"/>
              <a:t> </a:t>
            </a:r>
            <a:r>
              <a:rPr lang="en-CA"/>
              <a:t>Defined in </a:t>
            </a:r>
            <a:r>
              <a:rPr lang="en-CA" u="sng">
                <a:solidFill>
                  <a:schemeClr val="hlink"/>
                </a:solidFill>
                <a:hlinkClick r:id="rId3"/>
              </a:rPr>
              <a:t>RFC 959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4" name="Google Shape;384;p44"/>
          <p:cNvSpPr txBox="1"/>
          <p:nvPr>
            <p:ph type="title"/>
          </p:nvPr>
        </p:nvSpPr>
        <p:spPr>
          <a:xfrm>
            <a:off x="438954" y="560541"/>
            <a:ext cx="7886700" cy="45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>
                <a:solidFill>
                  <a:srgbClr val="0077C8"/>
                </a:solidFill>
              </a:rPr>
              <a:t>Exercise 2: Connecting to the FTP service</a:t>
            </a:r>
            <a:endParaRPr>
              <a:solidFill>
                <a:srgbClr val="0077C8"/>
              </a:solidFill>
            </a:endParaRPr>
          </a:p>
        </p:txBody>
      </p:sp>
      <p:sp>
        <p:nvSpPr>
          <p:cNvPr id="385" name="Google Shape;385;p44"/>
          <p:cNvSpPr txBox="1"/>
          <p:nvPr>
            <p:ph idx="1" type="body"/>
          </p:nvPr>
        </p:nvSpPr>
        <p:spPr>
          <a:xfrm>
            <a:off x="438950" y="3070925"/>
            <a:ext cx="7661400" cy="1721700"/>
          </a:xfrm>
          <a:prstGeom prst="rect">
            <a:avLst/>
          </a:prstGeom>
          <a:solidFill>
            <a:srgbClr val="212121"/>
          </a:solidFill>
          <a:ln>
            <a:noFill/>
          </a:ln>
        </p:spPr>
        <p:txBody>
          <a:bodyPr anchorCtr="0" anchor="t" bIns="0" lIns="0" spcFirstLastPara="1" rIns="0" wrap="square" tIns="0">
            <a:normAutofit fontScale="40000" lnSpcReduction="10000"/>
          </a:bodyPr>
          <a:lstStyle/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rgbClr val="FBC02D"/>
              </a:solidFill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3000">
                <a:solidFill>
                  <a:srgbClr val="FBC02D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USER</a:t>
            </a:r>
            <a:r>
              <a:rPr lang="en-CA" sz="30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 anonymous   # login as anonymous</a:t>
            </a:r>
            <a:endParaRPr sz="3000"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3000">
                <a:solidFill>
                  <a:srgbClr val="FBC02D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PASS</a:t>
            </a:r>
            <a:r>
              <a:rPr lang="en-CA" sz="30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 anonymous   # password</a:t>
            </a:r>
            <a:endParaRPr sz="3000"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3000">
                <a:solidFill>
                  <a:srgbClr val="FBC02D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PWD</a:t>
            </a:r>
            <a:r>
              <a:rPr lang="en-CA" sz="30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              # print working directory</a:t>
            </a:r>
            <a:endParaRPr sz="3000"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3000">
                <a:solidFill>
                  <a:srgbClr val="FBC02D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PASV</a:t>
            </a:r>
            <a:r>
              <a:rPr lang="en-CA" sz="30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             # enter passive mode (mode for data transfer)</a:t>
            </a:r>
            <a:endParaRPr sz="3000"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3000">
                <a:solidFill>
                  <a:srgbClr val="FBC02D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LIST</a:t>
            </a:r>
            <a:r>
              <a:rPr lang="en-CA" sz="30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             # list files</a:t>
            </a:r>
            <a:endParaRPr sz="3000"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45720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6667"/>
              <a:buFont typeface="Arial"/>
              <a:buNone/>
            </a:pPr>
            <a:r>
              <a:rPr lang="en-CA" sz="3000">
                <a:solidFill>
                  <a:srgbClr val="FBC02D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QUIT</a:t>
            </a:r>
            <a:r>
              <a:rPr lang="en-CA" sz="30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             # close connection</a:t>
            </a:r>
            <a:endParaRPr sz="3000">
              <a:solidFill>
                <a:srgbClr val="ECEFF1"/>
              </a:solidFill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45"/>
          <p:cNvSpPr/>
          <p:nvPr/>
        </p:nvSpPr>
        <p:spPr>
          <a:xfrm>
            <a:off x="653888" y="1728475"/>
            <a:ext cx="2520000" cy="2520000"/>
          </a:xfrm>
          <a:prstGeom prst="rect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1" name="Google Shape;391;p45"/>
          <p:cNvSpPr txBox="1"/>
          <p:nvPr>
            <p:ph type="title"/>
          </p:nvPr>
        </p:nvSpPr>
        <p:spPr>
          <a:xfrm>
            <a:off x="438954" y="560541"/>
            <a:ext cx="7886700" cy="45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>
                <a:solidFill>
                  <a:srgbClr val="0077C8"/>
                </a:solidFill>
              </a:rPr>
              <a:t>Exercise 2: Connecting to the FTP Service</a:t>
            </a:r>
            <a:endParaRPr>
              <a:solidFill>
                <a:srgbClr val="0077C8"/>
              </a:solidFill>
            </a:endParaRPr>
          </a:p>
        </p:txBody>
      </p:sp>
      <p:sp>
        <p:nvSpPr>
          <p:cNvPr id="392" name="Google Shape;392;p45"/>
          <p:cNvSpPr/>
          <p:nvPr/>
        </p:nvSpPr>
        <p:spPr>
          <a:xfrm>
            <a:off x="1283750" y="2366575"/>
            <a:ext cx="1260000" cy="597000"/>
          </a:xfrm>
          <a:prstGeom prst="rect">
            <a:avLst/>
          </a:prstGeom>
          <a:solidFill>
            <a:srgbClr val="D9EAD3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n</a:t>
            </a:r>
            <a:r>
              <a:rPr lang="en-CA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etcat A</a:t>
            </a:r>
            <a:endParaRPr/>
          </a:p>
        </p:txBody>
      </p:sp>
      <p:sp>
        <p:nvSpPr>
          <p:cNvPr id="393" name="Google Shape;393;p45"/>
          <p:cNvSpPr/>
          <p:nvPr/>
        </p:nvSpPr>
        <p:spPr>
          <a:xfrm>
            <a:off x="5805638" y="1728475"/>
            <a:ext cx="2520000" cy="2520000"/>
          </a:xfrm>
          <a:prstGeom prst="rect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4" name="Google Shape;394;p45"/>
          <p:cNvSpPr/>
          <p:nvPr/>
        </p:nvSpPr>
        <p:spPr>
          <a:xfrm>
            <a:off x="6435638" y="2358475"/>
            <a:ext cx="1260000" cy="1260000"/>
          </a:xfrm>
          <a:prstGeom prst="rect">
            <a:avLst/>
          </a:prstGeom>
          <a:solidFill>
            <a:srgbClr val="F4CCCC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>
                <a:latin typeface="Courier"/>
                <a:ea typeface="Courier"/>
                <a:cs typeface="Courier"/>
                <a:sym typeface="Courier"/>
              </a:rPr>
              <a:t>FTP</a:t>
            </a:r>
            <a:r>
              <a:rPr lang="en-CA">
                <a:latin typeface="Courier"/>
                <a:ea typeface="Courier"/>
                <a:cs typeface="Courier"/>
                <a:sym typeface="Courier"/>
              </a:rPr>
              <a:t> App</a:t>
            </a:r>
            <a:endParaRPr>
              <a:latin typeface="Courier"/>
              <a:ea typeface="Courier"/>
              <a:cs typeface="Courier"/>
              <a:sym typeface="Courier"/>
            </a:endParaRPr>
          </a:p>
        </p:txBody>
      </p:sp>
      <p:sp>
        <p:nvSpPr>
          <p:cNvPr id="395" name="Google Shape;395;p45"/>
          <p:cNvSpPr txBox="1"/>
          <p:nvPr/>
        </p:nvSpPr>
        <p:spPr>
          <a:xfrm>
            <a:off x="5939800" y="1327875"/>
            <a:ext cx="2251800" cy="4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800">
                <a:solidFill>
                  <a:srgbClr val="0000FF"/>
                </a:solidFill>
                <a:latin typeface="Courier"/>
                <a:ea typeface="Courier"/>
                <a:cs typeface="Courier"/>
                <a:sym typeface="Courier"/>
              </a:rPr>
              <a:t>f</a:t>
            </a:r>
            <a:r>
              <a:rPr lang="en-CA" sz="1800">
                <a:solidFill>
                  <a:srgbClr val="0000FF"/>
                </a:solidFill>
                <a:latin typeface="Courier"/>
                <a:ea typeface="Courier"/>
                <a:cs typeface="Courier"/>
                <a:sym typeface="Courier"/>
              </a:rPr>
              <a:t>tp server</a:t>
            </a:r>
            <a:endParaRPr sz="1800">
              <a:solidFill>
                <a:srgbClr val="0000FF"/>
              </a:solidFill>
              <a:latin typeface="Courier"/>
              <a:ea typeface="Courier"/>
              <a:cs typeface="Courier"/>
              <a:sym typeface="Courier"/>
            </a:endParaRPr>
          </a:p>
        </p:txBody>
      </p:sp>
      <p:sp>
        <p:nvSpPr>
          <p:cNvPr id="396" name="Google Shape;396;p45"/>
          <p:cNvSpPr/>
          <p:nvPr/>
        </p:nvSpPr>
        <p:spPr>
          <a:xfrm>
            <a:off x="5684154" y="3192025"/>
            <a:ext cx="239700" cy="239700"/>
          </a:xfrm>
          <a:prstGeom prst="ellipse">
            <a:avLst/>
          </a:prstGeom>
          <a:solidFill>
            <a:srgbClr val="FF0000"/>
          </a:solidFill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urier"/>
              <a:ea typeface="Courier"/>
              <a:cs typeface="Courier"/>
              <a:sym typeface="Courier"/>
            </a:endParaRPr>
          </a:p>
        </p:txBody>
      </p:sp>
      <p:sp>
        <p:nvSpPr>
          <p:cNvPr id="397" name="Google Shape;397;p45"/>
          <p:cNvSpPr txBox="1"/>
          <p:nvPr/>
        </p:nvSpPr>
        <p:spPr>
          <a:xfrm>
            <a:off x="5034350" y="2049475"/>
            <a:ext cx="7713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>
                <a:solidFill>
                  <a:srgbClr val="FF0000"/>
                </a:solidFill>
                <a:latin typeface="Courier"/>
                <a:ea typeface="Courier"/>
                <a:cs typeface="Courier"/>
                <a:sym typeface="Courier"/>
              </a:rPr>
              <a:t>Port</a:t>
            </a:r>
            <a:endParaRPr b="1">
              <a:solidFill>
                <a:srgbClr val="FF0000"/>
              </a:solidFill>
              <a:latin typeface="Courier"/>
              <a:ea typeface="Courier"/>
              <a:cs typeface="Courier"/>
              <a:sym typeface="Courier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>
                <a:solidFill>
                  <a:srgbClr val="FF0000"/>
                </a:solidFill>
                <a:latin typeface="Courier"/>
                <a:ea typeface="Courier"/>
                <a:cs typeface="Courier"/>
                <a:sym typeface="Courier"/>
              </a:rPr>
              <a:t>21</a:t>
            </a:r>
            <a:endParaRPr b="1">
              <a:solidFill>
                <a:srgbClr val="FF0000"/>
              </a:solidFill>
            </a:endParaRPr>
          </a:p>
        </p:txBody>
      </p:sp>
      <p:sp>
        <p:nvSpPr>
          <p:cNvPr id="398" name="Google Shape;398;p45"/>
          <p:cNvSpPr/>
          <p:nvPr/>
        </p:nvSpPr>
        <p:spPr>
          <a:xfrm>
            <a:off x="1283750" y="3013372"/>
            <a:ext cx="1260000" cy="597000"/>
          </a:xfrm>
          <a:prstGeom prst="rect">
            <a:avLst/>
          </a:prstGeom>
          <a:solidFill>
            <a:srgbClr val="D9EAD3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netcat B</a:t>
            </a:r>
            <a:endParaRPr/>
          </a:p>
        </p:txBody>
      </p:sp>
      <p:sp>
        <p:nvSpPr>
          <p:cNvPr id="399" name="Google Shape;399;p45"/>
          <p:cNvSpPr txBox="1"/>
          <p:nvPr/>
        </p:nvSpPr>
        <p:spPr>
          <a:xfrm>
            <a:off x="987625" y="1327875"/>
            <a:ext cx="1852500" cy="4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800">
                <a:solidFill>
                  <a:srgbClr val="0000FF"/>
                </a:solidFill>
                <a:latin typeface="Courier"/>
                <a:ea typeface="Courier"/>
                <a:cs typeface="Courier"/>
                <a:sym typeface="Courier"/>
              </a:rPr>
              <a:t>localhost</a:t>
            </a:r>
            <a:endParaRPr sz="1800">
              <a:solidFill>
                <a:srgbClr val="0000FF"/>
              </a:solidFill>
              <a:latin typeface="Courier"/>
              <a:ea typeface="Courier"/>
              <a:cs typeface="Courier"/>
              <a:sym typeface="Courier"/>
            </a:endParaRPr>
          </a:p>
        </p:txBody>
      </p:sp>
      <p:sp>
        <p:nvSpPr>
          <p:cNvPr id="400" name="Google Shape;400;p45"/>
          <p:cNvSpPr/>
          <p:nvPr/>
        </p:nvSpPr>
        <p:spPr>
          <a:xfrm>
            <a:off x="3064329" y="2545225"/>
            <a:ext cx="239700" cy="239700"/>
          </a:xfrm>
          <a:prstGeom prst="ellipse">
            <a:avLst/>
          </a:prstGeom>
          <a:solidFill>
            <a:srgbClr val="FF0000"/>
          </a:solidFill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urier"/>
              <a:ea typeface="Courier"/>
              <a:cs typeface="Courier"/>
              <a:sym typeface="Courier"/>
            </a:endParaRPr>
          </a:p>
        </p:txBody>
      </p:sp>
      <p:sp>
        <p:nvSpPr>
          <p:cNvPr id="401" name="Google Shape;401;p45"/>
          <p:cNvSpPr/>
          <p:nvPr/>
        </p:nvSpPr>
        <p:spPr>
          <a:xfrm>
            <a:off x="3064329" y="3192025"/>
            <a:ext cx="239700" cy="239700"/>
          </a:xfrm>
          <a:prstGeom prst="ellipse">
            <a:avLst/>
          </a:prstGeom>
          <a:solidFill>
            <a:srgbClr val="FF0000"/>
          </a:solidFill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urier"/>
              <a:ea typeface="Courier"/>
              <a:cs typeface="Courier"/>
              <a:sym typeface="Courier"/>
            </a:endParaRPr>
          </a:p>
        </p:txBody>
      </p:sp>
      <p:cxnSp>
        <p:nvCxnSpPr>
          <p:cNvPr id="402" name="Google Shape;402;p45"/>
          <p:cNvCxnSpPr/>
          <p:nvPr/>
        </p:nvCxnSpPr>
        <p:spPr>
          <a:xfrm>
            <a:off x="2543738" y="2665075"/>
            <a:ext cx="5118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03" name="Google Shape;403;p45"/>
          <p:cNvCxnSpPr/>
          <p:nvPr/>
        </p:nvCxnSpPr>
        <p:spPr>
          <a:xfrm>
            <a:off x="2543738" y="3311875"/>
            <a:ext cx="5118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04" name="Google Shape;404;p45"/>
          <p:cNvSpPr/>
          <p:nvPr/>
        </p:nvSpPr>
        <p:spPr>
          <a:xfrm>
            <a:off x="5684154" y="2545225"/>
            <a:ext cx="239700" cy="239700"/>
          </a:xfrm>
          <a:prstGeom prst="ellipse">
            <a:avLst/>
          </a:prstGeom>
          <a:solidFill>
            <a:srgbClr val="FF0000"/>
          </a:solidFill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urier"/>
              <a:ea typeface="Courier"/>
              <a:cs typeface="Courier"/>
              <a:sym typeface="Courier"/>
            </a:endParaRPr>
          </a:p>
        </p:txBody>
      </p:sp>
      <p:cxnSp>
        <p:nvCxnSpPr>
          <p:cNvPr id="405" name="Google Shape;405;p45"/>
          <p:cNvCxnSpPr/>
          <p:nvPr/>
        </p:nvCxnSpPr>
        <p:spPr>
          <a:xfrm rot="10800000">
            <a:off x="5939788" y="2665075"/>
            <a:ext cx="5118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06" name="Google Shape;406;p45"/>
          <p:cNvCxnSpPr/>
          <p:nvPr/>
        </p:nvCxnSpPr>
        <p:spPr>
          <a:xfrm rot="10800000">
            <a:off x="5939788" y="3311875"/>
            <a:ext cx="5118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07" name="Google Shape;407;p45"/>
          <p:cNvCxnSpPr>
            <a:stCxn id="404" idx="2"/>
            <a:endCxn id="400" idx="6"/>
          </p:cNvCxnSpPr>
          <p:nvPr/>
        </p:nvCxnSpPr>
        <p:spPr>
          <a:xfrm rot="10800000">
            <a:off x="3303954" y="2665075"/>
            <a:ext cx="23802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408" name="Google Shape;408;p45"/>
          <p:cNvSpPr txBox="1"/>
          <p:nvPr/>
        </p:nvSpPr>
        <p:spPr>
          <a:xfrm>
            <a:off x="3814275" y="2264875"/>
            <a:ext cx="1359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req / res</a:t>
            </a:r>
            <a:endParaRPr/>
          </a:p>
        </p:txBody>
      </p:sp>
      <p:cxnSp>
        <p:nvCxnSpPr>
          <p:cNvPr id="409" name="Google Shape;409;p45"/>
          <p:cNvCxnSpPr>
            <a:stCxn id="396" idx="2"/>
            <a:endCxn id="401" idx="6"/>
          </p:cNvCxnSpPr>
          <p:nvPr/>
        </p:nvCxnSpPr>
        <p:spPr>
          <a:xfrm rot="10800000">
            <a:off x="3303954" y="3311875"/>
            <a:ext cx="23802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10" name="Google Shape;410;p45"/>
          <p:cNvSpPr txBox="1"/>
          <p:nvPr/>
        </p:nvSpPr>
        <p:spPr>
          <a:xfrm>
            <a:off x="3875038" y="3311875"/>
            <a:ext cx="1359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data</a:t>
            </a: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p46"/>
          <p:cNvSpPr/>
          <p:nvPr/>
        </p:nvSpPr>
        <p:spPr>
          <a:xfrm>
            <a:off x="653888" y="1728475"/>
            <a:ext cx="2520000" cy="2520000"/>
          </a:xfrm>
          <a:prstGeom prst="rect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6" name="Google Shape;416;p46"/>
          <p:cNvSpPr txBox="1"/>
          <p:nvPr>
            <p:ph type="title"/>
          </p:nvPr>
        </p:nvSpPr>
        <p:spPr>
          <a:xfrm>
            <a:off x="438954" y="560541"/>
            <a:ext cx="7886700" cy="45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>
                <a:solidFill>
                  <a:srgbClr val="0077C8"/>
                </a:solidFill>
              </a:rPr>
              <a:t>Exercise 2: Connecting to the FTP Service</a:t>
            </a:r>
            <a:endParaRPr>
              <a:solidFill>
                <a:srgbClr val="0077C8"/>
              </a:solidFill>
            </a:endParaRPr>
          </a:p>
        </p:txBody>
      </p:sp>
      <p:sp>
        <p:nvSpPr>
          <p:cNvPr id="417" name="Google Shape;417;p46"/>
          <p:cNvSpPr/>
          <p:nvPr/>
        </p:nvSpPr>
        <p:spPr>
          <a:xfrm>
            <a:off x="1283750" y="2366575"/>
            <a:ext cx="1260000" cy="597000"/>
          </a:xfrm>
          <a:prstGeom prst="rect">
            <a:avLst/>
          </a:prstGeom>
          <a:solidFill>
            <a:srgbClr val="D9EAD3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netcat A</a:t>
            </a:r>
            <a:endParaRPr/>
          </a:p>
        </p:txBody>
      </p:sp>
      <p:sp>
        <p:nvSpPr>
          <p:cNvPr id="418" name="Google Shape;418;p46"/>
          <p:cNvSpPr/>
          <p:nvPr/>
        </p:nvSpPr>
        <p:spPr>
          <a:xfrm>
            <a:off x="5805638" y="1728475"/>
            <a:ext cx="2520000" cy="2520000"/>
          </a:xfrm>
          <a:prstGeom prst="rect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9" name="Google Shape;419;p46"/>
          <p:cNvSpPr/>
          <p:nvPr/>
        </p:nvSpPr>
        <p:spPr>
          <a:xfrm>
            <a:off x="6435638" y="2358475"/>
            <a:ext cx="1260000" cy="1260000"/>
          </a:xfrm>
          <a:prstGeom prst="rect">
            <a:avLst/>
          </a:prstGeom>
          <a:solidFill>
            <a:srgbClr val="F4CCCC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>
                <a:latin typeface="Courier"/>
                <a:ea typeface="Courier"/>
                <a:cs typeface="Courier"/>
                <a:sym typeface="Courier"/>
              </a:rPr>
              <a:t>FTP App</a:t>
            </a:r>
            <a:endParaRPr>
              <a:latin typeface="Courier"/>
              <a:ea typeface="Courier"/>
              <a:cs typeface="Courier"/>
              <a:sym typeface="Courier"/>
            </a:endParaRPr>
          </a:p>
        </p:txBody>
      </p:sp>
      <p:sp>
        <p:nvSpPr>
          <p:cNvPr id="420" name="Google Shape;420;p46"/>
          <p:cNvSpPr txBox="1"/>
          <p:nvPr/>
        </p:nvSpPr>
        <p:spPr>
          <a:xfrm>
            <a:off x="5939800" y="1327875"/>
            <a:ext cx="2251800" cy="4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800">
                <a:solidFill>
                  <a:srgbClr val="0000FF"/>
                </a:solidFill>
                <a:latin typeface="Courier"/>
                <a:ea typeface="Courier"/>
                <a:cs typeface="Courier"/>
                <a:sym typeface="Courier"/>
              </a:rPr>
              <a:t>ftp server</a:t>
            </a:r>
            <a:endParaRPr sz="1800">
              <a:solidFill>
                <a:srgbClr val="0000FF"/>
              </a:solidFill>
              <a:latin typeface="Courier"/>
              <a:ea typeface="Courier"/>
              <a:cs typeface="Courier"/>
              <a:sym typeface="Courier"/>
            </a:endParaRPr>
          </a:p>
        </p:txBody>
      </p:sp>
      <p:sp>
        <p:nvSpPr>
          <p:cNvPr id="421" name="Google Shape;421;p46"/>
          <p:cNvSpPr/>
          <p:nvPr/>
        </p:nvSpPr>
        <p:spPr>
          <a:xfrm>
            <a:off x="5684154" y="3192025"/>
            <a:ext cx="239700" cy="239700"/>
          </a:xfrm>
          <a:prstGeom prst="ellipse">
            <a:avLst/>
          </a:prstGeom>
          <a:solidFill>
            <a:srgbClr val="FF0000"/>
          </a:solidFill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urier"/>
              <a:ea typeface="Courier"/>
              <a:cs typeface="Courier"/>
              <a:sym typeface="Courier"/>
            </a:endParaRPr>
          </a:p>
        </p:txBody>
      </p:sp>
      <p:sp>
        <p:nvSpPr>
          <p:cNvPr id="422" name="Google Shape;422;p46"/>
          <p:cNvSpPr txBox="1"/>
          <p:nvPr/>
        </p:nvSpPr>
        <p:spPr>
          <a:xfrm>
            <a:off x="5034350" y="2049475"/>
            <a:ext cx="7713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>
                <a:solidFill>
                  <a:srgbClr val="FF0000"/>
                </a:solidFill>
                <a:latin typeface="Courier"/>
                <a:ea typeface="Courier"/>
                <a:cs typeface="Courier"/>
                <a:sym typeface="Courier"/>
              </a:rPr>
              <a:t>Port</a:t>
            </a:r>
            <a:endParaRPr b="1">
              <a:solidFill>
                <a:srgbClr val="FF0000"/>
              </a:solidFill>
              <a:latin typeface="Courier"/>
              <a:ea typeface="Courier"/>
              <a:cs typeface="Courier"/>
              <a:sym typeface="Courier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>
                <a:solidFill>
                  <a:srgbClr val="FF0000"/>
                </a:solidFill>
                <a:latin typeface="Courier"/>
                <a:ea typeface="Courier"/>
                <a:cs typeface="Courier"/>
                <a:sym typeface="Courier"/>
              </a:rPr>
              <a:t>21</a:t>
            </a:r>
            <a:endParaRPr b="1">
              <a:solidFill>
                <a:srgbClr val="FF0000"/>
              </a:solidFill>
            </a:endParaRPr>
          </a:p>
        </p:txBody>
      </p:sp>
      <p:sp>
        <p:nvSpPr>
          <p:cNvPr id="423" name="Google Shape;423;p46"/>
          <p:cNvSpPr/>
          <p:nvPr/>
        </p:nvSpPr>
        <p:spPr>
          <a:xfrm>
            <a:off x="1283750" y="3013372"/>
            <a:ext cx="1260000" cy="597000"/>
          </a:xfrm>
          <a:prstGeom prst="rect">
            <a:avLst/>
          </a:prstGeom>
          <a:solidFill>
            <a:srgbClr val="D9EAD3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netcat B</a:t>
            </a:r>
            <a:endParaRPr/>
          </a:p>
        </p:txBody>
      </p:sp>
      <p:sp>
        <p:nvSpPr>
          <p:cNvPr id="424" name="Google Shape;424;p46"/>
          <p:cNvSpPr txBox="1"/>
          <p:nvPr/>
        </p:nvSpPr>
        <p:spPr>
          <a:xfrm>
            <a:off x="987625" y="1327875"/>
            <a:ext cx="1852500" cy="4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800">
                <a:solidFill>
                  <a:srgbClr val="0000FF"/>
                </a:solidFill>
                <a:latin typeface="Courier"/>
                <a:ea typeface="Courier"/>
                <a:cs typeface="Courier"/>
                <a:sym typeface="Courier"/>
              </a:rPr>
              <a:t>localhost</a:t>
            </a:r>
            <a:endParaRPr sz="1800">
              <a:solidFill>
                <a:srgbClr val="0000FF"/>
              </a:solidFill>
              <a:latin typeface="Courier"/>
              <a:ea typeface="Courier"/>
              <a:cs typeface="Courier"/>
              <a:sym typeface="Courier"/>
            </a:endParaRPr>
          </a:p>
        </p:txBody>
      </p:sp>
      <p:sp>
        <p:nvSpPr>
          <p:cNvPr id="425" name="Google Shape;425;p46"/>
          <p:cNvSpPr/>
          <p:nvPr/>
        </p:nvSpPr>
        <p:spPr>
          <a:xfrm>
            <a:off x="3064329" y="2545225"/>
            <a:ext cx="239700" cy="239700"/>
          </a:xfrm>
          <a:prstGeom prst="ellipse">
            <a:avLst/>
          </a:prstGeom>
          <a:solidFill>
            <a:srgbClr val="FF0000"/>
          </a:solidFill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urier"/>
              <a:ea typeface="Courier"/>
              <a:cs typeface="Courier"/>
              <a:sym typeface="Courier"/>
            </a:endParaRPr>
          </a:p>
        </p:txBody>
      </p:sp>
      <p:sp>
        <p:nvSpPr>
          <p:cNvPr id="426" name="Google Shape;426;p46"/>
          <p:cNvSpPr/>
          <p:nvPr/>
        </p:nvSpPr>
        <p:spPr>
          <a:xfrm>
            <a:off x="3064329" y="3192025"/>
            <a:ext cx="239700" cy="239700"/>
          </a:xfrm>
          <a:prstGeom prst="ellipse">
            <a:avLst/>
          </a:prstGeom>
          <a:solidFill>
            <a:srgbClr val="FF0000"/>
          </a:solidFill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urier"/>
              <a:ea typeface="Courier"/>
              <a:cs typeface="Courier"/>
              <a:sym typeface="Courier"/>
            </a:endParaRPr>
          </a:p>
        </p:txBody>
      </p:sp>
      <p:cxnSp>
        <p:nvCxnSpPr>
          <p:cNvPr id="427" name="Google Shape;427;p46"/>
          <p:cNvCxnSpPr/>
          <p:nvPr/>
        </p:nvCxnSpPr>
        <p:spPr>
          <a:xfrm>
            <a:off x="2543738" y="2665075"/>
            <a:ext cx="5118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28" name="Google Shape;428;p46"/>
          <p:cNvCxnSpPr/>
          <p:nvPr/>
        </p:nvCxnSpPr>
        <p:spPr>
          <a:xfrm>
            <a:off x="2543738" y="3311875"/>
            <a:ext cx="5118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29" name="Google Shape;429;p46"/>
          <p:cNvSpPr/>
          <p:nvPr/>
        </p:nvSpPr>
        <p:spPr>
          <a:xfrm>
            <a:off x="5684154" y="2545225"/>
            <a:ext cx="239700" cy="239700"/>
          </a:xfrm>
          <a:prstGeom prst="ellipse">
            <a:avLst/>
          </a:prstGeom>
          <a:solidFill>
            <a:srgbClr val="FF0000"/>
          </a:solidFill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urier"/>
              <a:ea typeface="Courier"/>
              <a:cs typeface="Courier"/>
              <a:sym typeface="Courier"/>
            </a:endParaRPr>
          </a:p>
        </p:txBody>
      </p:sp>
      <p:cxnSp>
        <p:nvCxnSpPr>
          <p:cNvPr id="430" name="Google Shape;430;p46"/>
          <p:cNvCxnSpPr/>
          <p:nvPr/>
        </p:nvCxnSpPr>
        <p:spPr>
          <a:xfrm rot="10800000">
            <a:off x="5939788" y="2665075"/>
            <a:ext cx="5118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31" name="Google Shape;431;p46"/>
          <p:cNvCxnSpPr/>
          <p:nvPr/>
        </p:nvCxnSpPr>
        <p:spPr>
          <a:xfrm rot="10800000">
            <a:off x="5939788" y="3311875"/>
            <a:ext cx="5118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32" name="Google Shape;432;p46"/>
          <p:cNvCxnSpPr>
            <a:stCxn id="429" idx="2"/>
            <a:endCxn id="425" idx="6"/>
          </p:cNvCxnSpPr>
          <p:nvPr/>
        </p:nvCxnSpPr>
        <p:spPr>
          <a:xfrm rot="10800000">
            <a:off x="3303954" y="2665075"/>
            <a:ext cx="23802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433" name="Google Shape;433;p46"/>
          <p:cNvSpPr txBox="1"/>
          <p:nvPr/>
        </p:nvSpPr>
        <p:spPr>
          <a:xfrm>
            <a:off x="3814275" y="2264875"/>
            <a:ext cx="1359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req / res</a:t>
            </a:r>
            <a:endParaRPr/>
          </a:p>
        </p:txBody>
      </p:sp>
      <p:cxnSp>
        <p:nvCxnSpPr>
          <p:cNvPr id="434" name="Google Shape;434;p46"/>
          <p:cNvCxnSpPr>
            <a:stCxn id="421" idx="2"/>
            <a:endCxn id="426" idx="6"/>
          </p:cNvCxnSpPr>
          <p:nvPr/>
        </p:nvCxnSpPr>
        <p:spPr>
          <a:xfrm rot="10800000">
            <a:off x="3303954" y="3311875"/>
            <a:ext cx="23802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35" name="Google Shape;435;p46"/>
          <p:cNvSpPr txBox="1"/>
          <p:nvPr/>
        </p:nvSpPr>
        <p:spPr>
          <a:xfrm>
            <a:off x="3875038" y="3311875"/>
            <a:ext cx="1359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data</a:t>
            </a:r>
            <a:endParaRPr/>
          </a:p>
        </p:txBody>
      </p:sp>
      <p:sp>
        <p:nvSpPr>
          <p:cNvPr id="436" name="Google Shape;436;p46"/>
          <p:cNvSpPr/>
          <p:nvPr/>
        </p:nvSpPr>
        <p:spPr>
          <a:xfrm>
            <a:off x="4214600" y="3884200"/>
            <a:ext cx="3164700" cy="1024800"/>
          </a:xfrm>
          <a:prstGeom prst="wedgeRoundRectCallout">
            <a:avLst>
              <a:gd fmla="val -32356" name="adj1"/>
              <a:gd fmla="val -67455" name="adj2"/>
              <a:gd fmla="val 0" name="adj3"/>
            </a:avLst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800"/>
              <a:t>Entering passive mode creates a separate connection for data transfer</a:t>
            </a:r>
            <a:endParaRPr sz="180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0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p47"/>
          <p:cNvSpPr txBox="1"/>
          <p:nvPr>
            <p:ph type="title"/>
          </p:nvPr>
        </p:nvSpPr>
        <p:spPr>
          <a:xfrm>
            <a:off x="438954" y="560541"/>
            <a:ext cx="7886700" cy="45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>
                <a:solidFill>
                  <a:srgbClr val="0077C8"/>
                </a:solidFill>
              </a:rPr>
              <a:t>Exercise 2: Connecting to the FTP Service</a:t>
            </a:r>
            <a:endParaRPr>
              <a:solidFill>
                <a:srgbClr val="0077C8"/>
              </a:solidFill>
            </a:endParaRPr>
          </a:p>
        </p:txBody>
      </p:sp>
      <p:sp>
        <p:nvSpPr>
          <p:cNvPr id="442" name="Google Shape;442;p47"/>
          <p:cNvSpPr txBox="1"/>
          <p:nvPr>
            <p:ph idx="1" type="body"/>
          </p:nvPr>
        </p:nvSpPr>
        <p:spPr>
          <a:xfrm>
            <a:off x="438950" y="1131900"/>
            <a:ext cx="8538000" cy="369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3" name="Google Shape;443;p47"/>
          <p:cNvSpPr/>
          <p:nvPr/>
        </p:nvSpPr>
        <p:spPr>
          <a:xfrm>
            <a:off x="5805638" y="1728475"/>
            <a:ext cx="2520000" cy="2520000"/>
          </a:xfrm>
          <a:prstGeom prst="rect">
            <a:avLst/>
          </a:prstGeom>
          <a:solidFill>
            <a:srgbClr val="D9EAD3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4" name="Google Shape;444;p47"/>
          <p:cNvSpPr txBox="1"/>
          <p:nvPr/>
        </p:nvSpPr>
        <p:spPr>
          <a:xfrm>
            <a:off x="6385850" y="1327875"/>
            <a:ext cx="1359600" cy="4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800">
                <a:solidFill>
                  <a:srgbClr val="434343"/>
                </a:solidFill>
                <a:latin typeface="Courier"/>
                <a:ea typeface="Courier"/>
                <a:cs typeface="Courier"/>
                <a:sym typeface="Courier"/>
              </a:rPr>
              <a:t>netcat B</a:t>
            </a:r>
            <a:endParaRPr sz="1800">
              <a:solidFill>
                <a:srgbClr val="434343"/>
              </a:solidFill>
              <a:latin typeface="Courier"/>
              <a:ea typeface="Courier"/>
              <a:cs typeface="Courier"/>
              <a:sym typeface="Courier"/>
            </a:endParaRPr>
          </a:p>
        </p:txBody>
      </p:sp>
      <p:sp>
        <p:nvSpPr>
          <p:cNvPr id="445" name="Google Shape;445;p47"/>
          <p:cNvSpPr/>
          <p:nvPr/>
        </p:nvSpPr>
        <p:spPr>
          <a:xfrm>
            <a:off x="653888" y="1720502"/>
            <a:ext cx="2520000" cy="2520000"/>
          </a:xfrm>
          <a:prstGeom prst="rect">
            <a:avLst/>
          </a:prstGeom>
          <a:solidFill>
            <a:srgbClr val="D9EAD3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>
                <a:latin typeface="Courier"/>
                <a:ea typeface="Courier"/>
                <a:cs typeface="Courier"/>
                <a:sym typeface="Courier"/>
              </a:rPr>
              <a:t>USER anonymous</a:t>
            </a:r>
            <a:endParaRPr>
              <a:latin typeface="Courier"/>
              <a:ea typeface="Courier"/>
              <a:cs typeface="Courier"/>
              <a:sym typeface="Courier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>
                <a:latin typeface="Courier"/>
                <a:ea typeface="Courier"/>
                <a:cs typeface="Courier"/>
                <a:sym typeface="Courier"/>
              </a:rPr>
              <a:t>PASS anonymous</a:t>
            </a:r>
            <a:endParaRPr>
              <a:latin typeface="Courier"/>
              <a:ea typeface="Courier"/>
              <a:cs typeface="Courier"/>
              <a:sym typeface="Couri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>
                <a:latin typeface="Courier"/>
                <a:ea typeface="Courier"/>
                <a:cs typeface="Courier"/>
                <a:sym typeface="Courier"/>
              </a:rPr>
              <a:t>    PWD</a:t>
            </a:r>
            <a:endParaRPr>
              <a:latin typeface="Courier"/>
              <a:ea typeface="Courier"/>
              <a:cs typeface="Courier"/>
              <a:sym typeface="Couri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>
                <a:latin typeface="Courier"/>
                <a:ea typeface="Courier"/>
                <a:cs typeface="Courier"/>
                <a:sym typeface="Courier"/>
              </a:rPr>
              <a:t>    PASV</a:t>
            </a:r>
            <a:endParaRPr>
              <a:latin typeface="Courier"/>
              <a:ea typeface="Courier"/>
              <a:cs typeface="Courier"/>
              <a:sym typeface="Couri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urier"/>
              <a:ea typeface="Courier"/>
              <a:cs typeface="Courier"/>
              <a:sym typeface="Couri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>
                <a:latin typeface="Courier"/>
                <a:ea typeface="Courier"/>
                <a:cs typeface="Courier"/>
                <a:sym typeface="Courier"/>
              </a:rPr>
              <a:t>	LIST</a:t>
            </a:r>
            <a:endParaRPr>
              <a:latin typeface="Courier"/>
              <a:ea typeface="Courier"/>
              <a:cs typeface="Courier"/>
              <a:sym typeface="Couri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>
                <a:latin typeface="Courier"/>
                <a:ea typeface="Courier"/>
                <a:cs typeface="Courier"/>
                <a:sym typeface="Courier"/>
              </a:rPr>
              <a:t>	QUIT</a:t>
            </a:r>
            <a:endParaRPr>
              <a:latin typeface="Courier"/>
              <a:ea typeface="Courier"/>
              <a:cs typeface="Courier"/>
              <a:sym typeface="Courier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urier"/>
              <a:ea typeface="Courier"/>
              <a:cs typeface="Courier"/>
              <a:sym typeface="Courier"/>
            </a:endParaRPr>
          </a:p>
        </p:txBody>
      </p:sp>
      <p:sp>
        <p:nvSpPr>
          <p:cNvPr id="446" name="Google Shape;446;p47"/>
          <p:cNvSpPr txBox="1"/>
          <p:nvPr/>
        </p:nvSpPr>
        <p:spPr>
          <a:xfrm>
            <a:off x="1234100" y="1327875"/>
            <a:ext cx="1359600" cy="4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800">
                <a:solidFill>
                  <a:srgbClr val="434343"/>
                </a:solidFill>
                <a:latin typeface="Courier"/>
                <a:ea typeface="Courier"/>
                <a:cs typeface="Courier"/>
                <a:sym typeface="Courier"/>
              </a:rPr>
              <a:t>netcat A</a:t>
            </a:r>
            <a:endParaRPr sz="1800">
              <a:solidFill>
                <a:srgbClr val="434343"/>
              </a:solidFill>
              <a:latin typeface="Courier"/>
              <a:ea typeface="Courier"/>
              <a:cs typeface="Courier"/>
              <a:sym typeface="Courier"/>
            </a:endParaRPr>
          </a:p>
        </p:txBody>
      </p:sp>
      <p:pic>
        <p:nvPicPr>
          <p:cNvPr id="447" name="Google Shape;447;p47" title="Screenshot 2026-01-08 at 4.23.15 PM.png"/>
          <p:cNvPicPr preferRelativeResize="0"/>
          <p:nvPr/>
        </p:nvPicPr>
        <p:blipFill rotWithShape="1">
          <a:blip r:embed="rId3">
            <a:alphaModFix/>
          </a:blip>
          <a:srcRect b="3883" l="23683" r="15405" t="3883"/>
          <a:stretch/>
        </p:blipFill>
        <p:spPr>
          <a:xfrm>
            <a:off x="5888026" y="1814850"/>
            <a:ext cx="2347249" cy="234724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48" name="Google Shape;448;p47"/>
          <p:cNvCxnSpPr/>
          <p:nvPr/>
        </p:nvCxnSpPr>
        <p:spPr>
          <a:xfrm>
            <a:off x="1733050" y="3307100"/>
            <a:ext cx="4062300" cy="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49" name="Google Shape;449;p47"/>
          <p:cNvSpPr/>
          <p:nvPr/>
        </p:nvSpPr>
        <p:spPr>
          <a:xfrm>
            <a:off x="3608525" y="2425850"/>
            <a:ext cx="1762500" cy="1762500"/>
          </a:xfrm>
          <a:prstGeom prst="rect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0" name="Google Shape;450;p47"/>
          <p:cNvSpPr/>
          <p:nvPr/>
        </p:nvSpPr>
        <p:spPr>
          <a:xfrm>
            <a:off x="3859763" y="2677100"/>
            <a:ext cx="1260000" cy="1260000"/>
          </a:xfrm>
          <a:prstGeom prst="rect">
            <a:avLst/>
          </a:prstGeom>
          <a:solidFill>
            <a:srgbClr val="F4CCCC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>
                <a:latin typeface="Courier"/>
                <a:ea typeface="Courier"/>
                <a:cs typeface="Courier"/>
                <a:sym typeface="Courier"/>
              </a:rPr>
              <a:t>FTP App</a:t>
            </a:r>
            <a:endParaRPr>
              <a:latin typeface="Courier"/>
              <a:ea typeface="Courier"/>
              <a:cs typeface="Courier"/>
              <a:sym typeface="Courier"/>
            </a:endParaRPr>
          </a:p>
        </p:txBody>
      </p:sp>
      <p:sp>
        <p:nvSpPr>
          <p:cNvPr id="451" name="Google Shape;451;p47"/>
          <p:cNvSpPr txBox="1"/>
          <p:nvPr/>
        </p:nvSpPr>
        <p:spPr>
          <a:xfrm>
            <a:off x="3649751" y="2062000"/>
            <a:ext cx="1762500" cy="32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500">
                <a:solidFill>
                  <a:srgbClr val="0000FF"/>
                </a:solidFill>
                <a:latin typeface="Courier"/>
                <a:ea typeface="Courier"/>
                <a:cs typeface="Courier"/>
                <a:sym typeface="Courier"/>
              </a:rPr>
              <a:t>ftp server</a:t>
            </a:r>
            <a:endParaRPr sz="1500">
              <a:solidFill>
                <a:srgbClr val="0000FF"/>
              </a:solidFill>
              <a:latin typeface="Courier"/>
              <a:ea typeface="Courier"/>
              <a:cs typeface="Courier"/>
              <a:sym typeface="Courier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5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p48"/>
          <p:cNvSpPr txBox="1"/>
          <p:nvPr>
            <p:ph type="title"/>
          </p:nvPr>
        </p:nvSpPr>
        <p:spPr>
          <a:xfrm>
            <a:off x="438954" y="560541"/>
            <a:ext cx="7886700" cy="45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>
                <a:solidFill>
                  <a:srgbClr val="0077C8"/>
                </a:solidFill>
              </a:rPr>
              <a:t>Exercise 3: C</a:t>
            </a:r>
            <a:r>
              <a:rPr lang="en-CA">
                <a:solidFill>
                  <a:srgbClr val="0077C8"/>
                </a:solidFill>
              </a:rPr>
              <a:t>onnecting to a Web Server</a:t>
            </a:r>
            <a:endParaRPr/>
          </a:p>
        </p:txBody>
      </p:sp>
      <p:sp>
        <p:nvSpPr>
          <p:cNvPr id="457" name="Google Shape;457;p48"/>
          <p:cNvSpPr/>
          <p:nvPr/>
        </p:nvSpPr>
        <p:spPr>
          <a:xfrm>
            <a:off x="1283888" y="2358475"/>
            <a:ext cx="1260000" cy="1260000"/>
          </a:xfrm>
          <a:prstGeom prst="rect">
            <a:avLst/>
          </a:prstGeom>
          <a:solidFill>
            <a:srgbClr val="D9EAD3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Browser</a:t>
            </a:r>
            <a:endParaRPr/>
          </a:p>
        </p:txBody>
      </p:sp>
      <p:sp>
        <p:nvSpPr>
          <p:cNvPr id="458" name="Google Shape;458;p48"/>
          <p:cNvSpPr/>
          <p:nvPr/>
        </p:nvSpPr>
        <p:spPr>
          <a:xfrm>
            <a:off x="5805638" y="1728475"/>
            <a:ext cx="2520000" cy="2520000"/>
          </a:xfrm>
          <a:prstGeom prst="rect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9" name="Google Shape;459;p48"/>
          <p:cNvSpPr txBox="1"/>
          <p:nvPr/>
        </p:nvSpPr>
        <p:spPr>
          <a:xfrm>
            <a:off x="6095750" y="1327975"/>
            <a:ext cx="1939800" cy="4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800">
                <a:solidFill>
                  <a:srgbClr val="0000FF"/>
                </a:solidFill>
                <a:latin typeface="Courier"/>
                <a:ea typeface="Courier"/>
                <a:cs typeface="Courier"/>
                <a:sym typeface="Courier"/>
              </a:rPr>
              <a:t>example.com</a:t>
            </a:r>
            <a:endParaRPr sz="1800">
              <a:solidFill>
                <a:srgbClr val="0000FF"/>
              </a:solidFill>
              <a:latin typeface="Courier"/>
              <a:ea typeface="Courier"/>
              <a:cs typeface="Courier"/>
              <a:sym typeface="Courier"/>
            </a:endParaRPr>
          </a:p>
        </p:txBody>
      </p:sp>
      <p:pic>
        <p:nvPicPr>
          <p:cNvPr id="460" name="Google Shape;460;p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85607" y="2460175"/>
            <a:ext cx="1056575" cy="10566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61" name="Google Shape;461;p48"/>
          <p:cNvCxnSpPr/>
          <p:nvPr/>
        </p:nvCxnSpPr>
        <p:spPr>
          <a:xfrm>
            <a:off x="2543888" y="2607475"/>
            <a:ext cx="32619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62" name="Google Shape;462;p48"/>
          <p:cNvCxnSpPr/>
          <p:nvPr/>
        </p:nvCxnSpPr>
        <p:spPr>
          <a:xfrm>
            <a:off x="2543888" y="2759875"/>
            <a:ext cx="32619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463" name="Google Shape;463;p48"/>
          <p:cNvCxnSpPr/>
          <p:nvPr/>
        </p:nvCxnSpPr>
        <p:spPr>
          <a:xfrm>
            <a:off x="2543888" y="2912275"/>
            <a:ext cx="32619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64" name="Google Shape;464;p48"/>
          <p:cNvCxnSpPr/>
          <p:nvPr/>
        </p:nvCxnSpPr>
        <p:spPr>
          <a:xfrm>
            <a:off x="2543888" y="3064675"/>
            <a:ext cx="32619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465" name="Google Shape;465;p48"/>
          <p:cNvCxnSpPr/>
          <p:nvPr/>
        </p:nvCxnSpPr>
        <p:spPr>
          <a:xfrm>
            <a:off x="2543888" y="3217075"/>
            <a:ext cx="32619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66" name="Google Shape;466;p48"/>
          <p:cNvCxnSpPr/>
          <p:nvPr/>
        </p:nvCxnSpPr>
        <p:spPr>
          <a:xfrm>
            <a:off x="2543888" y="3369475"/>
            <a:ext cx="32619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triangle"/>
            <a:tailEnd len="med" w="med" type="none"/>
          </a:ln>
        </p:spPr>
      </p:cxnSp>
      <p:pic>
        <p:nvPicPr>
          <p:cNvPr id="467" name="Google Shape;467;p4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70850" y="2093650"/>
            <a:ext cx="1789600" cy="17896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47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p49"/>
          <p:cNvSpPr txBox="1"/>
          <p:nvPr>
            <p:ph type="title"/>
          </p:nvPr>
        </p:nvSpPr>
        <p:spPr>
          <a:xfrm>
            <a:off x="438954" y="560541"/>
            <a:ext cx="7886700" cy="45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>
                <a:solidFill>
                  <a:srgbClr val="0077C8"/>
                </a:solidFill>
              </a:rPr>
              <a:t>Exercise 3: Connecting to a Web Server</a:t>
            </a:r>
            <a:endParaRPr/>
          </a:p>
        </p:txBody>
      </p:sp>
      <p:sp>
        <p:nvSpPr>
          <p:cNvPr id="473" name="Google Shape;473;p49"/>
          <p:cNvSpPr/>
          <p:nvPr/>
        </p:nvSpPr>
        <p:spPr>
          <a:xfrm>
            <a:off x="1283888" y="2358475"/>
            <a:ext cx="1260000" cy="1260000"/>
          </a:xfrm>
          <a:prstGeom prst="rect">
            <a:avLst/>
          </a:prstGeom>
          <a:solidFill>
            <a:srgbClr val="D9EAD3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Browser</a:t>
            </a:r>
            <a:endParaRPr/>
          </a:p>
        </p:txBody>
      </p:sp>
      <p:sp>
        <p:nvSpPr>
          <p:cNvPr id="474" name="Google Shape;474;p49"/>
          <p:cNvSpPr/>
          <p:nvPr/>
        </p:nvSpPr>
        <p:spPr>
          <a:xfrm>
            <a:off x="5805638" y="1728475"/>
            <a:ext cx="2520000" cy="2520000"/>
          </a:xfrm>
          <a:prstGeom prst="rect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5" name="Google Shape;475;p49"/>
          <p:cNvSpPr txBox="1"/>
          <p:nvPr/>
        </p:nvSpPr>
        <p:spPr>
          <a:xfrm>
            <a:off x="6095750" y="1327975"/>
            <a:ext cx="1939800" cy="4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800">
                <a:solidFill>
                  <a:srgbClr val="0000FF"/>
                </a:solidFill>
                <a:latin typeface="Courier"/>
                <a:ea typeface="Courier"/>
                <a:cs typeface="Courier"/>
                <a:sym typeface="Courier"/>
              </a:rPr>
              <a:t>example.com</a:t>
            </a:r>
            <a:endParaRPr sz="1800">
              <a:solidFill>
                <a:srgbClr val="0000FF"/>
              </a:solidFill>
              <a:latin typeface="Courier"/>
              <a:ea typeface="Courier"/>
              <a:cs typeface="Courier"/>
              <a:sym typeface="Courier"/>
            </a:endParaRPr>
          </a:p>
        </p:txBody>
      </p:sp>
      <p:pic>
        <p:nvPicPr>
          <p:cNvPr id="476" name="Google Shape;476;p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85607" y="2460175"/>
            <a:ext cx="1056575" cy="10566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77" name="Google Shape;477;p49"/>
          <p:cNvCxnSpPr/>
          <p:nvPr/>
        </p:nvCxnSpPr>
        <p:spPr>
          <a:xfrm>
            <a:off x="2543888" y="2607475"/>
            <a:ext cx="32619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78" name="Google Shape;478;p49"/>
          <p:cNvCxnSpPr/>
          <p:nvPr/>
        </p:nvCxnSpPr>
        <p:spPr>
          <a:xfrm>
            <a:off x="2543888" y="2759875"/>
            <a:ext cx="32619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479" name="Google Shape;479;p49"/>
          <p:cNvCxnSpPr/>
          <p:nvPr/>
        </p:nvCxnSpPr>
        <p:spPr>
          <a:xfrm>
            <a:off x="2543888" y="2912275"/>
            <a:ext cx="32619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80" name="Google Shape;480;p49"/>
          <p:cNvCxnSpPr/>
          <p:nvPr/>
        </p:nvCxnSpPr>
        <p:spPr>
          <a:xfrm>
            <a:off x="2543888" y="3064675"/>
            <a:ext cx="32619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481" name="Google Shape;481;p49"/>
          <p:cNvCxnSpPr/>
          <p:nvPr/>
        </p:nvCxnSpPr>
        <p:spPr>
          <a:xfrm>
            <a:off x="2543888" y="3217075"/>
            <a:ext cx="32619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82" name="Google Shape;482;p49"/>
          <p:cNvCxnSpPr/>
          <p:nvPr/>
        </p:nvCxnSpPr>
        <p:spPr>
          <a:xfrm>
            <a:off x="2543888" y="3369475"/>
            <a:ext cx="32619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triangle"/>
            <a:tailEnd len="med" w="med" type="none"/>
          </a:ln>
        </p:spPr>
      </p:cxnSp>
      <p:pic>
        <p:nvPicPr>
          <p:cNvPr id="483" name="Google Shape;483;p4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70850" y="2093650"/>
            <a:ext cx="1789600" cy="1789626"/>
          </a:xfrm>
          <a:prstGeom prst="rect">
            <a:avLst/>
          </a:prstGeom>
          <a:noFill/>
          <a:ln>
            <a:noFill/>
          </a:ln>
        </p:spPr>
      </p:pic>
      <p:sp>
        <p:nvSpPr>
          <p:cNvPr id="484" name="Google Shape;484;p49"/>
          <p:cNvSpPr/>
          <p:nvPr/>
        </p:nvSpPr>
        <p:spPr>
          <a:xfrm>
            <a:off x="1859525" y="1125475"/>
            <a:ext cx="3164700" cy="1024800"/>
          </a:xfrm>
          <a:prstGeom prst="wedgeRoundRectCallout">
            <a:avLst>
              <a:gd fmla="val -35995" name="adj1"/>
              <a:gd fmla="val 86327" name="adj2"/>
              <a:gd fmla="val 0" name="adj3"/>
            </a:avLst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800"/>
              <a:t>We usually connect to web servers using web browsers</a:t>
            </a:r>
            <a:endParaRPr sz="1800"/>
          </a:p>
        </p:txBody>
      </p:sp>
      <p:sp>
        <p:nvSpPr>
          <p:cNvPr id="485" name="Google Shape;485;p49"/>
          <p:cNvSpPr/>
          <p:nvPr/>
        </p:nvSpPr>
        <p:spPr>
          <a:xfrm>
            <a:off x="3697100" y="3618475"/>
            <a:ext cx="3713700" cy="1403400"/>
          </a:xfrm>
          <a:prstGeom prst="wedgeRoundRectCallout">
            <a:avLst>
              <a:gd fmla="val -33203" name="adj1"/>
              <a:gd fmla="val -72898" name="adj2"/>
              <a:gd fmla="val 0" name="adj3"/>
            </a:avLst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800"/>
              <a:t>Much of the process is automated </a:t>
            </a:r>
            <a:br>
              <a:rPr lang="en-CA" sz="1800"/>
            </a:br>
            <a:br>
              <a:rPr lang="en-CA" sz="1800"/>
            </a:br>
            <a:r>
              <a:rPr lang="en-CA" sz="1800"/>
              <a:t>(HTTP requests, HTML parsing, cookies, and multiple requests)</a:t>
            </a:r>
            <a:endParaRPr sz="180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9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p50"/>
          <p:cNvSpPr txBox="1"/>
          <p:nvPr>
            <p:ph type="title"/>
          </p:nvPr>
        </p:nvSpPr>
        <p:spPr>
          <a:xfrm>
            <a:off x="438954" y="560541"/>
            <a:ext cx="7886700" cy="45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>
                <a:solidFill>
                  <a:srgbClr val="0077C8"/>
                </a:solidFill>
              </a:rPr>
              <a:t>Exercise 3: Connecting to a Web Server</a:t>
            </a:r>
            <a:endParaRPr/>
          </a:p>
        </p:txBody>
      </p:sp>
      <p:sp>
        <p:nvSpPr>
          <p:cNvPr id="491" name="Google Shape;491;p50"/>
          <p:cNvSpPr/>
          <p:nvPr/>
        </p:nvSpPr>
        <p:spPr>
          <a:xfrm>
            <a:off x="1283888" y="2358475"/>
            <a:ext cx="1260000" cy="1260000"/>
          </a:xfrm>
          <a:prstGeom prst="rect">
            <a:avLst/>
          </a:prstGeom>
          <a:solidFill>
            <a:srgbClr val="D9EAD3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netcat</a:t>
            </a:r>
            <a:endParaRPr/>
          </a:p>
        </p:txBody>
      </p:sp>
      <p:sp>
        <p:nvSpPr>
          <p:cNvPr id="492" name="Google Shape;492;p50"/>
          <p:cNvSpPr/>
          <p:nvPr/>
        </p:nvSpPr>
        <p:spPr>
          <a:xfrm>
            <a:off x="5805638" y="1728475"/>
            <a:ext cx="2520000" cy="2520000"/>
          </a:xfrm>
          <a:prstGeom prst="rect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3" name="Google Shape;493;p50"/>
          <p:cNvSpPr txBox="1"/>
          <p:nvPr/>
        </p:nvSpPr>
        <p:spPr>
          <a:xfrm>
            <a:off x="6095750" y="1327975"/>
            <a:ext cx="1939800" cy="4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800">
                <a:solidFill>
                  <a:srgbClr val="0000FF"/>
                </a:solidFill>
                <a:latin typeface="Courier"/>
                <a:ea typeface="Courier"/>
                <a:cs typeface="Courier"/>
                <a:sym typeface="Courier"/>
              </a:rPr>
              <a:t>example.com</a:t>
            </a:r>
            <a:endParaRPr sz="1800">
              <a:solidFill>
                <a:srgbClr val="0000FF"/>
              </a:solidFill>
              <a:latin typeface="Courier"/>
              <a:ea typeface="Courier"/>
              <a:cs typeface="Courier"/>
              <a:sym typeface="Courier"/>
            </a:endParaRPr>
          </a:p>
        </p:txBody>
      </p:sp>
      <p:pic>
        <p:nvPicPr>
          <p:cNvPr id="494" name="Google Shape;494;p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70850" y="2093650"/>
            <a:ext cx="1789600" cy="178962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95" name="Google Shape;495;p50"/>
          <p:cNvCxnSpPr/>
          <p:nvPr/>
        </p:nvCxnSpPr>
        <p:spPr>
          <a:xfrm>
            <a:off x="2543888" y="2912275"/>
            <a:ext cx="32619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96" name="Google Shape;496;p50"/>
          <p:cNvCxnSpPr/>
          <p:nvPr/>
        </p:nvCxnSpPr>
        <p:spPr>
          <a:xfrm>
            <a:off x="2543888" y="3064675"/>
            <a:ext cx="32619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triangle"/>
            <a:tailEnd len="med" w="med" type="none"/>
          </a:ln>
        </p:spPr>
      </p:cxn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500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p51"/>
          <p:cNvSpPr txBox="1"/>
          <p:nvPr>
            <p:ph type="title"/>
          </p:nvPr>
        </p:nvSpPr>
        <p:spPr>
          <a:xfrm>
            <a:off x="438954" y="560541"/>
            <a:ext cx="7886700" cy="45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>
                <a:solidFill>
                  <a:srgbClr val="0077C8"/>
                </a:solidFill>
              </a:rPr>
              <a:t>Exercise 3: Connecting to a Web Server</a:t>
            </a:r>
            <a:endParaRPr>
              <a:solidFill>
                <a:srgbClr val="0077C8"/>
              </a:solidFill>
            </a:endParaRPr>
          </a:p>
        </p:txBody>
      </p:sp>
      <p:sp>
        <p:nvSpPr>
          <p:cNvPr id="502" name="Google Shape;502;p51"/>
          <p:cNvSpPr/>
          <p:nvPr/>
        </p:nvSpPr>
        <p:spPr>
          <a:xfrm>
            <a:off x="1283888" y="2358475"/>
            <a:ext cx="1260000" cy="1260000"/>
          </a:xfrm>
          <a:prstGeom prst="rect">
            <a:avLst/>
          </a:prstGeom>
          <a:solidFill>
            <a:srgbClr val="D9EAD3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netcat</a:t>
            </a:r>
            <a:endParaRPr/>
          </a:p>
        </p:txBody>
      </p:sp>
      <p:sp>
        <p:nvSpPr>
          <p:cNvPr id="503" name="Google Shape;503;p51"/>
          <p:cNvSpPr/>
          <p:nvPr/>
        </p:nvSpPr>
        <p:spPr>
          <a:xfrm>
            <a:off x="5805638" y="1728475"/>
            <a:ext cx="2520000" cy="2520000"/>
          </a:xfrm>
          <a:prstGeom prst="rect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4" name="Google Shape;504;p51"/>
          <p:cNvSpPr txBox="1"/>
          <p:nvPr/>
        </p:nvSpPr>
        <p:spPr>
          <a:xfrm>
            <a:off x="6095750" y="1327975"/>
            <a:ext cx="1939800" cy="4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800">
                <a:solidFill>
                  <a:srgbClr val="0000FF"/>
                </a:solidFill>
                <a:latin typeface="Courier"/>
                <a:ea typeface="Courier"/>
                <a:cs typeface="Courier"/>
                <a:sym typeface="Courier"/>
              </a:rPr>
              <a:t>example.com</a:t>
            </a:r>
            <a:endParaRPr sz="1800">
              <a:solidFill>
                <a:srgbClr val="0000FF"/>
              </a:solidFill>
              <a:latin typeface="Courier"/>
              <a:ea typeface="Courier"/>
              <a:cs typeface="Courier"/>
              <a:sym typeface="Courier"/>
            </a:endParaRPr>
          </a:p>
        </p:txBody>
      </p:sp>
      <p:pic>
        <p:nvPicPr>
          <p:cNvPr id="505" name="Google Shape;505;p5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70850" y="2093650"/>
            <a:ext cx="1789600" cy="178962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06" name="Google Shape;506;p51"/>
          <p:cNvCxnSpPr/>
          <p:nvPr/>
        </p:nvCxnSpPr>
        <p:spPr>
          <a:xfrm>
            <a:off x="2543888" y="2912275"/>
            <a:ext cx="32619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07" name="Google Shape;507;p51"/>
          <p:cNvCxnSpPr/>
          <p:nvPr/>
        </p:nvCxnSpPr>
        <p:spPr>
          <a:xfrm>
            <a:off x="2543888" y="3064675"/>
            <a:ext cx="32619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508" name="Google Shape;508;p51"/>
          <p:cNvSpPr/>
          <p:nvPr/>
        </p:nvSpPr>
        <p:spPr>
          <a:xfrm>
            <a:off x="2543900" y="1272025"/>
            <a:ext cx="3432900" cy="1024800"/>
          </a:xfrm>
          <a:prstGeom prst="wedgeRoundRectCallout">
            <a:avLst>
              <a:gd fmla="val -401" name="adj1"/>
              <a:gd fmla="val 98583" name="adj2"/>
              <a:gd fmla="val 0" name="adj3"/>
            </a:avLst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800"/>
              <a:t>With netcat, we only have the ability to send and receive plain text one by one</a:t>
            </a:r>
            <a:endParaRPr sz="180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2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Google Shape;513;p52"/>
          <p:cNvSpPr txBox="1"/>
          <p:nvPr>
            <p:ph type="title"/>
          </p:nvPr>
        </p:nvSpPr>
        <p:spPr>
          <a:xfrm>
            <a:off x="438954" y="560541"/>
            <a:ext cx="7886700" cy="45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CA">
                <a:solidFill>
                  <a:srgbClr val="0077C8"/>
                </a:solidFill>
              </a:rPr>
              <a:t>Exercise 3: Connecting to a Web Server</a:t>
            </a:r>
            <a:endParaRPr>
              <a:solidFill>
                <a:srgbClr val="0077C8"/>
              </a:solidFill>
            </a:endParaRPr>
          </a:p>
        </p:txBody>
      </p:sp>
      <p:sp>
        <p:nvSpPr>
          <p:cNvPr id="514" name="Google Shape;514;p52"/>
          <p:cNvSpPr txBox="1"/>
          <p:nvPr>
            <p:ph idx="1" type="body"/>
          </p:nvPr>
        </p:nvSpPr>
        <p:spPr>
          <a:xfrm>
            <a:off x="438950" y="1131900"/>
            <a:ext cx="8538000" cy="369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-CA"/>
              <a:t>We need CRLF mode, since HTTP expects </a:t>
            </a:r>
            <a:r>
              <a:rPr lang="en-CA">
                <a:solidFill>
                  <a:srgbClr val="FF0000"/>
                </a:solidFill>
                <a:latin typeface="Courier"/>
                <a:ea typeface="Courier"/>
                <a:cs typeface="Courier"/>
                <a:sym typeface="Courier"/>
              </a:rPr>
              <a:t>\r\n</a:t>
            </a:r>
            <a:r>
              <a:rPr lang="en-CA"/>
              <a:t> instead of </a:t>
            </a:r>
            <a:r>
              <a:rPr lang="en-CA">
                <a:solidFill>
                  <a:srgbClr val="FF0000"/>
                </a:solidFill>
                <a:latin typeface="Courier"/>
                <a:ea typeface="Courier"/>
                <a:cs typeface="Courier"/>
                <a:sym typeface="Courier"/>
              </a:rPr>
              <a:t>\n</a:t>
            </a:r>
            <a:endParaRPr/>
          </a:p>
          <a:p>
            <a:pPr indent="-323850" lvl="0" marL="914400" rtl="0" algn="l">
              <a:spcBef>
                <a:spcPts val="0"/>
              </a:spcBef>
              <a:spcAft>
                <a:spcPts val="0"/>
              </a:spcAft>
              <a:buSzPts val="1500"/>
              <a:buChar char="-"/>
            </a:pPr>
            <a:r>
              <a:rPr lang="en-CA"/>
              <a:t>However, this isn’t that strict these days.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-CA"/>
              <a:t>Try just sending “Hello”. What happens?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-CA"/>
              <a:t>Now, what happens if we follow the HTTP format?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0000"/>
              </a:solidFill>
              <a:latin typeface="Courier"/>
              <a:ea typeface="Courier"/>
              <a:cs typeface="Courier"/>
              <a:sym typeface="Couri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8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p53"/>
          <p:cNvSpPr txBox="1"/>
          <p:nvPr>
            <p:ph type="title"/>
          </p:nvPr>
        </p:nvSpPr>
        <p:spPr>
          <a:xfrm>
            <a:off x="438954" y="560541"/>
            <a:ext cx="7886700" cy="45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>
                <a:solidFill>
                  <a:srgbClr val="0077C8"/>
                </a:solidFill>
              </a:rPr>
              <a:t>Exercise 3: Connecting to a Web Server</a:t>
            </a:r>
            <a:endParaRPr>
              <a:solidFill>
                <a:srgbClr val="0077C8"/>
              </a:solidFill>
            </a:endParaRPr>
          </a:p>
        </p:txBody>
      </p:sp>
      <p:sp>
        <p:nvSpPr>
          <p:cNvPr id="520" name="Google Shape;520;p53"/>
          <p:cNvSpPr txBox="1"/>
          <p:nvPr>
            <p:ph idx="1" type="body"/>
          </p:nvPr>
        </p:nvSpPr>
        <p:spPr>
          <a:xfrm>
            <a:off x="438950" y="1131900"/>
            <a:ext cx="8538000" cy="369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-CA"/>
              <a:t>We need CRLF mode, since HTTP expects </a:t>
            </a:r>
            <a:r>
              <a:rPr lang="en-CA">
                <a:solidFill>
                  <a:srgbClr val="FF0000"/>
                </a:solidFill>
                <a:latin typeface="Courier"/>
                <a:ea typeface="Courier"/>
                <a:cs typeface="Courier"/>
                <a:sym typeface="Courier"/>
              </a:rPr>
              <a:t>\r\n</a:t>
            </a:r>
            <a:r>
              <a:rPr lang="en-CA"/>
              <a:t> instead of </a:t>
            </a:r>
            <a:r>
              <a:rPr lang="en-CA">
                <a:solidFill>
                  <a:srgbClr val="FF0000"/>
                </a:solidFill>
                <a:latin typeface="Courier"/>
                <a:ea typeface="Courier"/>
                <a:cs typeface="Courier"/>
                <a:sym typeface="Courier"/>
              </a:rPr>
              <a:t>\n</a:t>
            </a:r>
            <a:endParaRPr/>
          </a:p>
          <a:p>
            <a:pPr indent="-323850" lvl="0" marL="914400" rtl="0" algn="l">
              <a:spcBef>
                <a:spcPts val="0"/>
              </a:spcBef>
              <a:spcAft>
                <a:spcPts val="0"/>
              </a:spcAft>
              <a:buSzPts val="1500"/>
              <a:buChar char="-"/>
            </a:pPr>
            <a:r>
              <a:rPr lang="en-CA"/>
              <a:t>However, this isn’t that strict these days.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-CA"/>
              <a:t>Try just sending “Hello”. What happens?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-CA"/>
              <a:t>Now, what happens if we follow the HTTP format?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0000"/>
              </a:solidFill>
              <a:latin typeface="Courier"/>
              <a:ea typeface="Courier"/>
              <a:cs typeface="Courier"/>
              <a:sym typeface="Couri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21" name="Google Shape;521;p53" title="Screenshot 2026-01-08 at 4.37.51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20450" y="2326075"/>
            <a:ext cx="3326089" cy="114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5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Google Shape;526;p54"/>
          <p:cNvSpPr txBox="1"/>
          <p:nvPr>
            <p:ph type="title"/>
          </p:nvPr>
        </p:nvSpPr>
        <p:spPr>
          <a:xfrm>
            <a:off x="438954" y="560541"/>
            <a:ext cx="7886700" cy="45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>
                <a:solidFill>
                  <a:srgbClr val="0077C8"/>
                </a:solidFill>
              </a:rPr>
              <a:t>Exercise 3: Connecting to a Web Server</a:t>
            </a:r>
            <a:endParaRPr>
              <a:solidFill>
                <a:srgbClr val="0077C8"/>
              </a:solidFill>
            </a:endParaRPr>
          </a:p>
        </p:txBody>
      </p:sp>
      <p:sp>
        <p:nvSpPr>
          <p:cNvPr id="527" name="Google Shape;527;p54"/>
          <p:cNvSpPr txBox="1"/>
          <p:nvPr>
            <p:ph idx="1" type="body"/>
          </p:nvPr>
        </p:nvSpPr>
        <p:spPr>
          <a:xfrm>
            <a:off x="438950" y="1131900"/>
            <a:ext cx="8538000" cy="369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-CA"/>
              <a:t>We need CRLF mode, since HTTP expects </a:t>
            </a:r>
            <a:r>
              <a:rPr lang="en-CA">
                <a:solidFill>
                  <a:srgbClr val="FF0000"/>
                </a:solidFill>
                <a:latin typeface="Courier"/>
                <a:ea typeface="Courier"/>
                <a:cs typeface="Courier"/>
                <a:sym typeface="Courier"/>
              </a:rPr>
              <a:t>\r\n</a:t>
            </a:r>
            <a:r>
              <a:rPr lang="en-CA"/>
              <a:t> instead of </a:t>
            </a:r>
            <a:r>
              <a:rPr lang="en-CA">
                <a:solidFill>
                  <a:srgbClr val="FF0000"/>
                </a:solidFill>
                <a:latin typeface="Courier"/>
                <a:ea typeface="Courier"/>
                <a:cs typeface="Courier"/>
                <a:sym typeface="Courier"/>
              </a:rPr>
              <a:t>\n</a:t>
            </a:r>
            <a:endParaRPr/>
          </a:p>
          <a:p>
            <a:pPr indent="-323850" lvl="0" marL="914400" rtl="0" algn="l">
              <a:spcBef>
                <a:spcPts val="0"/>
              </a:spcBef>
              <a:spcAft>
                <a:spcPts val="0"/>
              </a:spcAft>
              <a:buSzPts val="1500"/>
              <a:buChar char="-"/>
            </a:pPr>
            <a:r>
              <a:rPr lang="en-CA"/>
              <a:t>However, this isn’t that strict these days.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-CA"/>
              <a:t>Try just sending “Hello”. What happens?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-CA"/>
              <a:t>Now, what happens if we follow the HTTP format?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0000"/>
              </a:solidFill>
              <a:latin typeface="Courier"/>
              <a:ea typeface="Courier"/>
              <a:cs typeface="Courier"/>
              <a:sym typeface="Couri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28" name="Google Shape;528;p54" title="Screenshot 2026-01-08 at 4.37.51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20450" y="2326075"/>
            <a:ext cx="3326089" cy="114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29" name="Google Shape;529;p54" title="Screenshot 2026-01-08 at 4.42.57 P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20450" y="3762325"/>
            <a:ext cx="1395825" cy="665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3" name="Shape 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Google Shape;534;p55"/>
          <p:cNvSpPr txBox="1"/>
          <p:nvPr>
            <p:ph type="title"/>
          </p:nvPr>
        </p:nvSpPr>
        <p:spPr>
          <a:xfrm>
            <a:off x="438954" y="560541"/>
            <a:ext cx="7886700" cy="45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CA">
                <a:solidFill>
                  <a:srgbClr val="0077C8"/>
                </a:solidFill>
              </a:rPr>
              <a:t>Exercise 4: Other useful network tools</a:t>
            </a:r>
            <a:endParaRPr>
              <a:solidFill>
                <a:srgbClr val="0077C8"/>
              </a:solidFill>
            </a:endParaRPr>
          </a:p>
        </p:txBody>
      </p:sp>
      <p:sp>
        <p:nvSpPr>
          <p:cNvPr id="535" name="Google Shape;535;p55"/>
          <p:cNvSpPr txBox="1"/>
          <p:nvPr>
            <p:ph idx="1" type="body"/>
          </p:nvPr>
        </p:nvSpPr>
        <p:spPr>
          <a:xfrm>
            <a:off x="438950" y="1131900"/>
            <a:ext cx="8538000" cy="167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Font typeface="Courier"/>
              <a:buChar char="●"/>
            </a:pPr>
            <a:r>
              <a:rPr lang="en-CA">
                <a:latin typeface="Courier"/>
                <a:ea typeface="Courier"/>
                <a:cs typeface="Courier"/>
                <a:sym typeface="Courier"/>
              </a:rPr>
              <a:t>ping</a:t>
            </a:r>
            <a:endParaRPr>
              <a:latin typeface="Courier"/>
              <a:ea typeface="Courier"/>
              <a:cs typeface="Courier"/>
              <a:sym typeface="Courier"/>
            </a:endParaRPr>
          </a:p>
          <a:p>
            <a:pPr indent="-323850" lvl="0" marL="914400" rtl="0" algn="l">
              <a:spcBef>
                <a:spcPts val="0"/>
              </a:spcBef>
              <a:spcAft>
                <a:spcPts val="0"/>
              </a:spcAft>
              <a:buSzPts val="1500"/>
              <a:buChar char="-"/>
            </a:pPr>
            <a:r>
              <a:rPr lang="en-CA"/>
              <a:t>Checks connectivity and measures round-trip time (RTT)</a:t>
            </a:r>
            <a:endParaRPr/>
          </a:p>
          <a:p>
            <a:pPr indent="-323850" lvl="0" marL="914400" rtl="0" algn="l">
              <a:spcBef>
                <a:spcPts val="0"/>
              </a:spcBef>
              <a:spcAft>
                <a:spcPts val="0"/>
              </a:spcAft>
              <a:buSzPts val="1500"/>
              <a:buChar char="-"/>
            </a:pPr>
            <a:r>
              <a:rPr lang="en-CA"/>
              <a:t>Usage: </a:t>
            </a:r>
            <a:r>
              <a:rPr lang="en-CA">
                <a:latin typeface="Courier"/>
                <a:ea typeface="Courier"/>
                <a:cs typeface="Courier"/>
                <a:sym typeface="Courier"/>
              </a:rPr>
              <a:t>ping &lt;host&gt;</a:t>
            </a:r>
            <a:endParaRPr/>
          </a:p>
          <a:p>
            <a:pPr indent="-323850" lvl="0" marL="914400" rtl="0" algn="l">
              <a:spcBef>
                <a:spcPts val="0"/>
              </a:spcBef>
              <a:spcAft>
                <a:spcPts val="0"/>
              </a:spcAft>
              <a:buSzPts val="1500"/>
              <a:buChar char="-"/>
            </a:pPr>
            <a:r>
              <a:rPr lang="en-CA"/>
              <a:t>Examples: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6" name="Google Shape;536;p55"/>
          <p:cNvSpPr txBox="1"/>
          <p:nvPr>
            <p:ph idx="1" type="body"/>
          </p:nvPr>
        </p:nvSpPr>
        <p:spPr>
          <a:xfrm>
            <a:off x="606000" y="2354332"/>
            <a:ext cx="7719600" cy="1838700"/>
          </a:xfrm>
          <a:prstGeom prst="rect">
            <a:avLst/>
          </a:prstGeom>
          <a:solidFill>
            <a:srgbClr val="21212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45720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4DD0E1"/>
              </a:solidFill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45720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200">
                <a:solidFill>
                  <a:srgbClr val="4DD0E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r>
              <a:rPr lang="en-CA" sz="12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 ping google.com</a:t>
            </a:r>
            <a:endParaRPr sz="1200"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45720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200">
                <a:solidFill>
                  <a:srgbClr val="FBC02D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PING</a:t>
            </a:r>
            <a:r>
              <a:rPr lang="en-CA" sz="12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 google.com (</a:t>
            </a:r>
            <a:r>
              <a:rPr lang="en-CA" sz="1200">
                <a:solidFill>
                  <a:srgbClr val="FBC02D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142.251</a:t>
            </a:r>
            <a:r>
              <a:rPr lang="en-CA" sz="12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en-CA" sz="1200">
                <a:solidFill>
                  <a:srgbClr val="FBC02D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46.78</a:t>
            </a:r>
            <a:r>
              <a:rPr lang="en-CA" sz="12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): </a:t>
            </a:r>
            <a:r>
              <a:rPr lang="en-CA" sz="1200">
                <a:solidFill>
                  <a:srgbClr val="FBC02D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56</a:t>
            </a:r>
            <a:r>
              <a:rPr lang="en-CA" sz="12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 data bytes</a:t>
            </a:r>
            <a:endParaRPr sz="1200"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45720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200">
                <a:solidFill>
                  <a:srgbClr val="FBC02D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64</a:t>
            </a:r>
            <a:r>
              <a:rPr lang="en-CA" sz="12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 bytes from </a:t>
            </a:r>
            <a:r>
              <a:rPr lang="en-CA" sz="1200">
                <a:solidFill>
                  <a:srgbClr val="FBC02D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142.251</a:t>
            </a:r>
            <a:r>
              <a:rPr lang="en-CA" sz="12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en-CA" sz="1200">
                <a:solidFill>
                  <a:srgbClr val="FBC02D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46.78</a:t>
            </a:r>
            <a:r>
              <a:rPr lang="en-CA" sz="12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: icmp_seq</a:t>
            </a:r>
            <a:r>
              <a:rPr lang="en-CA" sz="1200">
                <a:solidFill>
                  <a:srgbClr val="4DD0E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lang="en-CA" sz="1200">
                <a:solidFill>
                  <a:srgbClr val="FBC02D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0</a:t>
            </a:r>
            <a:r>
              <a:rPr lang="en-CA" sz="12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 ttl</a:t>
            </a:r>
            <a:r>
              <a:rPr lang="en-CA" sz="1200">
                <a:solidFill>
                  <a:srgbClr val="4DD0E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lang="en-CA" sz="1200">
                <a:solidFill>
                  <a:srgbClr val="FBC02D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114</a:t>
            </a:r>
            <a:r>
              <a:rPr lang="en-CA" sz="12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 time</a:t>
            </a:r>
            <a:r>
              <a:rPr lang="en-CA" sz="1200">
                <a:solidFill>
                  <a:srgbClr val="4DD0E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lang="en-CA" sz="1200">
                <a:solidFill>
                  <a:srgbClr val="FBC02D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9.561</a:t>
            </a:r>
            <a:r>
              <a:rPr lang="en-CA" sz="12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 ms</a:t>
            </a:r>
            <a:endParaRPr sz="1200"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45720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200">
                <a:solidFill>
                  <a:srgbClr val="FBC02D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64</a:t>
            </a:r>
            <a:r>
              <a:rPr lang="en-CA" sz="12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 bytes from </a:t>
            </a:r>
            <a:r>
              <a:rPr lang="en-CA" sz="1200">
                <a:solidFill>
                  <a:srgbClr val="FBC02D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142.251</a:t>
            </a:r>
            <a:r>
              <a:rPr lang="en-CA" sz="12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en-CA" sz="1200">
                <a:solidFill>
                  <a:srgbClr val="FBC02D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46.78</a:t>
            </a:r>
            <a:r>
              <a:rPr lang="en-CA" sz="12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: icmp_seq</a:t>
            </a:r>
            <a:r>
              <a:rPr lang="en-CA" sz="1200">
                <a:solidFill>
                  <a:srgbClr val="4DD0E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lang="en-CA" sz="1200">
                <a:solidFill>
                  <a:srgbClr val="FBC02D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1</a:t>
            </a:r>
            <a:r>
              <a:rPr lang="en-CA" sz="12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 ttl</a:t>
            </a:r>
            <a:r>
              <a:rPr lang="en-CA" sz="1200">
                <a:solidFill>
                  <a:srgbClr val="4DD0E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lang="en-CA" sz="1200">
                <a:solidFill>
                  <a:srgbClr val="FBC02D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114</a:t>
            </a:r>
            <a:r>
              <a:rPr lang="en-CA" sz="12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 time</a:t>
            </a:r>
            <a:r>
              <a:rPr lang="en-CA" sz="1200">
                <a:solidFill>
                  <a:srgbClr val="4DD0E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lang="en-CA" sz="1200">
                <a:solidFill>
                  <a:srgbClr val="FBC02D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9.271</a:t>
            </a:r>
            <a:r>
              <a:rPr lang="en-CA" sz="12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 ms</a:t>
            </a:r>
            <a:endParaRPr sz="1200"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45720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200">
                <a:solidFill>
                  <a:srgbClr val="FBC02D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64</a:t>
            </a:r>
            <a:r>
              <a:rPr lang="en-CA" sz="12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 bytes from </a:t>
            </a:r>
            <a:r>
              <a:rPr lang="en-CA" sz="1200">
                <a:solidFill>
                  <a:srgbClr val="FBC02D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142.251</a:t>
            </a:r>
            <a:r>
              <a:rPr lang="en-CA" sz="12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en-CA" sz="1200">
                <a:solidFill>
                  <a:srgbClr val="FBC02D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46.78</a:t>
            </a:r>
            <a:r>
              <a:rPr lang="en-CA" sz="12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: icmp_seq</a:t>
            </a:r>
            <a:r>
              <a:rPr lang="en-CA" sz="1200">
                <a:solidFill>
                  <a:srgbClr val="4DD0E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lang="en-CA" sz="1200">
                <a:solidFill>
                  <a:srgbClr val="FBC02D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2</a:t>
            </a:r>
            <a:r>
              <a:rPr lang="en-CA" sz="12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 ttl</a:t>
            </a:r>
            <a:r>
              <a:rPr lang="en-CA" sz="1200">
                <a:solidFill>
                  <a:srgbClr val="4DD0E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lang="en-CA" sz="1200">
                <a:solidFill>
                  <a:srgbClr val="FBC02D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114</a:t>
            </a:r>
            <a:r>
              <a:rPr lang="en-CA" sz="12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 time</a:t>
            </a:r>
            <a:r>
              <a:rPr lang="en-CA" sz="1200">
                <a:solidFill>
                  <a:srgbClr val="4DD0E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lang="en-CA" sz="1200">
                <a:solidFill>
                  <a:srgbClr val="FBC02D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14.182</a:t>
            </a:r>
            <a:r>
              <a:rPr lang="en-CA" sz="12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 ms</a:t>
            </a:r>
            <a:endParaRPr sz="1200"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45720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200">
                <a:solidFill>
                  <a:srgbClr val="4DD0E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...</a:t>
            </a:r>
            <a:endParaRPr sz="120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0" name="Shape 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56"/>
          <p:cNvSpPr txBox="1"/>
          <p:nvPr>
            <p:ph type="title"/>
          </p:nvPr>
        </p:nvSpPr>
        <p:spPr>
          <a:xfrm>
            <a:off x="438954" y="560541"/>
            <a:ext cx="7886700" cy="45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CA">
                <a:solidFill>
                  <a:srgbClr val="0077C8"/>
                </a:solidFill>
              </a:rPr>
              <a:t>Exercise 4: Other useful network tools</a:t>
            </a:r>
            <a:endParaRPr>
              <a:solidFill>
                <a:srgbClr val="0077C8"/>
              </a:solidFill>
            </a:endParaRPr>
          </a:p>
        </p:txBody>
      </p:sp>
      <p:sp>
        <p:nvSpPr>
          <p:cNvPr id="542" name="Google Shape;542;p56"/>
          <p:cNvSpPr txBox="1"/>
          <p:nvPr>
            <p:ph idx="1" type="body"/>
          </p:nvPr>
        </p:nvSpPr>
        <p:spPr>
          <a:xfrm>
            <a:off x="438950" y="1131900"/>
            <a:ext cx="8538000" cy="167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Font typeface="Courier"/>
              <a:buChar char="●"/>
            </a:pPr>
            <a:r>
              <a:rPr lang="en-CA">
                <a:latin typeface="Courier"/>
                <a:ea typeface="Courier"/>
                <a:cs typeface="Courier"/>
                <a:sym typeface="Courier"/>
              </a:rPr>
              <a:t>traceroute / tracert</a:t>
            </a:r>
            <a:endParaRPr>
              <a:latin typeface="Courier"/>
              <a:ea typeface="Courier"/>
              <a:cs typeface="Courier"/>
              <a:sym typeface="Courier"/>
            </a:endParaRPr>
          </a:p>
          <a:p>
            <a:pPr indent="-323850" lvl="0" marL="914400" rtl="0" algn="l">
              <a:spcBef>
                <a:spcPts val="0"/>
              </a:spcBef>
              <a:spcAft>
                <a:spcPts val="0"/>
              </a:spcAft>
              <a:buSzPts val="1500"/>
              <a:buChar char="-"/>
            </a:pPr>
            <a:r>
              <a:rPr lang="en-CA"/>
              <a:t>Description: Shows the path (hops) packets take to a destination</a:t>
            </a:r>
            <a:endParaRPr/>
          </a:p>
          <a:p>
            <a:pPr indent="-323850" lvl="0" marL="914400" rtl="0" algn="l">
              <a:spcBef>
                <a:spcPts val="0"/>
              </a:spcBef>
              <a:spcAft>
                <a:spcPts val="0"/>
              </a:spcAft>
              <a:buSzPts val="1500"/>
              <a:buChar char="-"/>
            </a:pPr>
            <a:r>
              <a:rPr lang="en-CA"/>
              <a:t>Usage: </a:t>
            </a:r>
            <a:r>
              <a:rPr lang="en-CA">
                <a:latin typeface="Courier"/>
                <a:ea typeface="Courier"/>
                <a:cs typeface="Courier"/>
                <a:sym typeface="Courier"/>
              </a:rPr>
              <a:t>traceroute</a:t>
            </a:r>
            <a:r>
              <a:rPr lang="en-CA">
                <a:latin typeface="Courier"/>
                <a:ea typeface="Courier"/>
                <a:cs typeface="Courier"/>
                <a:sym typeface="Courier"/>
              </a:rPr>
              <a:t> &lt;host&gt;</a:t>
            </a:r>
            <a:r>
              <a:rPr lang="en-CA"/>
              <a:t> (Windows: </a:t>
            </a:r>
            <a:r>
              <a:rPr lang="en-CA">
                <a:latin typeface="Courier"/>
                <a:ea typeface="Courier"/>
                <a:cs typeface="Courier"/>
                <a:sym typeface="Courier"/>
              </a:rPr>
              <a:t>tracert</a:t>
            </a:r>
            <a:r>
              <a:rPr lang="en-CA"/>
              <a:t>)</a:t>
            </a:r>
            <a:endParaRPr/>
          </a:p>
          <a:p>
            <a:pPr indent="-323850" lvl="0" marL="914400" rtl="0" algn="l">
              <a:spcBef>
                <a:spcPts val="0"/>
              </a:spcBef>
              <a:spcAft>
                <a:spcPts val="0"/>
              </a:spcAft>
              <a:buSzPts val="1500"/>
              <a:buChar char="-"/>
            </a:pPr>
            <a:r>
              <a:rPr lang="en-CA"/>
              <a:t>Examples: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3" name="Google Shape;543;p56"/>
          <p:cNvSpPr txBox="1"/>
          <p:nvPr>
            <p:ph idx="1" type="body"/>
          </p:nvPr>
        </p:nvSpPr>
        <p:spPr>
          <a:xfrm>
            <a:off x="606000" y="2354332"/>
            <a:ext cx="7719600" cy="1838700"/>
          </a:xfrm>
          <a:prstGeom prst="rect">
            <a:avLst/>
          </a:prstGeom>
          <a:solidFill>
            <a:srgbClr val="21212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45720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4DD0E1"/>
              </a:solidFill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45720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200">
                <a:solidFill>
                  <a:srgbClr val="4DD0E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r>
              <a:rPr lang="en-CA" sz="12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 traceroute google.com</a:t>
            </a:r>
            <a:endParaRPr sz="1200"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45720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2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traceroute to google.com (</a:t>
            </a:r>
            <a:r>
              <a:rPr lang="en-CA" sz="1200">
                <a:solidFill>
                  <a:srgbClr val="FBC02D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142.251</a:t>
            </a:r>
            <a:r>
              <a:rPr lang="en-CA" sz="12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en-CA" sz="1200">
                <a:solidFill>
                  <a:srgbClr val="FBC02D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46.78</a:t>
            </a:r>
            <a:r>
              <a:rPr lang="en-CA" sz="12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), </a:t>
            </a:r>
            <a:r>
              <a:rPr lang="en-CA" sz="1200">
                <a:solidFill>
                  <a:srgbClr val="FBC02D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64</a:t>
            </a:r>
            <a:r>
              <a:rPr lang="en-CA" sz="12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 hops max, </a:t>
            </a:r>
            <a:r>
              <a:rPr lang="en-CA" sz="1200">
                <a:solidFill>
                  <a:srgbClr val="FBC02D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40</a:t>
            </a:r>
            <a:r>
              <a:rPr lang="en-CA" sz="12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 byte packets</a:t>
            </a:r>
            <a:endParaRPr sz="1200"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45720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200">
                <a:solidFill>
                  <a:srgbClr val="FBC02D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 1  206.87</a:t>
            </a:r>
            <a:r>
              <a:rPr lang="en-CA" sz="12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en-CA" sz="1200">
                <a:solidFill>
                  <a:srgbClr val="FBC02D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103.253</a:t>
            </a:r>
            <a:r>
              <a:rPr lang="en-CA" sz="12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 (</a:t>
            </a:r>
            <a:r>
              <a:rPr lang="en-CA" sz="1200">
                <a:solidFill>
                  <a:srgbClr val="FBC02D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206.87</a:t>
            </a:r>
            <a:r>
              <a:rPr lang="en-CA" sz="12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en-CA" sz="1200">
                <a:solidFill>
                  <a:srgbClr val="FBC02D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103.253</a:t>
            </a:r>
            <a:r>
              <a:rPr lang="en-CA" sz="12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)  </a:t>
            </a:r>
            <a:r>
              <a:rPr lang="en-CA" sz="1200">
                <a:solidFill>
                  <a:srgbClr val="FBC02D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6.437</a:t>
            </a:r>
            <a:r>
              <a:rPr lang="en-CA" sz="12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 ms  </a:t>
            </a:r>
            <a:r>
              <a:rPr lang="en-CA" sz="1200">
                <a:solidFill>
                  <a:srgbClr val="FBC02D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5.401</a:t>
            </a:r>
            <a:r>
              <a:rPr lang="en-CA" sz="12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 ms  </a:t>
            </a:r>
            <a:r>
              <a:rPr lang="en-CA" sz="1200">
                <a:solidFill>
                  <a:srgbClr val="FBC02D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5.237</a:t>
            </a:r>
            <a:r>
              <a:rPr lang="en-CA" sz="12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 ms</a:t>
            </a:r>
            <a:endParaRPr sz="1200"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45720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200">
                <a:solidFill>
                  <a:srgbClr val="FBC02D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 2  10.20</a:t>
            </a:r>
            <a:r>
              <a:rPr lang="en-CA" sz="12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en-CA" sz="1200">
                <a:solidFill>
                  <a:srgbClr val="FBC02D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216.29</a:t>
            </a:r>
            <a:r>
              <a:rPr lang="en-CA" sz="12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 (</a:t>
            </a:r>
            <a:r>
              <a:rPr lang="en-CA" sz="1200">
                <a:solidFill>
                  <a:srgbClr val="FBC02D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10.20</a:t>
            </a:r>
            <a:r>
              <a:rPr lang="en-CA" sz="12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en-CA" sz="1200">
                <a:solidFill>
                  <a:srgbClr val="FBC02D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216.29</a:t>
            </a:r>
            <a:r>
              <a:rPr lang="en-CA" sz="12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)  </a:t>
            </a:r>
            <a:r>
              <a:rPr lang="en-CA" sz="1200">
                <a:solidFill>
                  <a:srgbClr val="FBC02D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5.769</a:t>
            </a:r>
            <a:r>
              <a:rPr lang="en-CA" sz="12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 ms  </a:t>
            </a:r>
            <a:r>
              <a:rPr lang="en-CA" sz="1200">
                <a:solidFill>
                  <a:srgbClr val="FBC02D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8.072</a:t>
            </a:r>
            <a:r>
              <a:rPr lang="en-CA" sz="12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 ms  </a:t>
            </a:r>
            <a:r>
              <a:rPr lang="en-CA" sz="1200">
                <a:solidFill>
                  <a:srgbClr val="FBC02D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5.438</a:t>
            </a:r>
            <a:r>
              <a:rPr lang="en-CA" sz="12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 ms</a:t>
            </a:r>
            <a:endParaRPr sz="1200"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45720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200">
                <a:solidFill>
                  <a:srgbClr val="FBC02D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 3</a:t>
            </a:r>
            <a:r>
              <a:rPr lang="en-CA" sz="12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  a0</a:t>
            </a:r>
            <a:r>
              <a:rPr lang="en-CA" sz="1200">
                <a:solidFill>
                  <a:srgbClr val="4DD0E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-</a:t>
            </a:r>
            <a:r>
              <a:rPr lang="en-CA" sz="12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a34.net.ubc.ca (</a:t>
            </a:r>
            <a:r>
              <a:rPr lang="en-CA" sz="1200">
                <a:solidFill>
                  <a:srgbClr val="FBC02D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137.82</a:t>
            </a:r>
            <a:r>
              <a:rPr lang="en-CA" sz="12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en-CA" sz="1200">
                <a:solidFill>
                  <a:srgbClr val="FBC02D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124.146</a:t>
            </a:r>
            <a:r>
              <a:rPr lang="en-CA" sz="12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)  </a:t>
            </a:r>
            <a:r>
              <a:rPr lang="en-CA" sz="1200">
                <a:solidFill>
                  <a:srgbClr val="FBC02D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5.622</a:t>
            </a:r>
            <a:r>
              <a:rPr lang="en-CA" sz="12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 ms  </a:t>
            </a:r>
            <a:r>
              <a:rPr lang="en-CA" sz="1200">
                <a:solidFill>
                  <a:srgbClr val="FBC02D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5.627</a:t>
            </a:r>
            <a:r>
              <a:rPr lang="en-CA" sz="12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 ms  </a:t>
            </a:r>
            <a:r>
              <a:rPr lang="en-CA" sz="1200">
                <a:solidFill>
                  <a:srgbClr val="FBC02D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5.695</a:t>
            </a:r>
            <a:r>
              <a:rPr lang="en-CA" sz="12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 ms</a:t>
            </a:r>
            <a:endParaRPr sz="1200"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45720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200">
                <a:solidFill>
                  <a:srgbClr val="4DD0E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...</a:t>
            </a:r>
            <a:endParaRPr sz="1200">
              <a:solidFill>
                <a:srgbClr val="4DD0E1"/>
              </a:solidFill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7" name="Shape 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Google Shape;548;p57"/>
          <p:cNvSpPr txBox="1"/>
          <p:nvPr>
            <p:ph type="title"/>
          </p:nvPr>
        </p:nvSpPr>
        <p:spPr>
          <a:xfrm>
            <a:off x="438954" y="560541"/>
            <a:ext cx="7886700" cy="45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CA">
                <a:solidFill>
                  <a:srgbClr val="0077C8"/>
                </a:solidFill>
              </a:rPr>
              <a:t>Exercise 4: Other useful network tools</a:t>
            </a:r>
            <a:endParaRPr>
              <a:solidFill>
                <a:srgbClr val="0077C8"/>
              </a:solidFill>
            </a:endParaRPr>
          </a:p>
        </p:txBody>
      </p:sp>
      <p:sp>
        <p:nvSpPr>
          <p:cNvPr id="549" name="Google Shape;549;p57"/>
          <p:cNvSpPr txBox="1"/>
          <p:nvPr>
            <p:ph idx="1" type="body"/>
          </p:nvPr>
        </p:nvSpPr>
        <p:spPr>
          <a:xfrm>
            <a:off x="438950" y="1131900"/>
            <a:ext cx="8538000" cy="167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Font typeface="Courier"/>
              <a:buChar char="●"/>
            </a:pPr>
            <a:r>
              <a:rPr lang="en-CA">
                <a:latin typeface="Courier"/>
                <a:ea typeface="Courier"/>
                <a:cs typeface="Courier"/>
                <a:sym typeface="Courier"/>
              </a:rPr>
              <a:t>dig</a:t>
            </a:r>
            <a:endParaRPr>
              <a:latin typeface="Courier"/>
              <a:ea typeface="Courier"/>
              <a:cs typeface="Courier"/>
              <a:sym typeface="Courier"/>
            </a:endParaRPr>
          </a:p>
          <a:p>
            <a:pPr indent="-323850" lvl="0" marL="914400" rtl="0" algn="l">
              <a:spcBef>
                <a:spcPts val="0"/>
              </a:spcBef>
              <a:spcAft>
                <a:spcPts val="0"/>
              </a:spcAft>
              <a:buSzPts val="1500"/>
              <a:buChar char="-"/>
            </a:pPr>
            <a:r>
              <a:rPr lang="en-CA"/>
              <a:t>Description:</a:t>
            </a:r>
            <a:r>
              <a:rPr lang="en-CA"/>
              <a:t> DNS lookup (domain → IP)</a:t>
            </a:r>
            <a:endParaRPr/>
          </a:p>
          <a:p>
            <a:pPr indent="-323850" lvl="0" marL="914400" rtl="0" algn="l">
              <a:spcBef>
                <a:spcPts val="0"/>
              </a:spcBef>
              <a:spcAft>
                <a:spcPts val="0"/>
              </a:spcAft>
              <a:buSzPts val="1500"/>
              <a:buChar char="-"/>
            </a:pPr>
            <a:r>
              <a:rPr lang="en-CA"/>
              <a:t>Usage: </a:t>
            </a:r>
            <a:r>
              <a:rPr lang="en-CA">
                <a:latin typeface="Courier"/>
                <a:ea typeface="Courier"/>
                <a:cs typeface="Courier"/>
                <a:sym typeface="Courier"/>
              </a:rPr>
              <a:t>dig</a:t>
            </a:r>
            <a:r>
              <a:rPr lang="en-CA">
                <a:latin typeface="Courier"/>
                <a:ea typeface="Courier"/>
                <a:cs typeface="Courier"/>
                <a:sym typeface="Courier"/>
              </a:rPr>
              <a:t> &lt;domain&gt;</a:t>
            </a:r>
            <a:endParaRPr/>
          </a:p>
          <a:p>
            <a:pPr indent="-323850" lvl="0" marL="914400" rtl="0" algn="l">
              <a:spcBef>
                <a:spcPts val="0"/>
              </a:spcBef>
              <a:spcAft>
                <a:spcPts val="0"/>
              </a:spcAft>
              <a:buSzPts val="1500"/>
              <a:buChar char="-"/>
            </a:pPr>
            <a:r>
              <a:rPr lang="en-CA"/>
              <a:t>Examples: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0" name="Google Shape;550;p57"/>
          <p:cNvSpPr txBox="1"/>
          <p:nvPr>
            <p:ph idx="1" type="body"/>
          </p:nvPr>
        </p:nvSpPr>
        <p:spPr>
          <a:xfrm>
            <a:off x="606000" y="2354325"/>
            <a:ext cx="7719600" cy="2377200"/>
          </a:xfrm>
          <a:prstGeom prst="rect">
            <a:avLst/>
          </a:prstGeom>
          <a:solidFill>
            <a:srgbClr val="21212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45720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4DD0E1"/>
              </a:solidFill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45720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200">
                <a:solidFill>
                  <a:srgbClr val="4DD0E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r>
              <a:rPr lang="en-CA" sz="12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 dig google.com</a:t>
            </a:r>
            <a:endParaRPr sz="1200"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45720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2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; &lt;&lt;&gt;&gt; DiG </a:t>
            </a:r>
            <a:r>
              <a:rPr lang="en-CA" sz="1200">
                <a:solidFill>
                  <a:srgbClr val="FBC02D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9</a:t>
            </a:r>
            <a:r>
              <a:rPr lang="en-CA" sz="12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en-CA" sz="1200">
                <a:solidFill>
                  <a:srgbClr val="FBC02D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10</a:t>
            </a:r>
            <a:r>
              <a:rPr lang="en-CA" sz="12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en-CA" sz="1200">
                <a:solidFill>
                  <a:srgbClr val="FBC02D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6</a:t>
            </a:r>
            <a:r>
              <a:rPr lang="en-CA" sz="12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 &lt;&lt;&gt;&gt; google.com</a:t>
            </a:r>
            <a:endParaRPr sz="1200"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45720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45720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2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;; </a:t>
            </a:r>
            <a:r>
              <a:rPr lang="en-CA" sz="1200">
                <a:solidFill>
                  <a:srgbClr val="FBC02D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QUESTION SECTION</a:t>
            </a:r>
            <a:r>
              <a:rPr lang="en-CA" sz="12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:</a:t>
            </a:r>
            <a:endParaRPr sz="1200"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45720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2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;google.com.            </a:t>
            </a:r>
            <a:r>
              <a:rPr lang="en-CA" sz="1200">
                <a:solidFill>
                  <a:srgbClr val="FBC02D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IN    A</a:t>
            </a:r>
            <a:endParaRPr sz="1200"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45720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45720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2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;; </a:t>
            </a:r>
            <a:r>
              <a:rPr lang="en-CA" sz="1200">
                <a:solidFill>
                  <a:srgbClr val="FBC02D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ANSWER SECTION</a:t>
            </a:r>
            <a:r>
              <a:rPr lang="en-CA" sz="12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:</a:t>
            </a:r>
            <a:endParaRPr sz="1200"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45720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CA" sz="12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google.com.        </a:t>
            </a:r>
            <a:r>
              <a:rPr lang="en-CA" sz="1200">
                <a:solidFill>
                  <a:srgbClr val="FBC02D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261    IN    A    142.251.46.78</a:t>
            </a:r>
            <a:endParaRPr sz="1200">
              <a:solidFill>
                <a:srgbClr val="FBC02D"/>
              </a:solidFill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45720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4DD0E1"/>
              </a:solidFill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4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p58"/>
          <p:cNvSpPr txBox="1"/>
          <p:nvPr>
            <p:ph type="title"/>
          </p:nvPr>
        </p:nvSpPr>
        <p:spPr>
          <a:xfrm>
            <a:off x="438954" y="560541"/>
            <a:ext cx="7886700" cy="45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CA">
                <a:solidFill>
                  <a:srgbClr val="0077C8"/>
                </a:solidFill>
              </a:rPr>
              <a:t>Exercise 4: </a:t>
            </a:r>
            <a:r>
              <a:rPr lang="en-CA">
                <a:solidFill>
                  <a:srgbClr val="0077C8"/>
                </a:solidFill>
              </a:rPr>
              <a:t>Other useful network tools</a:t>
            </a:r>
            <a:endParaRPr>
              <a:solidFill>
                <a:srgbClr val="0077C8"/>
              </a:solidFill>
            </a:endParaRPr>
          </a:p>
        </p:txBody>
      </p:sp>
      <p:sp>
        <p:nvSpPr>
          <p:cNvPr id="556" name="Google Shape;556;p58"/>
          <p:cNvSpPr txBox="1"/>
          <p:nvPr>
            <p:ph idx="1" type="body"/>
          </p:nvPr>
        </p:nvSpPr>
        <p:spPr>
          <a:xfrm>
            <a:off x="438950" y="1131900"/>
            <a:ext cx="8538000" cy="167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Font typeface="Courier"/>
              <a:buChar char="●"/>
            </a:pPr>
            <a:r>
              <a:rPr lang="en-CA">
                <a:latin typeface="Courier"/>
                <a:ea typeface="Courier"/>
                <a:cs typeface="Courier"/>
                <a:sym typeface="Courier"/>
              </a:rPr>
              <a:t>ip / ifconfig</a:t>
            </a:r>
            <a:endParaRPr>
              <a:latin typeface="Courier"/>
              <a:ea typeface="Courier"/>
              <a:cs typeface="Courier"/>
              <a:sym typeface="Courier"/>
            </a:endParaRPr>
          </a:p>
          <a:p>
            <a:pPr indent="-323850" lvl="0" marL="914400" rtl="0" algn="l">
              <a:spcBef>
                <a:spcPts val="0"/>
              </a:spcBef>
              <a:spcAft>
                <a:spcPts val="0"/>
              </a:spcAft>
              <a:buSzPts val="1500"/>
              <a:buChar char="-"/>
            </a:pPr>
            <a:r>
              <a:rPr lang="en-CA"/>
              <a:t>Displays local network configuration (IP, interfaces)</a:t>
            </a:r>
            <a:endParaRPr/>
          </a:p>
          <a:p>
            <a:pPr indent="-323850" lvl="0" marL="914400" rtl="0" algn="l">
              <a:spcBef>
                <a:spcPts val="0"/>
              </a:spcBef>
              <a:spcAft>
                <a:spcPts val="0"/>
              </a:spcAft>
              <a:buSzPts val="1500"/>
              <a:buChar char="-"/>
            </a:pPr>
            <a:r>
              <a:rPr lang="en-CA"/>
              <a:t>Usage: </a:t>
            </a:r>
            <a:r>
              <a:rPr lang="en-CA">
                <a:latin typeface="Courier"/>
                <a:ea typeface="Courier"/>
                <a:cs typeface="Courier"/>
                <a:sym typeface="Courier"/>
              </a:rPr>
              <a:t>ip a</a:t>
            </a:r>
            <a:r>
              <a:rPr lang="en-CA"/>
              <a:t> or </a:t>
            </a:r>
            <a:r>
              <a:rPr lang="en-CA">
                <a:latin typeface="Courier"/>
                <a:ea typeface="Courier"/>
                <a:cs typeface="Courier"/>
                <a:sym typeface="Courier"/>
              </a:rPr>
              <a:t>ifconfig</a:t>
            </a:r>
            <a:endParaRPr/>
          </a:p>
          <a:p>
            <a:pPr indent="-323850" lvl="0" marL="914400" rtl="0" algn="l">
              <a:spcBef>
                <a:spcPts val="0"/>
              </a:spcBef>
              <a:spcAft>
                <a:spcPts val="0"/>
              </a:spcAft>
              <a:buSzPts val="1500"/>
              <a:buChar char="-"/>
            </a:pPr>
            <a:r>
              <a:rPr lang="en-CA"/>
              <a:t>Examples: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7" name="Google Shape;557;p58"/>
          <p:cNvSpPr txBox="1"/>
          <p:nvPr>
            <p:ph idx="1" type="body"/>
          </p:nvPr>
        </p:nvSpPr>
        <p:spPr>
          <a:xfrm>
            <a:off x="606000" y="2354325"/>
            <a:ext cx="7719600" cy="2159700"/>
          </a:xfrm>
          <a:prstGeom prst="rect">
            <a:avLst/>
          </a:prstGeom>
          <a:solidFill>
            <a:srgbClr val="21212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45720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ECEFF1"/>
              </a:solidFill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45720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200">
                <a:solidFill>
                  <a:srgbClr val="4DD0E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r>
              <a:rPr lang="en-CA" sz="12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 ip a</a:t>
            </a:r>
            <a:endParaRPr sz="1200"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45720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2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1: lo: &lt;</a:t>
            </a:r>
            <a:r>
              <a:rPr lang="en-CA" sz="1200">
                <a:solidFill>
                  <a:srgbClr val="FBC02D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LOOPBACK</a:t>
            </a:r>
            <a:r>
              <a:rPr lang="en-CA" sz="12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,</a:t>
            </a:r>
            <a:r>
              <a:rPr lang="en-CA" sz="1200">
                <a:solidFill>
                  <a:srgbClr val="FBC02D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UP</a:t>
            </a:r>
            <a:r>
              <a:rPr lang="en-CA" sz="12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,</a:t>
            </a:r>
            <a:r>
              <a:rPr lang="en-CA" sz="1200">
                <a:solidFill>
                  <a:srgbClr val="FBC02D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LOWER_UP</a:t>
            </a:r>
            <a:r>
              <a:rPr lang="en-CA" sz="12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endParaRPr sz="1200"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45720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2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    inet </a:t>
            </a:r>
            <a:r>
              <a:rPr lang="en-CA" sz="1200">
                <a:solidFill>
                  <a:srgbClr val="FBC02D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127.0.0.1/8</a:t>
            </a:r>
            <a:endParaRPr sz="1200">
              <a:solidFill>
                <a:srgbClr val="FBC02D"/>
              </a:solidFill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45720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2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2: eno1: &lt;</a:t>
            </a:r>
            <a:r>
              <a:rPr lang="en-CA" sz="1200">
                <a:solidFill>
                  <a:srgbClr val="FBC02D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BROADCAST</a:t>
            </a:r>
            <a:r>
              <a:rPr lang="en-CA" sz="12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,</a:t>
            </a:r>
            <a:r>
              <a:rPr lang="en-CA" sz="1200">
                <a:solidFill>
                  <a:srgbClr val="FBC02D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MULTICAST</a:t>
            </a:r>
            <a:r>
              <a:rPr lang="en-CA" sz="12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,</a:t>
            </a:r>
            <a:r>
              <a:rPr lang="en-CA" sz="1200">
                <a:solidFill>
                  <a:srgbClr val="FBC02D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UP</a:t>
            </a:r>
            <a:r>
              <a:rPr lang="en-CA" sz="12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,</a:t>
            </a:r>
            <a:r>
              <a:rPr lang="en-CA" sz="1200">
                <a:solidFill>
                  <a:srgbClr val="FBC02D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LOWER_UP</a:t>
            </a:r>
            <a:r>
              <a:rPr lang="en-CA" sz="12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endParaRPr sz="1200"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45720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2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    inet </a:t>
            </a:r>
            <a:r>
              <a:rPr lang="en-CA" sz="1200">
                <a:solidFill>
                  <a:srgbClr val="FBC02D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198.162.33.17/24</a:t>
            </a:r>
            <a:endParaRPr sz="1200">
              <a:solidFill>
                <a:srgbClr val="FBC02D"/>
              </a:solidFill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2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    	    inet6 </a:t>
            </a:r>
            <a:r>
              <a:rPr lang="en-CA" sz="1200">
                <a:solidFill>
                  <a:srgbClr val="FBC02D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fe80::2eea:7fff:fe9e:5122/64</a:t>
            </a:r>
            <a:endParaRPr sz="1200">
              <a:solidFill>
                <a:srgbClr val="FBC02D"/>
              </a:solidFill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200">
                <a:solidFill>
                  <a:srgbClr val="FBC02D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	</a:t>
            </a:r>
            <a:r>
              <a:rPr lang="en-CA" sz="1200">
                <a:solidFill>
                  <a:srgbClr val="4DD0E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...</a:t>
            </a:r>
            <a:endParaRPr sz="1200">
              <a:solidFill>
                <a:srgbClr val="FBC02D"/>
              </a:solidFill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1" name="Shape 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2" name="Google Shape;562;p59"/>
          <p:cNvSpPr txBox="1"/>
          <p:nvPr>
            <p:ph idx="1" type="body"/>
          </p:nvPr>
        </p:nvSpPr>
        <p:spPr>
          <a:xfrm>
            <a:off x="438950" y="1131900"/>
            <a:ext cx="8538000" cy="369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-CA"/>
              <a:t>Sockets: Endpoint for communication between two programs over a network</a:t>
            </a:r>
            <a:endParaRPr/>
          </a:p>
          <a:p>
            <a:pPr indent="-323850" lvl="0" marL="914400" rtl="0" algn="l">
              <a:spcBef>
                <a:spcPts val="0"/>
              </a:spcBef>
              <a:spcAft>
                <a:spcPts val="0"/>
              </a:spcAft>
              <a:buSzPts val="1500"/>
              <a:buChar char="-"/>
            </a:pPr>
            <a:r>
              <a:rPr lang="en-CA"/>
              <a:t>Identified by the </a:t>
            </a:r>
            <a:r>
              <a:rPr lang="en-CA">
                <a:latin typeface="Courier"/>
                <a:ea typeface="Courier"/>
                <a:cs typeface="Courier"/>
                <a:sym typeface="Courier"/>
              </a:rPr>
              <a:t>&lt;IP Address, Port&gt;</a:t>
            </a:r>
            <a:r>
              <a:rPr lang="en-CA"/>
              <a:t> pair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-CA"/>
              <a:t>Important Clarification</a:t>
            </a:r>
            <a:endParaRPr/>
          </a:p>
          <a:p>
            <a:pPr indent="-323850" lvl="0" marL="914400" rtl="0" algn="l">
              <a:spcBef>
                <a:spcPts val="0"/>
              </a:spcBef>
              <a:spcAft>
                <a:spcPts val="0"/>
              </a:spcAft>
              <a:buSzPts val="1500"/>
              <a:buChar char="-"/>
            </a:pPr>
            <a:r>
              <a:rPr lang="en-CA"/>
              <a:t>A device is identified by an </a:t>
            </a:r>
            <a:r>
              <a:rPr b="1" lang="en-CA"/>
              <a:t>IP address</a:t>
            </a:r>
            <a:endParaRPr b="1"/>
          </a:p>
          <a:p>
            <a:pPr indent="-323850" lvl="0" marL="914400" rtl="0" algn="l">
              <a:spcBef>
                <a:spcPts val="0"/>
              </a:spcBef>
              <a:spcAft>
                <a:spcPts val="0"/>
              </a:spcAft>
              <a:buSzPts val="1500"/>
              <a:buChar char="-"/>
            </a:pPr>
            <a:r>
              <a:rPr lang="en-CA"/>
              <a:t>A specific process (program) is identified by a </a:t>
            </a:r>
            <a:r>
              <a:rPr b="1" lang="en-CA"/>
              <a:t>socket</a:t>
            </a:r>
            <a:r>
              <a:rPr lang="en-CA"/>
              <a:t> (IP + Port)</a:t>
            </a:r>
            <a:endParaRPr/>
          </a:p>
          <a:p>
            <a:pPr indent="-323850" lvl="0" marL="914400" rtl="0" algn="l">
              <a:spcBef>
                <a:spcPts val="0"/>
              </a:spcBef>
              <a:spcAft>
                <a:spcPts val="0"/>
              </a:spcAft>
              <a:buSzPts val="1500"/>
              <a:buChar char="-"/>
            </a:pPr>
            <a:r>
              <a:rPr lang="en-CA"/>
              <a:t>      were sockets!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-CA"/>
              <a:t>Socket programming is available in many languages</a:t>
            </a:r>
            <a:endParaRPr/>
          </a:p>
          <a:p>
            <a:pPr indent="-323850" lvl="0" marL="914400" rtl="0" algn="l">
              <a:spcBef>
                <a:spcPts val="0"/>
              </a:spcBef>
              <a:spcAft>
                <a:spcPts val="0"/>
              </a:spcAft>
              <a:buSzPts val="1500"/>
              <a:buChar char="-"/>
            </a:pPr>
            <a:r>
              <a:rPr lang="en-CA"/>
              <a:t>This course focuses on </a:t>
            </a:r>
            <a:r>
              <a:rPr b="1" lang="en-CA"/>
              <a:t>Java</a:t>
            </a:r>
            <a:r>
              <a:rPr lang="en-CA"/>
              <a:t> and </a:t>
            </a:r>
            <a:r>
              <a:rPr b="1" lang="en-CA"/>
              <a:t>C</a:t>
            </a:r>
            <a:r>
              <a:rPr lang="en-CA"/>
              <a:t>, starting with Java</a:t>
            </a:r>
            <a:endParaRPr/>
          </a:p>
          <a:p>
            <a:pPr indent="-323850" lvl="0" marL="914400" rtl="0" algn="l">
              <a:spcBef>
                <a:spcPts val="0"/>
              </a:spcBef>
              <a:spcAft>
                <a:spcPts val="0"/>
              </a:spcAft>
              <a:buSzPts val="1500"/>
              <a:buChar char="-"/>
            </a:pPr>
            <a:r>
              <a:rPr lang="en-CA" u="sng">
                <a:solidFill>
                  <a:schemeClr val="hlink"/>
                </a:solidFill>
                <a:hlinkClick r:id="rId3"/>
              </a:rPr>
              <a:t>Java Socket Tutorial</a:t>
            </a:r>
            <a:endParaRPr/>
          </a:p>
        </p:txBody>
      </p:sp>
      <p:sp>
        <p:nvSpPr>
          <p:cNvPr id="563" name="Google Shape;563;p59"/>
          <p:cNvSpPr txBox="1"/>
          <p:nvPr>
            <p:ph type="title"/>
          </p:nvPr>
        </p:nvSpPr>
        <p:spPr>
          <a:xfrm>
            <a:off x="438954" y="560541"/>
            <a:ext cx="7886700" cy="45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CA">
                <a:solidFill>
                  <a:srgbClr val="0077C8"/>
                </a:solidFill>
              </a:rPr>
              <a:t>Exercise 5: Socket programming in Java</a:t>
            </a:r>
            <a:endParaRPr>
              <a:solidFill>
                <a:srgbClr val="0077C8"/>
              </a:solidFill>
            </a:endParaRPr>
          </a:p>
        </p:txBody>
      </p:sp>
      <p:sp>
        <p:nvSpPr>
          <p:cNvPr id="564" name="Google Shape;564;p59"/>
          <p:cNvSpPr/>
          <p:nvPr/>
        </p:nvSpPr>
        <p:spPr>
          <a:xfrm>
            <a:off x="1294394" y="2912416"/>
            <a:ext cx="239700" cy="239700"/>
          </a:xfrm>
          <a:prstGeom prst="ellipse">
            <a:avLst/>
          </a:prstGeom>
          <a:solidFill>
            <a:srgbClr val="FF0000"/>
          </a:solidFill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urier"/>
              <a:ea typeface="Courier"/>
              <a:cs typeface="Courier"/>
              <a:sym typeface="Courier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8" name="Shape 5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9" name="Google Shape;569;p60"/>
          <p:cNvSpPr txBox="1"/>
          <p:nvPr>
            <p:ph idx="1" type="body"/>
          </p:nvPr>
        </p:nvSpPr>
        <p:spPr>
          <a:xfrm>
            <a:off x="438950" y="1131900"/>
            <a:ext cx="8538000" cy="3848100"/>
          </a:xfrm>
          <a:prstGeom prst="rect">
            <a:avLst/>
          </a:prstGeom>
          <a:solidFill>
            <a:srgbClr val="21212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ECEFF1"/>
              </a:solidFill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0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Socket socket </a:t>
            </a:r>
            <a:r>
              <a:rPr lang="en-CA" sz="1000">
                <a:solidFill>
                  <a:srgbClr val="4DD0E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= new</a:t>
            </a:r>
            <a:r>
              <a:rPr lang="en-CA" sz="1000">
                <a:solidFill>
                  <a:srgbClr val="CE93D8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 Socket</a:t>
            </a:r>
            <a:r>
              <a:rPr lang="en-CA" sz="10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en-CA" sz="1000">
                <a:solidFill>
                  <a:srgbClr val="9CCC65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"localhost"</a:t>
            </a:r>
            <a:r>
              <a:rPr lang="en-CA" sz="10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, </a:t>
            </a:r>
            <a:r>
              <a:rPr lang="en-CA" sz="1000">
                <a:solidFill>
                  <a:srgbClr val="FBC02D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4444</a:t>
            </a:r>
            <a:r>
              <a:rPr lang="en-CA" sz="10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);</a:t>
            </a:r>
            <a:endParaRPr sz="1000"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0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PrintWriter out </a:t>
            </a:r>
            <a:r>
              <a:rPr lang="en-CA" sz="1000">
                <a:solidFill>
                  <a:srgbClr val="4DD0E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= new</a:t>
            </a:r>
            <a:r>
              <a:rPr lang="en-CA" sz="1000">
                <a:solidFill>
                  <a:srgbClr val="CE93D8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 PrintWriter</a:t>
            </a:r>
            <a:r>
              <a:rPr lang="en-CA" sz="10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(socket.</a:t>
            </a:r>
            <a:r>
              <a:rPr lang="en-CA" sz="1000">
                <a:solidFill>
                  <a:srgbClr val="CE93D8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getOutputStream</a:t>
            </a:r>
            <a:r>
              <a:rPr lang="en-CA" sz="10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(), </a:t>
            </a:r>
            <a:r>
              <a:rPr lang="en-CA" sz="1000">
                <a:solidFill>
                  <a:srgbClr val="FBC02D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true</a:t>
            </a:r>
            <a:r>
              <a:rPr lang="en-CA" sz="10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);</a:t>
            </a:r>
            <a:endParaRPr sz="1000"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0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BufferedReader </a:t>
            </a:r>
            <a:r>
              <a:rPr lang="en-CA" sz="1000">
                <a:solidFill>
                  <a:srgbClr val="4DD0E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in = new</a:t>
            </a:r>
            <a:r>
              <a:rPr lang="en-CA" sz="1000">
                <a:solidFill>
                  <a:srgbClr val="CE93D8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 BufferedReader</a:t>
            </a:r>
            <a:r>
              <a:rPr lang="en-CA" sz="10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(</a:t>
            </a:r>
            <a:endParaRPr sz="1000"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000">
                <a:solidFill>
                  <a:srgbClr val="4DD0E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    new</a:t>
            </a:r>
            <a:r>
              <a:rPr lang="en-CA" sz="1000">
                <a:solidFill>
                  <a:srgbClr val="CE93D8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 InputStreamReader</a:t>
            </a:r>
            <a:r>
              <a:rPr lang="en-CA" sz="10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(socket.</a:t>
            </a:r>
            <a:r>
              <a:rPr lang="en-CA" sz="1000">
                <a:solidFill>
                  <a:srgbClr val="CE93D8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getInputStream</a:t>
            </a:r>
            <a:r>
              <a:rPr lang="en-CA" sz="10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())</a:t>
            </a:r>
            <a:endParaRPr sz="1000"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0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);</a:t>
            </a:r>
            <a:endParaRPr sz="1000"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000">
                <a:solidFill>
                  <a:srgbClr val="F06292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// send</a:t>
            </a:r>
            <a:endParaRPr sz="1000"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0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out.</a:t>
            </a:r>
            <a:r>
              <a:rPr lang="en-CA" sz="1000">
                <a:solidFill>
                  <a:srgbClr val="CE93D8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println</a:t>
            </a:r>
            <a:r>
              <a:rPr lang="en-CA" sz="10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en-CA" sz="1000">
                <a:solidFill>
                  <a:srgbClr val="9CCC65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"Hello"</a:t>
            </a:r>
            <a:r>
              <a:rPr lang="en-CA" sz="10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);</a:t>
            </a:r>
            <a:endParaRPr sz="1000"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000">
                <a:solidFill>
                  <a:srgbClr val="F06292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// receive</a:t>
            </a:r>
            <a:endParaRPr sz="1000"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0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String response </a:t>
            </a:r>
            <a:r>
              <a:rPr lang="en-CA" sz="1000">
                <a:solidFill>
                  <a:srgbClr val="4DD0E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lang="en-CA" sz="10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 in.</a:t>
            </a:r>
            <a:r>
              <a:rPr lang="en-CA" sz="1000">
                <a:solidFill>
                  <a:srgbClr val="CE93D8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readLine</a:t>
            </a:r>
            <a:r>
              <a:rPr lang="en-CA" sz="10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();</a:t>
            </a:r>
            <a:endParaRPr sz="1000"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0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System.out.</a:t>
            </a:r>
            <a:r>
              <a:rPr lang="en-CA" sz="1000">
                <a:solidFill>
                  <a:srgbClr val="CE93D8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println</a:t>
            </a:r>
            <a:r>
              <a:rPr lang="en-CA" sz="10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(response);</a:t>
            </a:r>
            <a:endParaRPr sz="1000"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000">
                <a:solidFill>
                  <a:srgbClr val="F06292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// close</a:t>
            </a:r>
            <a:endParaRPr sz="1000"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45720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CA" sz="10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socket.</a:t>
            </a:r>
            <a:r>
              <a:rPr lang="en-CA" sz="1000">
                <a:solidFill>
                  <a:srgbClr val="CE93D8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close</a:t>
            </a:r>
            <a:r>
              <a:rPr lang="en-CA" sz="10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();</a:t>
            </a:r>
            <a:endParaRPr sz="1000">
              <a:solidFill>
                <a:srgbClr val="ECEFF1"/>
              </a:solidFill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/>
          </a:p>
        </p:txBody>
      </p:sp>
      <p:sp>
        <p:nvSpPr>
          <p:cNvPr id="570" name="Google Shape;570;p60"/>
          <p:cNvSpPr txBox="1"/>
          <p:nvPr>
            <p:ph type="title"/>
          </p:nvPr>
        </p:nvSpPr>
        <p:spPr>
          <a:xfrm>
            <a:off x="438954" y="560541"/>
            <a:ext cx="7886700" cy="45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CA">
                <a:solidFill>
                  <a:srgbClr val="0077C8"/>
                </a:solidFill>
              </a:rPr>
              <a:t>Exercise 5: Socket programming in Java (Client)</a:t>
            </a:r>
            <a:endParaRPr>
              <a:solidFill>
                <a:srgbClr val="0077C8"/>
              </a:solidFill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4" name="Shape 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5" name="Google Shape;575;p61"/>
          <p:cNvSpPr txBox="1"/>
          <p:nvPr>
            <p:ph idx="1" type="body"/>
          </p:nvPr>
        </p:nvSpPr>
        <p:spPr>
          <a:xfrm>
            <a:off x="438950" y="1131900"/>
            <a:ext cx="8538000" cy="3848100"/>
          </a:xfrm>
          <a:prstGeom prst="rect">
            <a:avLst/>
          </a:prstGeom>
          <a:solidFill>
            <a:srgbClr val="21212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ECEFF1"/>
              </a:solidFill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0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ServerSocket serverSocket </a:t>
            </a:r>
            <a:r>
              <a:rPr lang="en-CA" sz="1000">
                <a:solidFill>
                  <a:srgbClr val="4DD0E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= new</a:t>
            </a:r>
            <a:r>
              <a:rPr lang="en-CA" sz="1000">
                <a:solidFill>
                  <a:srgbClr val="CE93D8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 ServerSocket</a:t>
            </a:r>
            <a:r>
              <a:rPr lang="en-CA" sz="10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en-CA" sz="1000">
                <a:solidFill>
                  <a:srgbClr val="FBC02D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4444</a:t>
            </a:r>
            <a:r>
              <a:rPr lang="en-CA" sz="10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);</a:t>
            </a:r>
            <a:endParaRPr sz="1000"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0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Socket clientSocket </a:t>
            </a:r>
            <a:r>
              <a:rPr lang="en-CA" sz="1000">
                <a:solidFill>
                  <a:srgbClr val="4DD0E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lang="en-CA" sz="10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 serverSocket.</a:t>
            </a:r>
            <a:r>
              <a:rPr lang="en-CA" sz="1000">
                <a:solidFill>
                  <a:srgbClr val="CE93D8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accept</a:t>
            </a:r>
            <a:r>
              <a:rPr lang="en-CA" sz="10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();</a:t>
            </a:r>
            <a:endParaRPr sz="1000"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0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BufferedReader </a:t>
            </a:r>
            <a:r>
              <a:rPr lang="en-CA" sz="1000">
                <a:solidFill>
                  <a:srgbClr val="4DD0E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in = new</a:t>
            </a:r>
            <a:r>
              <a:rPr lang="en-CA" sz="1000">
                <a:solidFill>
                  <a:srgbClr val="CE93D8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 BufferedReader</a:t>
            </a:r>
            <a:r>
              <a:rPr lang="en-CA" sz="10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(</a:t>
            </a:r>
            <a:endParaRPr sz="1000"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000">
                <a:solidFill>
                  <a:srgbClr val="4DD0E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    new</a:t>
            </a:r>
            <a:r>
              <a:rPr lang="en-CA" sz="1000">
                <a:solidFill>
                  <a:srgbClr val="CE93D8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 InputStreamReader</a:t>
            </a:r>
            <a:r>
              <a:rPr lang="en-CA" sz="10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(clientSocket.</a:t>
            </a:r>
            <a:r>
              <a:rPr lang="en-CA" sz="1000">
                <a:solidFill>
                  <a:srgbClr val="CE93D8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getInputStream</a:t>
            </a:r>
            <a:r>
              <a:rPr lang="en-CA" sz="10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())</a:t>
            </a:r>
            <a:endParaRPr sz="1000"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0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);</a:t>
            </a:r>
            <a:endParaRPr sz="1000"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0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PrintWriter out </a:t>
            </a:r>
            <a:r>
              <a:rPr lang="en-CA" sz="1000">
                <a:solidFill>
                  <a:srgbClr val="4DD0E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= new</a:t>
            </a:r>
            <a:r>
              <a:rPr lang="en-CA" sz="1000">
                <a:solidFill>
                  <a:srgbClr val="CE93D8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 PrintWriter</a:t>
            </a:r>
            <a:r>
              <a:rPr lang="en-CA" sz="10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(clientSocket.</a:t>
            </a:r>
            <a:r>
              <a:rPr lang="en-CA" sz="1000">
                <a:solidFill>
                  <a:srgbClr val="CE93D8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getOutputStream</a:t>
            </a:r>
            <a:r>
              <a:rPr lang="en-CA" sz="10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(), </a:t>
            </a:r>
            <a:r>
              <a:rPr lang="en-CA" sz="1000">
                <a:solidFill>
                  <a:srgbClr val="FBC02D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true</a:t>
            </a:r>
            <a:r>
              <a:rPr lang="en-CA" sz="10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);</a:t>
            </a:r>
            <a:endParaRPr sz="1000"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000">
                <a:solidFill>
                  <a:srgbClr val="F06292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// receive</a:t>
            </a:r>
            <a:endParaRPr sz="1000"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0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String message </a:t>
            </a:r>
            <a:r>
              <a:rPr lang="en-CA" sz="1000">
                <a:solidFill>
                  <a:srgbClr val="4DD0E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lang="en-CA" sz="10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 in.</a:t>
            </a:r>
            <a:r>
              <a:rPr lang="en-CA" sz="1000">
                <a:solidFill>
                  <a:srgbClr val="CE93D8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readLine</a:t>
            </a:r>
            <a:r>
              <a:rPr lang="en-CA" sz="10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();</a:t>
            </a:r>
            <a:endParaRPr sz="1000"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000">
                <a:solidFill>
                  <a:srgbClr val="F06292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// send</a:t>
            </a:r>
            <a:endParaRPr sz="1000"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0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out.</a:t>
            </a:r>
            <a:r>
              <a:rPr lang="en-CA" sz="1000">
                <a:solidFill>
                  <a:srgbClr val="CE93D8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println</a:t>
            </a:r>
            <a:r>
              <a:rPr lang="en-CA" sz="10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en-CA" sz="1000">
                <a:solidFill>
                  <a:srgbClr val="9CCC65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"Echo: "</a:t>
            </a:r>
            <a:r>
              <a:rPr lang="en-CA" sz="1000">
                <a:solidFill>
                  <a:srgbClr val="4DD0E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 +</a:t>
            </a:r>
            <a:r>
              <a:rPr lang="en-CA" sz="10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 message);</a:t>
            </a:r>
            <a:endParaRPr sz="1000"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000">
                <a:solidFill>
                  <a:srgbClr val="F06292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// close</a:t>
            </a:r>
            <a:endParaRPr sz="1000"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0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clientSocket.</a:t>
            </a:r>
            <a:r>
              <a:rPr lang="en-CA" sz="1000">
                <a:solidFill>
                  <a:srgbClr val="CE93D8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close</a:t>
            </a:r>
            <a:r>
              <a:rPr lang="en-CA" sz="10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();</a:t>
            </a:r>
            <a:endParaRPr sz="1000"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45720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0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serverSocket.</a:t>
            </a:r>
            <a:r>
              <a:rPr lang="en-CA" sz="1000">
                <a:solidFill>
                  <a:srgbClr val="CE93D8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close</a:t>
            </a:r>
            <a:r>
              <a:rPr lang="en-CA" sz="1000">
                <a:solidFill>
                  <a:srgbClr val="ECEFF1"/>
                </a:solidFill>
                <a:highlight>
                  <a:schemeClr val="accent2"/>
                </a:highlight>
                <a:latin typeface="Roboto Mono"/>
                <a:ea typeface="Roboto Mono"/>
                <a:cs typeface="Roboto Mono"/>
                <a:sym typeface="Roboto Mono"/>
              </a:rPr>
              <a:t>();</a:t>
            </a:r>
            <a:endParaRPr sz="1000">
              <a:solidFill>
                <a:srgbClr val="ECEFF1"/>
              </a:solidFill>
              <a:highlight>
                <a:schemeClr val="accent2"/>
              </a:highlight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576" name="Google Shape;576;p61"/>
          <p:cNvSpPr txBox="1"/>
          <p:nvPr>
            <p:ph type="title"/>
          </p:nvPr>
        </p:nvSpPr>
        <p:spPr>
          <a:xfrm>
            <a:off x="438954" y="560541"/>
            <a:ext cx="7886700" cy="45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CA">
                <a:solidFill>
                  <a:srgbClr val="0077C8"/>
                </a:solidFill>
              </a:rPr>
              <a:t>Exercise 5: Socket programming in Java (Server)</a:t>
            </a:r>
            <a:endParaRPr>
              <a:solidFill>
                <a:srgbClr val="0077C8"/>
              </a:solidFill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0" name="Shape 5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1" name="Google Shape;581;p62"/>
          <p:cNvSpPr/>
          <p:nvPr/>
        </p:nvSpPr>
        <p:spPr>
          <a:xfrm>
            <a:off x="5805638" y="1728475"/>
            <a:ext cx="2520000" cy="2520000"/>
          </a:xfrm>
          <a:prstGeom prst="rect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2" name="Google Shape;582;p62"/>
          <p:cNvSpPr/>
          <p:nvPr/>
        </p:nvSpPr>
        <p:spPr>
          <a:xfrm rot="-5400000">
            <a:off x="6759648" y="2689973"/>
            <a:ext cx="1260000" cy="597000"/>
          </a:xfrm>
          <a:prstGeom prst="rect">
            <a:avLst/>
          </a:prstGeom>
          <a:solidFill>
            <a:srgbClr val="F4CCCC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Protocol</a:t>
            </a:r>
            <a:endParaRPr/>
          </a:p>
        </p:txBody>
      </p:sp>
      <p:sp>
        <p:nvSpPr>
          <p:cNvPr id="583" name="Google Shape;583;p62"/>
          <p:cNvSpPr/>
          <p:nvPr/>
        </p:nvSpPr>
        <p:spPr>
          <a:xfrm>
            <a:off x="653888" y="1728475"/>
            <a:ext cx="2520000" cy="2520000"/>
          </a:xfrm>
          <a:prstGeom prst="rect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4" name="Google Shape;584;p62"/>
          <p:cNvSpPr txBox="1"/>
          <p:nvPr/>
        </p:nvSpPr>
        <p:spPr>
          <a:xfrm>
            <a:off x="5805700" y="1327875"/>
            <a:ext cx="2520000" cy="4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800">
                <a:solidFill>
                  <a:srgbClr val="0000FF"/>
                </a:solidFill>
                <a:latin typeface="Courier"/>
                <a:ea typeface="Courier"/>
                <a:cs typeface="Courier"/>
                <a:sym typeface="Courier"/>
              </a:rPr>
              <a:t>KnockKnock</a:t>
            </a:r>
            <a:r>
              <a:rPr lang="en-CA" sz="1800">
                <a:solidFill>
                  <a:srgbClr val="0000FF"/>
                </a:solidFill>
                <a:latin typeface="Courier"/>
                <a:ea typeface="Courier"/>
                <a:cs typeface="Courier"/>
                <a:sym typeface="Courier"/>
              </a:rPr>
              <a:t>Server</a:t>
            </a:r>
            <a:endParaRPr sz="1800">
              <a:solidFill>
                <a:srgbClr val="0000FF"/>
              </a:solidFill>
              <a:latin typeface="Courier"/>
              <a:ea typeface="Courier"/>
              <a:cs typeface="Courier"/>
              <a:sym typeface="Courier"/>
            </a:endParaRPr>
          </a:p>
        </p:txBody>
      </p:sp>
      <p:sp>
        <p:nvSpPr>
          <p:cNvPr id="585" name="Google Shape;585;p62"/>
          <p:cNvSpPr txBox="1"/>
          <p:nvPr/>
        </p:nvSpPr>
        <p:spPr>
          <a:xfrm>
            <a:off x="5034350" y="2049475"/>
            <a:ext cx="7713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>
                <a:solidFill>
                  <a:srgbClr val="FF0000"/>
                </a:solidFill>
                <a:latin typeface="Courier"/>
                <a:ea typeface="Courier"/>
                <a:cs typeface="Courier"/>
                <a:sym typeface="Courier"/>
              </a:rPr>
              <a:t>Port</a:t>
            </a:r>
            <a:endParaRPr b="1">
              <a:solidFill>
                <a:srgbClr val="FF0000"/>
              </a:solidFill>
              <a:latin typeface="Courier"/>
              <a:ea typeface="Courier"/>
              <a:cs typeface="Courier"/>
              <a:sym typeface="Courier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>
                <a:solidFill>
                  <a:srgbClr val="FF0000"/>
                </a:solidFill>
                <a:latin typeface="Courier"/>
                <a:ea typeface="Courier"/>
                <a:cs typeface="Courier"/>
                <a:sym typeface="Courier"/>
              </a:rPr>
              <a:t>4444</a:t>
            </a:r>
            <a:endParaRPr b="1">
              <a:solidFill>
                <a:srgbClr val="FF0000"/>
              </a:solidFill>
            </a:endParaRPr>
          </a:p>
        </p:txBody>
      </p:sp>
      <p:sp>
        <p:nvSpPr>
          <p:cNvPr id="586" name="Google Shape;586;p62"/>
          <p:cNvSpPr txBox="1"/>
          <p:nvPr/>
        </p:nvSpPr>
        <p:spPr>
          <a:xfrm>
            <a:off x="653800" y="1327875"/>
            <a:ext cx="2520000" cy="4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800">
                <a:solidFill>
                  <a:srgbClr val="0000FF"/>
                </a:solidFill>
                <a:latin typeface="Courier"/>
                <a:ea typeface="Courier"/>
                <a:cs typeface="Courier"/>
                <a:sym typeface="Courier"/>
              </a:rPr>
              <a:t>KnockKnock</a:t>
            </a:r>
            <a:r>
              <a:rPr lang="en-CA" sz="1800">
                <a:solidFill>
                  <a:srgbClr val="0000FF"/>
                </a:solidFill>
                <a:latin typeface="Courier"/>
                <a:ea typeface="Courier"/>
                <a:cs typeface="Courier"/>
                <a:sym typeface="Courier"/>
              </a:rPr>
              <a:t>Client</a:t>
            </a:r>
            <a:endParaRPr sz="1800">
              <a:solidFill>
                <a:srgbClr val="0000FF"/>
              </a:solidFill>
              <a:latin typeface="Courier"/>
              <a:ea typeface="Courier"/>
              <a:cs typeface="Courier"/>
              <a:sym typeface="Courier"/>
            </a:endParaRPr>
          </a:p>
        </p:txBody>
      </p:sp>
      <p:sp>
        <p:nvSpPr>
          <p:cNvPr id="587" name="Google Shape;587;p62"/>
          <p:cNvSpPr/>
          <p:nvPr/>
        </p:nvSpPr>
        <p:spPr>
          <a:xfrm rot="-5400000">
            <a:off x="6112852" y="2689973"/>
            <a:ext cx="1260000" cy="597000"/>
          </a:xfrm>
          <a:prstGeom prst="rect">
            <a:avLst/>
          </a:prstGeom>
          <a:solidFill>
            <a:srgbClr val="F4CCCC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Server</a:t>
            </a:r>
            <a:endParaRPr/>
          </a:p>
        </p:txBody>
      </p:sp>
      <p:sp>
        <p:nvSpPr>
          <p:cNvPr id="588" name="Google Shape;588;p62"/>
          <p:cNvSpPr/>
          <p:nvPr/>
        </p:nvSpPr>
        <p:spPr>
          <a:xfrm>
            <a:off x="1283888" y="2358475"/>
            <a:ext cx="1260000" cy="1260000"/>
          </a:xfrm>
          <a:prstGeom prst="rect">
            <a:avLst/>
          </a:prstGeom>
          <a:solidFill>
            <a:srgbClr val="D9EAD3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Client</a:t>
            </a:r>
            <a:endParaRPr/>
          </a:p>
        </p:txBody>
      </p:sp>
      <p:cxnSp>
        <p:nvCxnSpPr>
          <p:cNvPr id="589" name="Google Shape;589;p62"/>
          <p:cNvCxnSpPr>
            <a:stCxn id="590" idx="2"/>
            <a:endCxn id="591" idx="6"/>
          </p:cNvCxnSpPr>
          <p:nvPr/>
        </p:nvCxnSpPr>
        <p:spPr>
          <a:xfrm rot="10800000">
            <a:off x="3295254" y="2988475"/>
            <a:ext cx="23889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590" name="Google Shape;590;p62"/>
          <p:cNvSpPr/>
          <p:nvPr/>
        </p:nvSpPr>
        <p:spPr>
          <a:xfrm>
            <a:off x="5684154" y="2868625"/>
            <a:ext cx="239700" cy="239700"/>
          </a:xfrm>
          <a:prstGeom prst="ellipse">
            <a:avLst/>
          </a:prstGeom>
          <a:solidFill>
            <a:srgbClr val="FF0000"/>
          </a:solidFill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urier"/>
              <a:ea typeface="Courier"/>
              <a:cs typeface="Courier"/>
              <a:sym typeface="Courier"/>
            </a:endParaRPr>
          </a:p>
        </p:txBody>
      </p:sp>
      <p:sp>
        <p:nvSpPr>
          <p:cNvPr id="592" name="Google Shape;592;p62"/>
          <p:cNvSpPr txBox="1"/>
          <p:nvPr/>
        </p:nvSpPr>
        <p:spPr>
          <a:xfrm>
            <a:off x="3809950" y="2588275"/>
            <a:ext cx="1359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req / res</a:t>
            </a:r>
            <a:endParaRPr/>
          </a:p>
        </p:txBody>
      </p:sp>
      <p:sp>
        <p:nvSpPr>
          <p:cNvPr id="591" name="Google Shape;591;p62"/>
          <p:cNvSpPr/>
          <p:nvPr/>
        </p:nvSpPr>
        <p:spPr>
          <a:xfrm>
            <a:off x="3055654" y="2868625"/>
            <a:ext cx="239700" cy="239700"/>
          </a:xfrm>
          <a:prstGeom prst="ellipse">
            <a:avLst/>
          </a:prstGeom>
          <a:solidFill>
            <a:srgbClr val="FF0000"/>
          </a:solidFill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urier"/>
              <a:ea typeface="Courier"/>
              <a:cs typeface="Courier"/>
              <a:sym typeface="Courier"/>
            </a:endParaRPr>
          </a:p>
        </p:txBody>
      </p:sp>
      <p:cxnSp>
        <p:nvCxnSpPr>
          <p:cNvPr id="593" name="Google Shape;593;p62"/>
          <p:cNvCxnSpPr>
            <a:endCxn id="591" idx="2"/>
          </p:cNvCxnSpPr>
          <p:nvPr/>
        </p:nvCxnSpPr>
        <p:spPr>
          <a:xfrm>
            <a:off x="2543854" y="2988475"/>
            <a:ext cx="5118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94" name="Google Shape;594;p62"/>
          <p:cNvSpPr txBox="1"/>
          <p:nvPr>
            <p:ph type="title"/>
          </p:nvPr>
        </p:nvSpPr>
        <p:spPr>
          <a:xfrm>
            <a:off x="438954" y="560541"/>
            <a:ext cx="7886700" cy="45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CA">
                <a:solidFill>
                  <a:srgbClr val="0077C8"/>
                </a:solidFill>
              </a:rPr>
              <a:t>Exercise 5: Socket programming in Java (</a:t>
            </a:r>
            <a:r>
              <a:rPr lang="en-CA">
                <a:solidFill>
                  <a:srgbClr val="0077C8"/>
                </a:solidFill>
              </a:rPr>
              <a:t>KnockKnock</a:t>
            </a:r>
            <a:r>
              <a:rPr lang="en-CA">
                <a:solidFill>
                  <a:srgbClr val="0077C8"/>
                </a:solidFill>
              </a:rPr>
              <a:t>)</a:t>
            </a:r>
            <a:endParaRPr>
              <a:solidFill>
                <a:srgbClr val="0077C8"/>
              </a:solidFill>
            </a:endParaRPr>
          </a:p>
        </p:txBody>
      </p:sp>
      <p:cxnSp>
        <p:nvCxnSpPr>
          <p:cNvPr id="595" name="Google Shape;595;p62"/>
          <p:cNvCxnSpPr/>
          <p:nvPr/>
        </p:nvCxnSpPr>
        <p:spPr>
          <a:xfrm rot="10800000">
            <a:off x="5923838" y="2988475"/>
            <a:ext cx="5118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599" name="Shape 5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Google Shape;600;p63"/>
          <p:cNvSpPr/>
          <p:nvPr/>
        </p:nvSpPr>
        <p:spPr>
          <a:xfrm>
            <a:off x="5805638" y="1728475"/>
            <a:ext cx="2520000" cy="2520000"/>
          </a:xfrm>
          <a:prstGeom prst="rect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1" name="Google Shape;601;p63"/>
          <p:cNvSpPr/>
          <p:nvPr/>
        </p:nvSpPr>
        <p:spPr>
          <a:xfrm rot="-5400000">
            <a:off x="6759648" y="2689973"/>
            <a:ext cx="1260000" cy="597000"/>
          </a:xfrm>
          <a:prstGeom prst="rect">
            <a:avLst/>
          </a:prstGeom>
          <a:solidFill>
            <a:srgbClr val="F4CCCC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Protocol</a:t>
            </a:r>
            <a:endParaRPr/>
          </a:p>
        </p:txBody>
      </p:sp>
      <p:sp>
        <p:nvSpPr>
          <p:cNvPr id="602" name="Google Shape;602;p63"/>
          <p:cNvSpPr/>
          <p:nvPr/>
        </p:nvSpPr>
        <p:spPr>
          <a:xfrm>
            <a:off x="653888" y="1728475"/>
            <a:ext cx="2520000" cy="2520000"/>
          </a:xfrm>
          <a:prstGeom prst="rect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3" name="Google Shape;603;p63"/>
          <p:cNvSpPr txBox="1"/>
          <p:nvPr/>
        </p:nvSpPr>
        <p:spPr>
          <a:xfrm>
            <a:off x="5805700" y="1327875"/>
            <a:ext cx="2520000" cy="4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800">
                <a:solidFill>
                  <a:srgbClr val="0000FF"/>
                </a:solidFill>
                <a:latin typeface="Courier"/>
                <a:ea typeface="Courier"/>
                <a:cs typeface="Courier"/>
                <a:sym typeface="Courier"/>
              </a:rPr>
              <a:t>KnockKnockServer</a:t>
            </a:r>
            <a:endParaRPr sz="1800">
              <a:solidFill>
                <a:srgbClr val="0000FF"/>
              </a:solidFill>
              <a:latin typeface="Courier"/>
              <a:ea typeface="Courier"/>
              <a:cs typeface="Courier"/>
              <a:sym typeface="Courier"/>
            </a:endParaRPr>
          </a:p>
        </p:txBody>
      </p:sp>
      <p:sp>
        <p:nvSpPr>
          <p:cNvPr id="604" name="Google Shape;604;p63"/>
          <p:cNvSpPr txBox="1"/>
          <p:nvPr/>
        </p:nvSpPr>
        <p:spPr>
          <a:xfrm>
            <a:off x="5034350" y="2049475"/>
            <a:ext cx="7713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>
                <a:solidFill>
                  <a:srgbClr val="FF0000"/>
                </a:solidFill>
                <a:latin typeface="Courier"/>
                <a:ea typeface="Courier"/>
                <a:cs typeface="Courier"/>
                <a:sym typeface="Courier"/>
              </a:rPr>
              <a:t>Port</a:t>
            </a:r>
            <a:endParaRPr b="1">
              <a:solidFill>
                <a:srgbClr val="FF0000"/>
              </a:solidFill>
              <a:latin typeface="Courier"/>
              <a:ea typeface="Courier"/>
              <a:cs typeface="Courier"/>
              <a:sym typeface="Courier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>
                <a:solidFill>
                  <a:srgbClr val="FF0000"/>
                </a:solidFill>
                <a:latin typeface="Courier"/>
                <a:ea typeface="Courier"/>
                <a:cs typeface="Courier"/>
                <a:sym typeface="Courier"/>
              </a:rPr>
              <a:t>4444</a:t>
            </a:r>
            <a:endParaRPr b="1">
              <a:solidFill>
                <a:srgbClr val="FF0000"/>
              </a:solidFill>
            </a:endParaRPr>
          </a:p>
        </p:txBody>
      </p:sp>
      <p:sp>
        <p:nvSpPr>
          <p:cNvPr id="605" name="Google Shape;605;p63"/>
          <p:cNvSpPr txBox="1"/>
          <p:nvPr/>
        </p:nvSpPr>
        <p:spPr>
          <a:xfrm>
            <a:off x="653800" y="1327875"/>
            <a:ext cx="2520000" cy="4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800">
                <a:solidFill>
                  <a:srgbClr val="0000FF"/>
                </a:solidFill>
                <a:latin typeface="Courier"/>
                <a:ea typeface="Courier"/>
                <a:cs typeface="Courier"/>
                <a:sym typeface="Courier"/>
              </a:rPr>
              <a:t>KnockKnockClient</a:t>
            </a:r>
            <a:endParaRPr sz="1800">
              <a:solidFill>
                <a:srgbClr val="0000FF"/>
              </a:solidFill>
              <a:latin typeface="Courier"/>
              <a:ea typeface="Courier"/>
              <a:cs typeface="Courier"/>
              <a:sym typeface="Courier"/>
            </a:endParaRPr>
          </a:p>
        </p:txBody>
      </p:sp>
      <p:sp>
        <p:nvSpPr>
          <p:cNvPr id="606" name="Google Shape;606;p63"/>
          <p:cNvSpPr/>
          <p:nvPr/>
        </p:nvSpPr>
        <p:spPr>
          <a:xfrm rot="-5400000">
            <a:off x="6112852" y="2689973"/>
            <a:ext cx="1260000" cy="597000"/>
          </a:xfrm>
          <a:prstGeom prst="rect">
            <a:avLst/>
          </a:prstGeom>
          <a:solidFill>
            <a:srgbClr val="F4CCCC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Server</a:t>
            </a:r>
            <a:endParaRPr/>
          </a:p>
        </p:txBody>
      </p:sp>
      <p:sp>
        <p:nvSpPr>
          <p:cNvPr id="607" name="Google Shape;607;p63"/>
          <p:cNvSpPr/>
          <p:nvPr/>
        </p:nvSpPr>
        <p:spPr>
          <a:xfrm>
            <a:off x="1283888" y="2358475"/>
            <a:ext cx="1260000" cy="1260000"/>
          </a:xfrm>
          <a:prstGeom prst="rect">
            <a:avLst/>
          </a:prstGeom>
          <a:solidFill>
            <a:srgbClr val="D9EAD3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Client</a:t>
            </a:r>
            <a:endParaRPr/>
          </a:p>
        </p:txBody>
      </p:sp>
      <p:cxnSp>
        <p:nvCxnSpPr>
          <p:cNvPr id="608" name="Google Shape;608;p63"/>
          <p:cNvCxnSpPr>
            <a:stCxn id="609" idx="2"/>
            <a:endCxn id="610" idx="6"/>
          </p:cNvCxnSpPr>
          <p:nvPr/>
        </p:nvCxnSpPr>
        <p:spPr>
          <a:xfrm rot="10800000">
            <a:off x="3295254" y="2988475"/>
            <a:ext cx="23889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609" name="Google Shape;609;p63"/>
          <p:cNvSpPr/>
          <p:nvPr/>
        </p:nvSpPr>
        <p:spPr>
          <a:xfrm>
            <a:off x="5684154" y="2868625"/>
            <a:ext cx="239700" cy="239700"/>
          </a:xfrm>
          <a:prstGeom prst="ellipse">
            <a:avLst/>
          </a:prstGeom>
          <a:solidFill>
            <a:srgbClr val="FF0000"/>
          </a:solidFill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urier"/>
              <a:ea typeface="Courier"/>
              <a:cs typeface="Courier"/>
              <a:sym typeface="Courier"/>
            </a:endParaRPr>
          </a:p>
        </p:txBody>
      </p:sp>
      <p:sp>
        <p:nvSpPr>
          <p:cNvPr id="611" name="Google Shape;611;p63"/>
          <p:cNvSpPr txBox="1"/>
          <p:nvPr/>
        </p:nvSpPr>
        <p:spPr>
          <a:xfrm>
            <a:off x="3809950" y="2588275"/>
            <a:ext cx="1359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req / res</a:t>
            </a:r>
            <a:endParaRPr/>
          </a:p>
        </p:txBody>
      </p:sp>
      <p:sp>
        <p:nvSpPr>
          <p:cNvPr id="610" name="Google Shape;610;p63"/>
          <p:cNvSpPr/>
          <p:nvPr/>
        </p:nvSpPr>
        <p:spPr>
          <a:xfrm>
            <a:off x="3055654" y="2868625"/>
            <a:ext cx="239700" cy="239700"/>
          </a:xfrm>
          <a:prstGeom prst="ellipse">
            <a:avLst/>
          </a:prstGeom>
          <a:solidFill>
            <a:srgbClr val="FF0000"/>
          </a:solidFill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urier"/>
              <a:ea typeface="Courier"/>
              <a:cs typeface="Courier"/>
              <a:sym typeface="Courier"/>
            </a:endParaRPr>
          </a:p>
        </p:txBody>
      </p:sp>
      <p:cxnSp>
        <p:nvCxnSpPr>
          <p:cNvPr id="612" name="Google Shape;612;p63"/>
          <p:cNvCxnSpPr>
            <a:endCxn id="610" idx="2"/>
          </p:cNvCxnSpPr>
          <p:nvPr/>
        </p:nvCxnSpPr>
        <p:spPr>
          <a:xfrm>
            <a:off x="2543854" y="2988475"/>
            <a:ext cx="5118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13" name="Google Shape;613;p63"/>
          <p:cNvSpPr txBox="1"/>
          <p:nvPr>
            <p:ph type="title"/>
          </p:nvPr>
        </p:nvSpPr>
        <p:spPr>
          <a:xfrm>
            <a:off x="438954" y="560541"/>
            <a:ext cx="7886700" cy="45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CA">
                <a:solidFill>
                  <a:srgbClr val="0077C8"/>
                </a:solidFill>
              </a:rPr>
              <a:t>Exercise 5: Socket programming in Java (KnockKnock)</a:t>
            </a:r>
            <a:endParaRPr>
              <a:solidFill>
                <a:srgbClr val="0077C8"/>
              </a:solidFill>
            </a:endParaRPr>
          </a:p>
        </p:txBody>
      </p:sp>
      <p:cxnSp>
        <p:nvCxnSpPr>
          <p:cNvPr id="614" name="Google Shape;614;p63"/>
          <p:cNvCxnSpPr/>
          <p:nvPr/>
        </p:nvCxnSpPr>
        <p:spPr>
          <a:xfrm rot="10800000">
            <a:off x="5923838" y="2988475"/>
            <a:ext cx="5118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15" name="Google Shape;615;p63"/>
          <p:cNvSpPr/>
          <p:nvPr/>
        </p:nvSpPr>
        <p:spPr>
          <a:xfrm>
            <a:off x="6916800" y="3998100"/>
            <a:ext cx="3519300" cy="546900"/>
          </a:xfrm>
          <a:prstGeom prst="wedgeRoundRectCallout">
            <a:avLst>
              <a:gd fmla="val -34726" name="adj1"/>
              <a:gd fmla="val -99538" name="adj2"/>
              <a:gd fmla="val 0" name="adj3"/>
            </a:avLst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800"/>
              <a:t>Defines the conversation logic</a:t>
            </a:r>
            <a:endParaRPr sz="1800"/>
          </a:p>
        </p:txBody>
      </p:sp>
      <p:sp>
        <p:nvSpPr>
          <p:cNvPr id="616" name="Google Shape;616;p63"/>
          <p:cNvSpPr/>
          <p:nvPr/>
        </p:nvSpPr>
        <p:spPr>
          <a:xfrm>
            <a:off x="5847525" y="1431950"/>
            <a:ext cx="3519300" cy="546900"/>
          </a:xfrm>
          <a:prstGeom prst="wedgeRoundRectCallout">
            <a:avLst>
              <a:gd fmla="val -24935" name="adj1"/>
              <a:gd fmla="val 100859" name="adj2"/>
              <a:gd fmla="val 0" name="adj3"/>
            </a:avLst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800"/>
              <a:t>Handles networking and I/O</a:t>
            </a:r>
            <a:endParaRPr sz="18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