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y="5143500" cx="9144000"/>
  <p:notesSz cx="6858000" cy="9144000"/>
  <p:embeddedFontLst>
    <p:embeddedFont>
      <p:font typeface="Roboto Mono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RobotoMono-italic.fntdata"/><Relationship Id="rId12" Type="http://schemas.openxmlformats.org/officeDocument/2006/relationships/slide" Target="slides/slide7.xml"/><Relationship Id="rId56" Type="http://schemas.openxmlformats.org/officeDocument/2006/relationships/font" Target="fonts/RobotoMon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8" Type="http://schemas.openxmlformats.org/officeDocument/2006/relationships/font" Target="fonts/RobotoMon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3bc6eb33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3" name="Google Shape;63;g3e3bc6eb3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e3bc6eb337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3bc6eb33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e3bc6eb337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3bc6eb33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e3bc6eb337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3bc6eb33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e3bc6eb337_0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3bc6eb33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e3bc6eb337_0_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3bc6eb337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e3bc6eb337_0_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3bc6eb337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e3bc6eb337_0_1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3bc6eb337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e3bc6eb337_0_1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3bc6eb337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e3bc6eb337_0_1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3bc6eb337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e3bc6eb337_0_1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3bc6eb337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e3bc6eb337_0_1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e3bc6eb337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e3bc6eb337_0_1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3bc6eb337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e3bc6eb337_0_2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e3bc6eb337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e3bc6eb337_0_2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e3bc6eb337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e3bc6eb337_0_2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e3bc6eb337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g3e3bc6eb337_0_3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e3bc6eb337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g3e3bc6eb337_0_3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e3bc6eb337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g3e3bc6eb337_0_4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e3bc6eb337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g3e3bc6eb337_0_4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e3bc6eb337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g3e3bc6eb337_0_4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e3bc6eb337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g3e3bc6eb337_0_4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e3bc6eb337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g3e3bc6eb337_0_4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e3bc6eb337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g3e3bc6eb337_0_4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e3bc6eb337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g3e3bc6eb337_0_4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e3bc6eb337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g3e3bc6eb337_0_4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e3bc6eb337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g3e3bc6eb337_0_4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e3bc6eb337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g3e3bc6eb337_0_4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e3bc6eb337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g3e3bc6eb337_0_4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e3bc6eb337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g3e3bc6eb337_0_4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e3bc6eb337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g3e3bc6eb337_0_4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e3bc6eb337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g3e3bc6eb337_0_4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e3bc6eb337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g3e3bc6eb337_0_4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e3bc6eb337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g3e3bc6eb337_0_4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e3bc6eb337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g3e3bc6eb337_0_4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e3bc6eb337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g3e3bc6eb337_0_5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e3bc6eb337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g3e3bc6eb337_0_5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e3bc6eb337_0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g3e3bc6eb337_0_5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e3bc6eb337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g3e3bc6eb337_0_5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e3bc6eb337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g3e3bc6eb337_0_5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e3bc6eb337_0_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g3e3bc6eb337_0_6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e3bc6eb337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g3e3bc6eb337_0_6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e3bc6eb337_0_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g3e3bc6eb337_0_6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e3bc6eb337_0_6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g3e3bc6eb337_0_6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3e3bc6eb337_0_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g3e3bc6eb337_0_7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e3bc6eb337_0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g3e3bc6eb337_0_7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3e3bc6eb337_0_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g3e3bc6eb337_0_7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e3bc6eb337_0_7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g3e3bc6eb337_0_7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e3bc6eb337_0_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g3e3bc6eb337_0_7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3e3bc6eb337_0_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g3e3bc6eb337_0_7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1">
  <p:cSld name="Title Slide - 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8243888" y="1131888"/>
            <a:ext cx="900000" cy="113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2014_logo_only_reverse.png" id="52" name="Google Shape;5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85188" y="1419225"/>
            <a:ext cx="407987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65762" y="3003798"/>
            <a:ext cx="5430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5750" lvl="1" marL="9144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5750" lvl="2" marL="13716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5750" lvl="3" marL="1828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365762" y="3507855"/>
            <a:ext cx="5430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0C2344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C234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5750" lvl="1" marL="9144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5750" lvl="2" marL="13716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5750" lvl="3" marL="1828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365587" y="1141558"/>
            <a:ext cx="5438700" cy="15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400" u="none" cap="none" strike="noStrike">
                <a:solidFill>
                  <a:srgbClr val="1F8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py Slide - 1">
  <p:cSld name="Copy Slide - 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4b282c2015.png" id="57" name="Google Shape;5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13763" y="1439863"/>
            <a:ext cx="363537" cy="49371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/>
        </p:nvSpPr>
        <p:spPr>
          <a:xfrm flipH="1">
            <a:off x="8588375" y="4732338"/>
            <a:ext cx="304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fld id="{00000000-1234-1234-1234-123412341234}" type="slidenum">
              <a:rPr b="0" i="0" lang="en-CA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100" u="none" cap="none" strike="noStrike">
                <a:solidFill>
                  <a:srgbClr val="1F8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atatracker.ietf.org/doc/html/rfc1035" TargetMode="External"/><Relationship Id="rId4" Type="http://schemas.openxmlformats.org/officeDocument/2006/relationships/hyperlink" Target="https://courses.cs.duke.edu/fall16/compsci356/DNS/DNS-primer.pdf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courses.cs.duke.edu/fall16/compsci356/DNS/DNS-primer.pdf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courses.cs.duke.edu/fall16/compsci356/DNS/DNS-primer.pdf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courses.cs.duke.edu/fall16/compsci356/DNS/DNS-primer.pdf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courses.cs.duke.edu/fall16/compsci356/DNS/DNS-primer.pdf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courses.cs.duke.edu/fall16/compsci356/DNS/DNS-primer.pdf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docs.oracle.com/en/java/javase/21/docs/api/java.base/java/nio/ByteBuffer.html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docs.oracle.com/en/java/javase/21/docs/api/java.base/java/nio/ByteBuffer.html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docs.oracle.com/en/java/javase/21/docs/api/java.base/java/nio/ByteBuffer.html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://gaia.cs.umass.edu" TargetMode="External"/><Relationship Id="rId4" Type="http://schemas.openxmlformats.org/officeDocument/2006/relationships/hyperlink" Target="http://gaia.cs.umass.edu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://gaia.cs.umass.edu" TargetMode="External"/><Relationship Id="rId4" Type="http://schemas.openxmlformats.org/officeDocument/2006/relationships/hyperlink" Target="http://gaia.cs.umass.edu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://gaia.cs.umass.edu" TargetMode="External"/><Relationship Id="rId4" Type="http://schemas.openxmlformats.org/officeDocument/2006/relationships/hyperlink" Target="http://gaia.cs.umass.edu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://gaia.cs.umass.edu" TargetMode="External"/><Relationship Id="rId4" Type="http://schemas.openxmlformats.org/officeDocument/2006/relationships/hyperlink" Target="http://gaia.cs.umass.edu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://gaia.cs.umass.edu" TargetMode="External"/><Relationship Id="rId4" Type="http://schemas.openxmlformats.org/officeDocument/2006/relationships/hyperlink" Target="http://gaia.cs.umass.edu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://gaia.cs.umass.edu" TargetMode="External"/><Relationship Id="rId4" Type="http://schemas.openxmlformats.org/officeDocument/2006/relationships/hyperlink" Target="http://gaia.cs.umass.edu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://gaia.cs.umass.edu" TargetMode="External"/><Relationship Id="rId4" Type="http://schemas.openxmlformats.org/officeDocument/2006/relationships/hyperlink" Target="http://gaia.cs.umass.edu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://gaia.cs.umass.edu" TargetMode="External"/><Relationship Id="rId4" Type="http://schemas.openxmlformats.org/officeDocument/2006/relationships/hyperlink" Target="http://gaia.cs.umass.edu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://gaia.cs.umass.edu" TargetMode="External"/><Relationship Id="rId4" Type="http://schemas.openxmlformats.org/officeDocument/2006/relationships/hyperlink" Target="http://gaia.cs.umass.edu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docs.oracle.com/javase/7/docs/api/java/net/DatagramSocket.html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65762" y="3003798"/>
            <a:ext cx="5430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CA"/>
              <a:t>DNS - Part 1</a:t>
            </a:r>
            <a:endParaRPr b="1"/>
          </a:p>
        </p:txBody>
      </p:sp>
      <p:sp>
        <p:nvSpPr>
          <p:cNvPr id="67" name="Google Shape;67;p15"/>
          <p:cNvSpPr txBox="1"/>
          <p:nvPr>
            <p:ph idx="2" type="body"/>
          </p:nvPr>
        </p:nvSpPr>
        <p:spPr>
          <a:xfrm>
            <a:off x="365762" y="3507855"/>
            <a:ext cx="5430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C2344"/>
              </a:buClr>
              <a:buSzPts val="1000"/>
              <a:buNone/>
            </a:pPr>
            <a:r>
              <a:rPr lang="en-CA"/>
              <a:t>Han Kim</a:t>
            </a:r>
            <a:endParaRPr/>
          </a:p>
        </p:txBody>
      </p:sp>
      <p:sp>
        <p:nvSpPr>
          <p:cNvPr id="68" name="Google Shape;68;p15"/>
          <p:cNvSpPr txBox="1"/>
          <p:nvPr>
            <p:ph type="title"/>
          </p:nvPr>
        </p:nvSpPr>
        <p:spPr>
          <a:xfrm>
            <a:off x="365573" y="1141550"/>
            <a:ext cx="4700400" cy="15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CA" sz="3500">
                <a:solidFill>
                  <a:srgbClr val="0077C9"/>
                </a:solidFill>
              </a:rPr>
              <a:t>Tutorial 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A tutorial to help with PA2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Similar to PA1 at a high level, but with </a:t>
            </a:r>
            <a:r>
              <a:rPr b="1" lang="en-CA">
                <a:solidFill>
                  <a:srgbClr val="FF0000"/>
                </a:solidFill>
              </a:rPr>
              <a:t>3 main differences</a:t>
            </a:r>
            <a:r>
              <a:rPr lang="en-CA"/>
              <a:t>:</a:t>
            </a:r>
            <a:endParaRPr/>
          </a:p>
          <a:p>
            <a:pPr indent="-323850" lvl="0" marL="13716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CA"/>
              <a:t>Uses DNS servers instead of a DICT server</a:t>
            </a:r>
            <a:endParaRPr/>
          </a:p>
          <a:p>
            <a:pPr indent="-323850" lvl="0" marL="13716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CA"/>
              <a:t>Uses UDP instead of TCP</a:t>
            </a:r>
            <a:endParaRPr/>
          </a:p>
          <a:p>
            <a:pPr indent="-323850" lvl="0" marL="13716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CA"/>
              <a:t>May use multiple servers instead of just 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DNS review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Vocabulary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DNS Messages</a:t>
            </a:r>
            <a:endParaRPr/>
          </a:p>
          <a:p>
            <a:pPr indent="-323850" lvl="1" marL="13716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ByteBuffer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Iterative Queries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UDP Sockets</a:t>
            </a:r>
            <a:endParaRPr/>
          </a:p>
        </p:txBody>
      </p:sp>
      <p:sp>
        <p:nvSpPr>
          <p:cNvPr id="74" name="Google Shape;74;p16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Overview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PA1</a:t>
            </a:r>
            <a:endParaRPr/>
          </a:p>
        </p:txBody>
      </p:sp>
      <p:sp>
        <p:nvSpPr>
          <p:cNvPr id="81" name="Google Shape;81;p17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PA 1: Dictionary Client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" name="Google Shape;83;p17"/>
          <p:cNvCxnSpPr>
            <a:stCxn id="84" idx="2"/>
            <a:endCxn id="85" idx="6"/>
          </p:cNvCxnSpPr>
          <p:nvPr/>
        </p:nvCxnSpPr>
        <p:spPr>
          <a:xfrm rot="10800000">
            <a:off x="3295254" y="2988475"/>
            <a:ext cx="2388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6" name="Google Shape;86;p17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6385850" y="1327875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88" name="Google Shape;88;p17"/>
          <p:cNvCxnSpPr>
            <a:stCxn id="86" idx="1"/>
            <a:endCxn id="84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" name="Google Shape;89;p17"/>
          <p:cNvSpPr txBox="1"/>
          <p:nvPr/>
        </p:nvSpPr>
        <p:spPr>
          <a:xfrm>
            <a:off x="3809950" y="2588275"/>
            <a:ext cx="135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req / res</a:t>
            </a:r>
            <a:endParaRPr/>
          </a:p>
        </p:txBody>
      </p:sp>
      <p:sp>
        <p:nvSpPr>
          <p:cNvPr id="90" name="Google Shape;90;p17"/>
          <p:cNvSpPr txBox="1"/>
          <p:nvPr/>
        </p:nvSpPr>
        <p:spPr>
          <a:xfrm>
            <a:off x="777099" y="1327250"/>
            <a:ext cx="22785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91" name="Google Shape;91;p17"/>
          <p:cNvCxnSpPr>
            <a:stCxn id="80" idx="3"/>
            <a:endCxn id="85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" name="Google Shape;92;p17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5738602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PA1</a:t>
            </a:r>
            <a:endParaRPr/>
          </a:p>
        </p:txBody>
      </p:sp>
      <p:sp>
        <p:nvSpPr>
          <p:cNvPr id="101" name="Google Shape;101;p18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PA 1: Dictionary Client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3" name="Google Shape;103;p18"/>
          <p:cNvCxnSpPr>
            <a:stCxn id="104" idx="2"/>
            <a:endCxn id="105" idx="6"/>
          </p:cNvCxnSpPr>
          <p:nvPr/>
        </p:nvCxnSpPr>
        <p:spPr>
          <a:xfrm rot="10800000">
            <a:off x="3295254" y="2988475"/>
            <a:ext cx="2388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6" name="Google Shape;106;p18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6385850" y="1327875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08" name="Google Shape;108;p18"/>
          <p:cNvCxnSpPr>
            <a:stCxn id="106" idx="1"/>
            <a:endCxn id="104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" name="Google Shape;109;p18"/>
          <p:cNvSpPr txBox="1"/>
          <p:nvPr/>
        </p:nvSpPr>
        <p:spPr>
          <a:xfrm>
            <a:off x="3809950" y="2588275"/>
            <a:ext cx="135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req / res</a:t>
            </a:r>
            <a:endParaRPr/>
          </a:p>
        </p:txBody>
      </p:sp>
      <p:sp>
        <p:nvSpPr>
          <p:cNvPr id="110" name="Google Shape;110;p18"/>
          <p:cNvSpPr txBox="1"/>
          <p:nvPr/>
        </p:nvSpPr>
        <p:spPr>
          <a:xfrm>
            <a:off x="777099" y="1327250"/>
            <a:ext cx="22785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11" name="Google Shape;111;p18"/>
          <p:cNvCxnSpPr>
            <a:stCxn id="100" idx="3"/>
            <a:endCxn id="105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" name="Google Shape;112;p18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1957425" y="1224300"/>
            <a:ext cx="5302200" cy="936300"/>
          </a:xfrm>
          <a:prstGeom prst="wedgeRoundRectCallout">
            <a:avLst>
              <a:gd fmla="val -1685" name="adj1"/>
              <a:gd fmla="val 104371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This was our high-level overview of PA1</a:t>
            </a:r>
            <a:br>
              <a:rPr lang="en-CA" sz="1800"/>
            </a:br>
            <a:br>
              <a:rPr lang="en-CA" sz="1800"/>
            </a:br>
            <a:r>
              <a:rPr lang="en-CA" sz="1800"/>
              <a:t>If we add more detail at the transport layer… </a:t>
            </a:r>
            <a:endParaRPr sz="1800"/>
          </a:p>
        </p:txBody>
      </p:sp>
      <p:sp>
        <p:nvSpPr>
          <p:cNvPr id="115" name="Google Shape;115;p18"/>
          <p:cNvSpPr txBox="1"/>
          <p:nvPr/>
        </p:nvSpPr>
        <p:spPr>
          <a:xfrm>
            <a:off x="5738602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/>
          <p:nvPr/>
        </p:nvSpPr>
        <p:spPr>
          <a:xfrm flipH="1" rot="10800000">
            <a:off x="3175775" y="2868003"/>
            <a:ext cx="2628000" cy="239700"/>
          </a:xfrm>
          <a:prstGeom prst="frame">
            <a:avLst>
              <a:gd fmla="val 12500" name="adj1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9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9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PA1</a:t>
            </a:r>
            <a:endParaRPr/>
          </a:p>
        </p:txBody>
      </p:sp>
      <p:sp>
        <p:nvSpPr>
          <p:cNvPr id="123" name="Google Shape;123;p19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9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5871200" y="1327875"/>
            <a:ext cx="23889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26" name="Google Shape;126;p19"/>
          <p:cNvCxnSpPr>
            <a:stCxn id="124" idx="1"/>
            <a:endCxn id="127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" name="Google Shape;128;p19"/>
          <p:cNvSpPr txBox="1"/>
          <p:nvPr/>
        </p:nvSpPr>
        <p:spPr>
          <a:xfrm>
            <a:off x="1092650" y="1327875"/>
            <a:ext cx="16425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29" name="Google Shape;129;p19"/>
          <p:cNvCxnSpPr>
            <a:stCxn id="122" idx="3"/>
            <a:endCxn id="130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" name="Google Shape;131;p19"/>
          <p:cNvSpPr/>
          <p:nvPr/>
        </p:nvSpPr>
        <p:spPr>
          <a:xfrm>
            <a:off x="3432175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132" name="Google Shape;132;p19"/>
          <p:cNvSpPr/>
          <p:nvPr/>
        </p:nvSpPr>
        <p:spPr>
          <a:xfrm>
            <a:off x="3707939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133" name="Google Shape;133;p19"/>
          <p:cNvSpPr/>
          <p:nvPr/>
        </p:nvSpPr>
        <p:spPr>
          <a:xfrm>
            <a:off x="3983702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134" name="Google Shape;134;p19"/>
          <p:cNvSpPr/>
          <p:nvPr/>
        </p:nvSpPr>
        <p:spPr>
          <a:xfrm>
            <a:off x="4244938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135" name="Google Shape;135;p19"/>
          <p:cNvSpPr/>
          <p:nvPr/>
        </p:nvSpPr>
        <p:spPr>
          <a:xfrm>
            <a:off x="4520702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136" name="Google Shape;136;p19"/>
          <p:cNvSpPr/>
          <p:nvPr/>
        </p:nvSpPr>
        <p:spPr>
          <a:xfrm>
            <a:off x="4796465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137" name="Google Shape;137;p19"/>
          <p:cNvSpPr/>
          <p:nvPr/>
        </p:nvSpPr>
        <p:spPr>
          <a:xfrm>
            <a:off x="5064960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138" name="Google Shape;138;p19"/>
          <p:cNvSpPr/>
          <p:nvPr/>
        </p:nvSpPr>
        <p:spPr>
          <a:xfrm>
            <a:off x="5333435" y="2913463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139" name="Google Shape;139;p19"/>
          <p:cNvSpPr txBox="1"/>
          <p:nvPr/>
        </p:nvSpPr>
        <p:spPr>
          <a:xfrm>
            <a:off x="5738602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40" name="Google Shape;140;p19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PA 1: Dictionary Client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/>
          <p:nvPr/>
        </p:nvSpPr>
        <p:spPr>
          <a:xfrm flipH="1" rot="10800000">
            <a:off x="3175775" y="2868003"/>
            <a:ext cx="2628000" cy="239700"/>
          </a:xfrm>
          <a:prstGeom prst="frame">
            <a:avLst>
              <a:gd fmla="val 12500" name="adj1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0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0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PA1</a:t>
            </a:r>
            <a:endParaRPr/>
          </a:p>
        </p:txBody>
      </p:sp>
      <p:sp>
        <p:nvSpPr>
          <p:cNvPr id="150" name="Google Shape;150;p20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0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5871200" y="1327875"/>
            <a:ext cx="23889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53" name="Google Shape;153;p20"/>
          <p:cNvCxnSpPr>
            <a:stCxn id="151" idx="1"/>
            <a:endCxn id="154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" name="Google Shape;155;p20"/>
          <p:cNvSpPr txBox="1"/>
          <p:nvPr/>
        </p:nvSpPr>
        <p:spPr>
          <a:xfrm>
            <a:off x="1092650" y="1327875"/>
            <a:ext cx="16425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56" name="Google Shape;156;p20"/>
          <p:cNvCxnSpPr>
            <a:stCxn id="149" idx="3"/>
            <a:endCxn id="157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" name="Google Shape;158;p20"/>
          <p:cNvSpPr/>
          <p:nvPr/>
        </p:nvSpPr>
        <p:spPr>
          <a:xfrm>
            <a:off x="3432175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159" name="Google Shape;159;p20"/>
          <p:cNvSpPr/>
          <p:nvPr/>
        </p:nvSpPr>
        <p:spPr>
          <a:xfrm>
            <a:off x="3707939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160" name="Google Shape;160;p20"/>
          <p:cNvSpPr/>
          <p:nvPr/>
        </p:nvSpPr>
        <p:spPr>
          <a:xfrm>
            <a:off x="3983702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161" name="Google Shape;161;p20"/>
          <p:cNvSpPr/>
          <p:nvPr/>
        </p:nvSpPr>
        <p:spPr>
          <a:xfrm>
            <a:off x="4244938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162" name="Google Shape;162;p20"/>
          <p:cNvSpPr/>
          <p:nvPr/>
        </p:nvSpPr>
        <p:spPr>
          <a:xfrm>
            <a:off x="4520702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163" name="Google Shape;163;p20"/>
          <p:cNvSpPr/>
          <p:nvPr/>
        </p:nvSpPr>
        <p:spPr>
          <a:xfrm>
            <a:off x="4796465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164" name="Google Shape;164;p20"/>
          <p:cNvSpPr/>
          <p:nvPr/>
        </p:nvSpPr>
        <p:spPr>
          <a:xfrm>
            <a:off x="5064960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165" name="Google Shape;165;p20"/>
          <p:cNvSpPr/>
          <p:nvPr/>
        </p:nvSpPr>
        <p:spPr>
          <a:xfrm>
            <a:off x="5333435" y="2913463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166" name="Google Shape;166;p20"/>
          <p:cNvSpPr txBox="1"/>
          <p:nvPr/>
        </p:nvSpPr>
        <p:spPr>
          <a:xfrm>
            <a:off x="5738602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PA 1: Dictionary Client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1957425" y="1224300"/>
            <a:ext cx="5302200" cy="936300"/>
          </a:xfrm>
          <a:prstGeom prst="wedgeRoundRectCallout">
            <a:avLst>
              <a:gd fmla="val -1685" name="adj1"/>
              <a:gd fmla="val 104371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… it uses TCP, which is stream-based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PA 2: DNS Client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1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PA2</a:t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1092650" y="1327875"/>
            <a:ext cx="16425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79" name="Google Shape;179;p21"/>
          <p:cNvCxnSpPr>
            <a:stCxn id="177" idx="3"/>
            <a:endCxn id="180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0" name="Google Shape;180;p21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PA 2: DNS Client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2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PA2</a:t>
            </a:r>
            <a:endParaRPr/>
          </a:p>
        </p:txBody>
      </p:sp>
      <p:sp>
        <p:nvSpPr>
          <p:cNvPr id="189" name="Google Shape;189;p22"/>
          <p:cNvSpPr txBox="1"/>
          <p:nvPr/>
        </p:nvSpPr>
        <p:spPr>
          <a:xfrm>
            <a:off x="1092650" y="1327875"/>
            <a:ext cx="16425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90" name="Google Shape;190;p22"/>
          <p:cNvCxnSpPr>
            <a:stCxn id="188" idx="3"/>
            <a:endCxn id="191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" name="Google Shape;191;p22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93" name="Google Shape;193;p22"/>
          <p:cNvSpPr/>
          <p:nvPr/>
        </p:nvSpPr>
        <p:spPr>
          <a:xfrm>
            <a:off x="4712100" y="1552325"/>
            <a:ext cx="3140700" cy="1176600"/>
          </a:xfrm>
          <a:prstGeom prst="wedgeRoundRectCallout">
            <a:avLst>
              <a:gd fmla="val -90702" name="adj1"/>
              <a:gd fmla="val 63569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For PA2, you are still implementing a client</a:t>
            </a:r>
            <a:br>
              <a:rPr lang="en-CA" sz="1800"/>
            </a:br>
            <a:br>
              <a:rPr lang="en-CA" sz="1800"/>
            </a:br>
            <a:r>
              <a:rPr lang="en-CA" sz="1800"/>
              <a:t>However… 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PA 2: DNS Client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199" name="Google Shape;199;p23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3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PA2</a:t>
            </a:r>
            <a:endParaRPr/>
          </a:p>
        </p:txBody>
      </p:sp>
      <p:sp>
        <p:nvSpPr>
          <p:cNvPr id="201" name="Google Shape;201;p23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3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DNS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03" name="Google Shape;203;p23"/>
          <p:cNvSpPr txBox="1"/>
          <p:nvPr/>
        </p:nvSpPr>
        <p:spPr>
          <a:xfrm>
            <a:off x="5871200" y="1327875"/>
            <a:ext cx="23889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dns-server.net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05" name="Google Shape;205;p23"/>
          <p:cNvCxnSpPr>
            <a:stCxn id="202" idx="1"/>
            <a:endCxn id="204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6" name="Google Shape;206;p23"/>
          <p:cNvSpPr txBox="1"/>
          <p:nvPr/>
        </p:nvSpPr>
        <p:spPr>
          <a:xfrm>
            <a:off x="5738602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53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07" name="Google Shape;207;p23"/>
          <p:cNvSpPr txBox="1"/>
          <p:nvPr/>
        </p:nvSpPr>
        <p:spPr>
          <a:xfrm>
            <a:off x="1092650" y="1327875"/>
            <a:ext cx="16425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08" name="Google Shape;208;p23"/>
          <p:cNvCxnSpPr>
            <a:stCxn id="200" idx="3"/>
            <a:endCxn id="209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9" name="Google Shape;209;p23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4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PA 2: DNS Client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17" name="Google Shape;217;p24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4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PA2</a:t>
            </a:r>
            <a:endParaRPr/>
          </a:p>
        </p:txBody>
      </p:sp>
      <p:sp>
        <p:nvSpPr>
          <p:cNvPr id="219" name="Google Shape;219;p24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4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DNS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21" name="Google Shape;221;p24"/>
          <p:cNvSpPr txBox="1"/>
          <p:nvPr/>
        </p:nvSpPr>
        <p:spPr>
          <a:xfrm>
            <a:off x="5871200" y="1327875"/>
            <a:ext cx="23889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dns-server.net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22" name="Google Shape;222;p24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23" name="Google Shape;223;p24"/>
          <p:cNvCxnSpPr>
            <a:stCxn id="220" idx="1"/>
            <a:endCxn id="222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4" name="Google Shape;224;p24"/>
          <p:cNvSpPr txBox="1"/>
          <p:nvPr/>
        </p:nvSpPr>
        <p:spPr>
          <a:xfrm>
            <a:off x="5738602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53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25" name="Google Shape;225;p24"/>
          <p:cNvSpPr txBox="1"/>
          <p:nvPr/>
        </p:nvSpPr>
        <p:spPr>
          <a:xfrm>
            <a:off x="1092650" y="1327875"/>
            <a:ext cx="16425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26" name="Google Shape;226;p24"/>
          <p:cNvCxnSpPr>
            <a:stCxn id="218" idx="3"/>
            <a:endCxn id="227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7" name="Google Shape;227;p24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28" name="Google Shape;228;p24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29" name="Google Shape;229;p24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30" name="Google Shape;230;p24"/>
          <p:cNvSpPr/>
          <p:nvPr/>
        </p:nvSpPr>
        <p:spPr>
          <a:xfrm>
            <a:off x="1626025" y="1352200"/>
            <a:ext cx="4249800" cy="1176600"/>
          </a:xfrm>
          <a:prstGeom prst="wedgeRoundRectCallout">
            <a:avLst>
              <a:gd fmla="val 68835" name="adj1"/>
              <a:gd fmla="val 68386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   ...instead of talking to a DICT server,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your client will talk to DNS servers.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PA 2: DNS Client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36" name="Google Shape;236;p25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5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PA2</a:t>
            </a:r>
            <a:endParaRPr/>
          </a:p>
        </p:txBody>
      </p:sp>
      <p:sp>
        <p:nvSpPr>
          <p:cNvPr id="238" name="Google Shape;238;p25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5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DNS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40" name="Google Shape;240;p25"/>
          <p:cNvSpPr txBox="1"/>
          <p:nvPr/>
        </p:nvSpPr>
        <p:spPr>
          <a:xfrm>
            <a:off x="5871200" y="1327875"/>
            <a:ext cx="23889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dns-server.net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41" name="Google Shape;241;p25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42" name="Google Shape;242;p25"/>
          <p:cNvCxnSpPr>
            <a:stCxn id="239" idx="1"/>
            <a:endCxn id="241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3" name="Google Shape;243;p25"/>
          <p:cNvSpPr txBox="1"/>
          <p:nvPr/>
        </p:nvSpPr>
        <p:spPr>
          <a:xfrm>
            <a:off x="5738602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53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44" name="Google Shape;244;p25"/>
          <p:cNvSpPr txBox="1"/>
          <p:nvPr/>
        </p:nvSpPr>
        <p:spPr>
          <a:xfrm>
            <a:off x="1092650" y="1327875"/>
            <a:ext cx="16425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45" name="Google Shape;245;p25"/>
          <p:cNvCxnSpPr>
            <a:stCxn id="237" idx="3"/>
            <a:endCxn id="246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6" name="Google Shape;246;p25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6885500" y="768502"/>
            <a:ext cx="360600" cy="3606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50" name="Google Shape;250;p25"/>
          <p:cNvSpPr/>
          <p:nvPr/>
        </p:nvSpPr>
        <p:spPr>
          <a:xfrm>
            <a:off x="6964240" y="847250"/>
            <a:ext cx="203100" cy="2031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6852300" y="915650"/>
            <a:ext cx="66300" cy="663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6902100" y="4591652"/>
            <a:ext cx="360600" cy="3606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53" name="Google Shape;253;p25"/>
          <p:cNvSpPr/>
          <p:nvPr/>
        </p:nvSpPr>
        <p:spPr>
          <a:xfrm>
            <a:off x="6980840" y="4670400"/>
            <a:ext cx="203100" cy="2031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6868900" y="4738800"/>
            <a:ext cx="66300" cy="663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PA 2: DNS Client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60" name="Google Shape;260;p26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6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PA2</a:t>
            </a:r>
            <a:endParaRPr/>
          </a:p>
        </p:txBody>
      </p:sp>
      <p:sp>
        <p:nvSpPr>
          <p:cNvPr id="262" name="Google Shape;262;p26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DNS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64" name="Google Shape;264;p26"/>
          <p:cNvSpPr txBox="1"/>
          <p:nvPr/>
        </p:nvSpPr>
        <p:spPr>
          <a:xfrm>
            <a:off x="5871200" y="1327875"/>
            <a:ext cx="23889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dns-server.net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65" name="Google Shape;265;p26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66" name="Google Shape;266;p26"/>
          <p:cNvCxnSpPr>
            <a:stCxn id="263" idx="1"/>
            <a:endCxn id="265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7" name="Google Shape;267;p26"/>
          <p:cNvSpPr txBox="1"/>
          <p:nvPr/>
        </p:nvSpPr>
        <p:spPr>
          <a:xfrm>
            <a:off x="5738602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53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68" name="Google Shape;268;p26"/>
          <p:cNvSpPr txBox="1"/>
          <p:nvPr/>
        </p:nvSpPr>
        <p:spPr>
          <a:xfrm>
            <a:off x="1092650" y="1327875"/>
            <a:ext cx="16425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69" name="Google Shape;269;p26"/>
          <p:cNvCxnSpPr>
            <a:stCxn id="261" idx="3"/>
            <a:endCxn id="270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0" name="Google Shape;270;p26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71" name="Google Shape;271;p26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72" name="Google Shape;272;p26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73" name="Google Shape;273;p26"/>
          <p:cNvSpPr/>
          <p:nvPr/>
        </p:nvSpPr>
        <p:spPr>
          <a:xfrm>
            <a:off x="6885500" y="768502"/>
            <a:ext cx="360600" cy="3606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74" name="Google Shape;274;p26"/>
          <p:cNvSpPr/>
          <p:nvPr/>
        </p:nvSpPr>
        <p:spPr>
          <a:xfrm>
            <a:off x="6964240" y="847250"/>
            <a:ext cx="203100" cy="2031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75" name="Google Shape;275;p26"/>
          <p:cNvSpPr/>
          <p:nvPr/>
        </p:nvSpPr>
        <p:spPr>
          <a:xfrm>
            <a:off x="6852300" y="915650"/>
            <a:ext cx="66300" cy="663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76" name="Google Shape;276;p26"/>
          <p:cNvSpPr/>
          <p:nvPr/>
        </p:nvSpPr>
        <p:spPr>
          <a:xfrm>
            <a:off x="6902100" y="4591652"/>
            <a:ext cx="360600" cy="3606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77" name="Google Shape;277;p26"/>
          <p:cNvSpPr/>
          <p:nvPr/>
        </p:nvSpPr>
        <p:spPr>
          <a:xfrm>
            <a:off x="6980840" y="4670400"/>
            <a:ext cx="203100" cy="2031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78" name="Google Shape;278;p26"/>
          <p:cNvSpPr/>
          <p:nvPr/>
        </p:nvSpPr>
        <p:spPr>
          <a:xfrm>
            <a:off x="6868900" y="4738800"/>
            <a:ext cx="66300" cy="663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79" name="Google Shape;279;p26"/>
          <p:cNvSpPr/>
          <p:nvPr/>
        </p:nvSpPr>
        <p:spPr>
          <a:xfrm>
            <a:off x="2773800" y="1327875"/>
            <a:ext cx="3783900" cy="1135800"/>
          </a:xfrm>
          <a:prstGeom prst="wedgeRoundRectCallout">
            <a:avLst>
              <a:gd fmla="val 55564" name="adj1"/>
              <a:gd fmla="val -80630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It may even talk to multiple DNS servers for iterative querying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7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PA 2: DNS Client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85" name="Google Shape;285;p27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7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PA2</a:t>
            </a:r>
            <a:endParaRPr/>
          </a:p>
        </p:txBody>
      </p:sp>
      <p:sp>
        <p:nvSpPr>
          <p:cNvPr id="287" name="Google Shape;287;p27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7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DNS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89" name="Google Shape;289;p27"/>
          <p:cNvSpPr txBox="1"/>
          <p:nvPr/>
        </p:nvSpPr>
        <p:spPr>
          <a:xfrm>
            <a:off x="5871200" y="1327875"/>
            <a:ext cx="23889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dns-server.net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90" name="Google Shape;290;p27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91" name="Google Shape;291;p27"/>
          <p:cNvCxnSpPr>
            <a:stCxn id="288" idx="1"/>
            <a:endCxn id="290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2" name="Google Shape;292;p27"/>
          <p:cNvSpPr txBox="1"/>
          <p:nvPr/>
        </p:nvSpPr>
        <p:spPr>
          <a:xfrm>
            <a:off x="5738602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53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93" name="Google Shape;293;p27"/>
          <p:cNvSpPr txBox="1"/>
          <p:nvPr/>
        </p:nvSpPr>
        <p:spPr>
          <a:xfrm>
            <a:off x="1092650" y="1327875"/>
            <a:ext cx="16425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94" name="Google Shape;294;p27"/>
          <p:cNvCxnSpPr>
            <a:stCxn id="286" idx="3"/>
            <a:endCxn id="295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6" name="Google Shape;296;p27"/>
          <p:cNvSpPr/>
          <p:nvPr/>
        </p:nvSpPr>
        <p:spPr>
          <a:xfrm>
            <a:off x="5934452" y="87408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cxnSp>
        <p:nvCxnSpPr>
          <p:cNvPr id="297" name="Google Shape;297;p27"/>
          <p:cNvCxnSpPr>
            <a:stCxn id="295" idx="6"/>
            <a:endCxn id="296" idx="4"/>
          </p:cNvCxnSpPr>
          <p:nvPr/>
        </p:nvCxnSpPr>
        <p:spPr>
          <a:xfrm flipH="1" rot="10800000">
            <a:off x="3295354" y="948775"/>
            <a:ext cx="2639100" cy="20397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6D9EEB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295" name="Google Shape;295;p27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98" name="Google Shape;298;p27"/>
          <p:cNvSpPr/>
          <p:nvPr/>
        </p:nvSpPr>
        <p:spPr>
          <a:xfrm>
            <a:off x="4507952" y="2839075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cxnSp>
        <p:nvCxnSpPr>
          <p:cNvPr id="299" name="Google Shape;299;p27"/>
          <p:cNvCxnSpPr>
            <a:stCxn id="295" idx="6"/>
            <a:endCxn id="298" idx="4"/>
          </p:cNvCxnSpPr>
          <p:nvPr/>
        </p:nvCxnSpPr>
        <p:spPr>
          <a:xfrm flipH="1" rot="10800000">
            <a:off x="3295354" y="2913775"/>
            <a:ext cx="1212600" cy="747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6D9EEB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27"/>
          <p:cNvCxnSpPr>
            <a:stCxn id="290" idx="2"/>
            <a:endCxn id="298" idx="0"/>
          </p:cNvCxnSpPr>
          <p:nvPr/>
        </p:nvCxnSpPr>
        <p:spPr>
          <a:xfrm rot="10800000">
            <a:off x="4721754" y="2913775"/>
            <a:ext cx="962400" cy="747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rgbClr val="6FA8DC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301" name="Google Shape;301;p27"/>
          <p:cNvSpPr/>
          <p:nvPr/>
        </p:nvSpPr>
        <p:spPr>
          <a:xfrm>
            <a:off x="5470258" y="4697241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cxnSp>
        <p:nvCxnSpPr>
          <p:cNvPr id="302" name="Google Shape;302;p27"/>
          <p:cNvCxnSpPr>
            <a:stCxn id="303" idx="6"/>
            <a:endCxn id="301" idx="5"/>
          </p:cNvCxnSpPr>
          <p:nvPr/>
        </p:nvCxnSpPr>
        <p:spPr>
          <a:xfrm>
            <a:off x="3295354" y="2988475"/>
            <a:ext cx="2193600" cy="1783500"/>
          </a:xfrm>
          <a:prstGeom prst="curvedConnector3">
            <a:avLst>
              <a:gd fmla="val 49574" name="adj1"/>
            </a:avLst>
          </a:prstGeom>
          <a:noFill/>
          <a:ln cap="flat" cmpd="sng" w="19050">
            <a:solidFill>
              <a:srgbClr val="6FA8DC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304" name="Google Shape;304;p27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03" name="Google Shape;303;p27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305" name="Google Shape;305;p27"/>
          <p:cNvCxnSpPr>
            <a:stCxn id="296" idx="0"/>
            <a:endCxn id="306" idx="1"/>
          </p:cNvCxnSpPr>
          <p:nvPr/>
        </p:nvCxnSpPr>
        <p:spPr>
          <a:xfrm>
            <a:off x="6148352" y="948788"/>
            <a:ext cx="737100" cy="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6D9EEB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27"/>
          <p:cNvCxnSpPr>
            <a:stCxn id="301" idx="0"/>
            <a:endCxn id="308" idx="2"/>
          </p:cNvCxnSpPr>
          <p:nvPr/>
        </p:nvCxnSpPr>
        <p:spPr>
          <a:xfrm>
            <a:off x="5684158" y="4771941"/>
            <a:ext cx="1184700" cy="600"/>
          </a:xfrm>
          <a:prstGeom prst="curvedConnector3">
            <a:avLst>
              <a:gd fmla="val 50002" name="adj1"/>
            </a:avLst>
          </a:prstGeom>
          <a:noFill/>
          <a:ln cap="flat" cmpd="sng" w="19050">
            <a:solidFill>
              <a:srgbClr val="6FA8DC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309" name="Google Shape;309;p27"/>
          <p:cNvSpPr/>
          <p:nvPr/>
        </p:nvSpPr>
        <p:spPr>
          <a:xfrm>
            <a:off x="4007077" y="2988475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cxnSp>
        <p:nvCxnSpPr>
          <p:cNvPr id="310" name="Google Shape;310;p27"/>
          <p:cNvCxnSpPr>
            <a:stCxn id="303" idx="6"/>
            <a:endCxn id="309" idx="4"/>
          </p:cNvCxnSpPr>
          <p:nvPr/>
        </p:nvCxnSpPr>
        <p:spPr>
          <a:xfrm>
            <a:off x="3295354" y="2988475"/>
            <a:ext cx="711600" cy="74700"/>
          </a:xfrm>
          <a:prstGeom prst="curvedConnector3">
            <a:avLst>
              <a:gd fmla="val 50009" name="adj1"/>
            </a:avLst>
          </a:prstGeom>
          <a:noFill/>
          <a:ln cap="flat" cmpd="sng" w="19050">
            <a:solidFill>
              <a:srgbClr val="6D9EEB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311" name="Google Shape;311;p27"/>
          <p:cNvCxnSpPr>
            <a:stCxn id="304" idx="2"/>
            <a:endCxn id="309" idx="0"/>
          </p:cNvCxnSpPr>
          <p:nvPr/>
        </p:nvCxnSpPr>
        <p:spPr>
          <a:xfrm flipH="1">
            <a:off x="4221054" y="2988475"/>
            <a:ext cx="1463100" cy="74700"/>
          </a:xfrm>
          <a:prstGeom prst="curvedConnector3">
            <a:avLst>
              <a:gd fmla="val 50003" name="adj1"/>
            </a:avLst>
          </a:prstGeom>
          <a:noFill/>
          <a:ln cap="flat" cmpd="sng" w="19050">
            <a:solidFill>
              <a:srgbClr val="6FA8DC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312" name="Google Shape;312;p27"/>
          <p:cNvSpPr/>
          <p:nvPr/>
        </p:nvSpPr>
        <p:spPr>
          <a:xfrm>
            <a:off x="6885500" y="768502"/>
            <a:ext cx="360600" cy="3606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13" name="Google Shape;313;p27"/>
          <p:cNvSpPr/>
          <p:nvPr/>
        </p:nvSpPr>
        <p:spPr>
          <a:xfrm>
            <a:off x="6964240" y="847250"/>
            <a:ext cx="203100" cy="2031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14" name="Google Shape;314;p27"/>
          <p:cNvSpPr/>
          <p:nvPr/>
        </p:nvSpPr>
        <p:spPr>
          <a:xfrm>
            <a:off x="6852300" y="915650"/>
            <a:ext cx="66300" cy="663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15" name="Google Shape;315;p27"/>
          <p:cNvSpPr/>
          <p:nvPr/>
        </p:nvSpPr>
        <p:spPr>
          <a:xfrm>
            <a:off x="6902100" y="4591652"/>
            <a:ext cx="360600" cy="3606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16" name="Google Shape;316;p27"/>
          <p:cNvSpPr/>
          <p:nvPr/>
        </p:nvSpPr>
        <p:spPr>
          <a:xfrm>
            <a:off x="6980840" y="4670400"/>
            <a:ext cx="203100" cy="2031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08" name="Google Shape;308;p27"/>
          <p:cNvSpPr/>
          <p:nvPr/>
        </p:nvSpPr>
        <p:spPr>
          <a:xfrm>
            <a:off x="6868900" y="4738800"/>
            <a:ext cx="66300" cy="663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8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PA 2: DNS Client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322" name="Google Shape;322;p28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8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PA2</a:t>
            </a:r>
            <a:endParaRPr/>
          </a:p>
        </p:txBody>
      </p:sp>
      <p:sp>
        <p:nvSpPr>
          <p:cNvPr id="324" name="Google Shape;324;p28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8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DNS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26" name="Google Shape;326;p28"/>
          <p:cNvSpPr txBox="1"/>
          <p:nvPr/>
        </p:nvSpPr>
        <p:spPr>
          <a:xfrm>
            <a:off x="5871200" y="1327875"/>
            <a:ext cx="23889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dns-server.net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27" name="Google Shape;327;p28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328" name="Google Shape;328;p28"/>
          <p:cNvCxnSpPr>
            <a:stCxn id="325" idx="1"/>
            <a:endCxn id="327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9" name="Google Shape;329;p28"/>
          <p:cNvSpPr txBox="1"/>
          <p:nvPr/>
        </p:nvSpPr>
        <p:spPr>
          <a:xfrm>
            <a:off x="5738602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53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30" name="Google Shape;330;p28"/>
          <p:cNvSpPr txBox="1"/>
          <p:nvPr/>
        </p:nvSpPr>
        <p:spPr>
          <a:xfrm>
            <a:off x="1092650" y="1327875"/>
            <a:ext cx="16425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331" name="Google Shape;331;p28"/>
          <p:cNvCxnSpPr>
            <a:stCxn id="323" idx="3"/>
            <a:endCxn id="332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3" name="Google Shape;333;p28"/>
          <p:cNvSpPr/>
          <p:nvPr/>
        </p:nvSpPr>
        <p:spPr>
          <a:xfrm>
            <a:off x="5934452" y="87408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cxnSp>
        <p:nvCxnSpPr>
          <p:cNvPr id="334" name="Google Shape;334;p28"/>
          <p:cNvCxnSpPr>
            <a:stCxn id="332" idx="6"/>
            <a:endCxn id="333" idx="4"/>
          </p:cNvCxnSpPr>
          <p:nvPr/>
        </p:nvCxnSpPr>
        <p:spPr>
          <a:xfrm flipH="1" rot="10800000">
            <a:off x="3295354" y="948775"/>
            <a:ext cx="2639100" cy="20397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6D9EEB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332" name="Google Shape;332;p28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35" name="Google Shape;335;p28"/>
          <p:cNvSpPr/>
          <p:nvPr/>
        </p:nvSpPr>
        <p:spPr>
          <a:xfrm>
            <a:off x="4507952" y="2839075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cxnSp>
        <p:nvCxnSpPr>
          <p:cNvPr id="336" name="Google Shape;336;p28"/>
          <p:cNvCxnSpPr>
            <a:stCxn id="332" idx="6"/>
            <a:endCxn id="335" idx="4"/>
          </p:cNvCxnSpPr>
          <p:nvPr/>
        </p:nvCxnSpPr>
        <p:spPr>
          <a:xfrm flipH="1" rot="10800000">
            <a:off x="3295354" y="2913775"/>
            <a:ext cx="1212600" cy="747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6D9EEB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28"/>
          <p:cNvCxnSpPr>
            <a:stCxn id="327" idx="2"/>
            <a:endCxn id="335" idx="0"/>
          </p:cNvCxnSpPr>
          <p:nvPr/>
        </p:nvCxnSpPr>
        <p:spPr>
          <a:xfrm rot="10800000">
            <a:off x="4721754" y="2913775"/>
            <a:ext cx="962400" cy="747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rgbClr val="6FA8DC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338" name="Google Shape;338;p28"/>
          <p:cNvSpPr/>
          <p:nvPr/>
        </p:nvSpPr>
        <p:spPr>
          <a:xfrm>
            <a:off x="5470258" y="4697241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cxnSp>
        <p:nvCxnSpPr>
          <p:cNvPr id="339" name="Google Shape;339;p28"/>
          <p:cNvCxnSpPr>
            <a:stCxn id="340" idx="6"/>
            <a:endCxn id="338" idx="5"/>
          </p:cNvCxnSpPr>
          <p:nvPr/>
        </p:nvCxnSpPr>
        <p:spPr>
          <a:xfrm>
            <a:off x="3295354" y="2988475"/>
            <a:ext cx="2193600" cy="1783500"/>
          </a:xfrm>
          <a:prstGeom prst="curvedConnector3">
            <a:avLst>
              <a:gd fmla="val 49574" name="adj1"/>
            </a:avLst>
          </a:prstGeom>
          <a:noFill/>
          <a:ln cap="flat" cmpd="sng" w="19050">
            <a:solidFill>
              <a:srgbClr val="6FA8DC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341" name="Google Shape;341;p28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40" name="Google Shape;340;p28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342" name="Google Shape;342;p28"/>
          <p:cNvCxnSpPr>
            <a:stCxn id="333" idx="0"/>
            <a:endCxn id="343" idx="1"/>
          </p:cNvCxnSpPr>
          <p:nvPr/>
        </p:nvCxnSpPr>
        <p:spPr>
          <a:xfrm>
            <a:off x="6148352" y="948788"/>
            <a:ext cx="737100" cy="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6D9EEB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344" name="Google Shape;344;p28"/>
          <p:cNvCxnSpPr>
            <a:stCxn id="338" idx="0"/>
            <a:endCxn id="345" idx="2"/>
          </p:cNvCxnSpPr>
          <p:nvPr/>
        </p:nvCxnSpPr>
        <p:spPr>
          <a:xfrm>
            <a:off x="5684158" y="4771941"/>
            <a:ext cx="1184700" cy="600"/>
          </a:xfrm>
          <a:prstGeom prst="curvedConnector3">
            <a:avLst>
              <a:gd fmla="val 50002" name="adj1"/>
            </a:avLst>
          </a:prstGeom>
          <a:noFill/>
          <a:ln cap="flat" cmpd="sng" w="19050">
            <a:solidFill>
              <a:srgbClr val="6FA8DC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346" name="Google Shape;346;p28"/>
          <p:cNvSpPr/>
          <p:nvPr/>
        </p:nvSpPr>
        <p:spPr>
          <a:xfrm>
            <a:off x="4007077" y="2988475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cxnSp>
        <p:nvCxnSpPr>
          <p:cNvPr id="347" name="Google Shape;347;p28"/>
          <p:cNvCxnSpPr>
            <a:stCxn id="340" idx="6"/>
            <a:endCxn id="346" idx="4"/>
          </p:cNvCxnSpPr>
          <p:nvPr/>
        </p:nvCxnSpPr>
        <p:spPr>
          <a:xfrm>
            <a:off x="3295354" y="2988475"/>
            <a:ext cx="711600" cy="74700"/>
          </a:xfrm>
          <a:prstGeom prst="curvedConnector3">
            <a:avLst>
              <a:gd fmla="val 50009" name="adj1"/>
            </a:avLst>
          </a:prstGeom>
          <a:noFill/>
          <a:ln cap="flat" cmpd="sng" w="19050">
            <a:solidFill>
              <a:srgbClr val="6D9EEB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28"/>
          <p:cNvCxnSpPr>
            <a:stCxn id="341" idx="2"/>
            <a:endCxn id="346" idx="0"/>
          </p:cNvCxnSpPr>
          <p:nvPr/>
        </p:nvCxnSpPr>
        <p:spPr>
          <a:xfrm flipH="1">
            <a:off x="4221054" y="2988475"/>
            <a:ext cx="1463100" cy="74700"/>
          </a:xfrm>
          <a:prstGeom prst="curvedConnector3">
            <a:avLst>
              <a:gd fmla="val 50003" name="adj1"/>
            </a:avLst>
          </a:prstGeom>
          <a:noFill/>
          <a:ln cap="flat" cmpd="sng" w="19050">
            <a:solidFill>
              <a:srgbClr val="6FA8DC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349" name="Google Shape;349;p28"/>
          <p:cNvSpPr/>
          <p:nvPr/>
        </p:nvSpPr>
        <p:spPr>
          <a:xfrm>
            <a:off x="6885500" y="768502"/>
            <a:ext cx="360600" cy="3606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50" name="Google Shape;350;p28"/>
          <p:cNvSpPr/>
          <p:nvPr/>
        </p:nvSpPr>
        <p:spPr>
          <a:xfrm>
            <a:off x="6964240" y="847250"/>
            <a:ext cx="203100" cy="2031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51" name="Google Shape;351;p28"/>
          <p:cNvSpPr/>
          <p:nvPr/>
        </p:nvSpPr>
        <p:spPr>
          <a:xfrm>
            <a:off x="6852300" y="915650"/>
            <a:ext cx="66300" cy="663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52" name="Google Shape;352;p28"/>
          <p:cNvSpPr/>
          <p:nvPr/>
        </p:nvSpPr>
        <p:spPr>
          <a:xfrm>
            <a:off x="6902100" y="4591652"/>
            <a:ext cx="360600" cy="3606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53" name="Google Shape;353;p28"/>
          <p:cNvSpPr/>
          <p:nvPr/>
        </p:nvSpPr>
        <p:spPr>
          <a:xfrm>
            <a:off x="6980840" y="4670400"/>
            <a:ext cx="203100" cy="2031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45" name="Google Shape;345;p28"/>
          <p:cNvSpPr/>
          <p:nvPr/>
        </p:nvSpPr>
        <p:spPr>
          <a:xfrm>
            <a:off x="6868900" y="4738800"/>
            <a:ext cx="66300" cy="663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54" name="Google Shape;354;p28"/>
          <p:cNvSpPr/>
          <p:nvPr/>
        </p:nvSpPr>
        <p:spPr>
          <a:xfrm>
            <a:off x="1388575" y="636375"/>
            <a:ext cx="6690300" cy="1783500"/>
          </a:xfrm>
          <a:prstGeom prst="wedgeRoundRectCallout">
            <a:avLst>
              <a:gd fmla="val -5916" name="adj1"/>
              <a:gd fmla="val 71964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DNS uses UDP by default for the following two main reasons: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CA" sz="1800"/>
              <a:t>DNS queries are small</a:t>
            </a:r>
            <a:endParaRPr sz="1800"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CA" sz="1800"/>
              <a:t>UDP avoids connection setup overhead</a:t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PA 2: DNS Client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360" name="Google Shape;360;p29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9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PA2</a:t>
            </a:r>
            <a:endParaRPr/>
          </a:p>
        </p:txBody>
      </p:sp>
      <p:sp>
        <p:nvSpPr>
          <p:cNvPr id="362" name="Google Shape;362;p29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9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DNS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64" name="Google Shape;364;p29"/>
          <p:cNvSpPr txBox="1"/>
          <p:nvPr/>
        </p:nvSpPr>
        <p:spPr>
          <a:xfrm>
            <a:off x="5871200" y="1327875"/>
            <a:ext cx="23889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dns-server.net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65" name="Google Shape;365;p29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366" name="Google Shape;366;p29"/>
          <p:cNvCxnSpPr>
            <a:stCxn id="363" idx="1"/>
            <a:endCxn id="365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7" name="Google Shape;367;p29"/>
          <p:cNvSpPr txBox="1"/>
          <p:nvPr/>
        </p:nvSpPr>
        <p:spPr>
          <a:xfrm>
            <a:off x="5738602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53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68" name="Google Shape;368;p29"/>
          <p:cNvSpPr txBox="1"/>
          <p:nvPr/>
        </p:nvSpPr>
        <p:spPr>
          <a:xfrm>
            <a:off x="1092650" y="1327875"/>
            <a:ext cx="16425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369" name="Google Shape;369;p29"/>
          <p:cNvCxnSpPr>
            <a:stCxn id="361" idx="3"/>
            <a:endCxn id="370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1" name="Google Shape;371;p29"/>
          <p:cNvSpPr/>
          <p:nvPr/>
        </p:nvSpPr>
        <p:spPr>
          <a:xfrm>
            <a:off x="5934452" y="87408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cxnSp>
        <p:nvCxnSpPr>
          <p:cNvPr id="372" name="Google Shape;372;p29"/>
          <p:cNvCxnSpPr>
            <a:stCxn id="370" idx="6"/>
            <a:endCxn id="371" idx="4"/>
          </p:cNvCxnSpPr>
          <p:nvPr/>
        </p:nvCxnSpPr>
        <p:spPr>
          <a:xfrm flipH="1" rot="10800000">
            <a:off x="3295354" y="948775"/>
            <a:ext cx="2639100" cy="20397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6D9EEB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370" name="Google Shape;370;p29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73" name="Google Shape;373;p29"/>
          <p:cNvSpPr/>
          <p:nvPr/>
        </p:nvSpPr>
        <p:spPr>
          <a:xfrm>
            <a:off x="4507952" y="2839075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cxnSp>
        <p:nvCxnSpPr>
          <p:cNvPr id="374" name="Google Shape;374;p29"/>
          <p:cNvCxnSpPr>
            <a:stCxn id="370" idx="6"/>
            <a:endCxn id="373" idx="4"/>
          </p:cNvCxnSpPr>
          <p:nvPr/>
        </p:nvCxnSpPr>
        <p:spPr>
          <a:xfrm flipH="1" rot="10800000">
            <a:off x="3295354" y="2913775"/>
            <a:ext cx="1212600" cy="747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6D9EEB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375" name="Google Shape;375;p29"/>
          <p:cNvCxnSpPr>
            <a:stCxn id="365" idx="2"/>
            <a:endCxn id="373" idx="0"/>
          </p:cNvCxnSpPr>
          <p:nvPr/>
        </p:nvCxnSpPr>
        <p:spPr>
          <a:xfrm rot="10800000">
            <a:off x="4721754" y="2913775"/>
            <a:ext cx="962400" cy="747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rgbClr val="6FA8DC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376" name="Google Shape;376;p29"/>
          <p:cNvSpPr/>
          <p:nvPr/>
        </p:nvSpPr>
        <p:spPr>
          <a:xfrm>
            <a:off x="5470258" y="4697241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cxnSp>
        <p:nvCxnSpPr>
          <p:cNvPr id="377" name="Google Shape;377;p29"/>
          <p:cNvCxnSpPr>
            <a:stCxn id="378" idx="6"/>
            <a:endCxn id="376" idx="5"/>
          </p:cNvCxnSpPr>
          <p:nvPr/>
        </p:nvCxnSpPr>
        <p:spPr>
          <a:xfrm>
            <a:off x="3295354" y="2988475"/>
            <a:ext cx="2193600" cy="1783500"/>
          </a:xfrm>
          <a:prstGeom prst="curvedConnector3">
            <a:avLst>
              <a:gd fmla="val 49574" name="adj1"/>
            </a:avLst>
          </a:prstGeom>
          <a:noFill/>
          <a:ln cap="flat" cmpd="sng" w="19050">
            <a:solidFill>
              <a:srgbClr val="6FA8DC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379" name="Google Shape;379;p29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78" name="Google Shape;378;p29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380" name="Google Shape;380;p29"/>
          <p:cNvCxnSpPr>
            <a:stCxn id="371" idx="0"/>
            <a:endCxn id="381" idx="1"/>
          </p:cNvCxnSpPr>
          <p:nvPr/>
        </p:nvCxnSpPr>
        <p:spPr>
          <a:xfrm>
            <a:off x="6148352" y="948788"/>
            <a:ext cx="737100" cy="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6D9EEB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382" name="Google Shape;382;p29"/>
          <p:cNvCxnSpPr>
            <a:stCxn id="376" idx="0"/>
            <a:endCxn id="383" idx="2"/>
          </p:cNvCxnSpPr>
          <p:nvPr/>
        </p:nvCxnSpPr>
        <p:spPr>
          <a:xfrm>
            <a:off x="5684158" y="4771941"/>
            <a:ext cx="1184700" cy="600"/>
          </a:xfrm>
          <a:prstGeom prst="curvedConnector3">
            <a:avLst>
              <a:gd fmla="val 50002" name="adj1"/>
            </a:avLst>
          </a:prstGeom>
          <a:noFill/>
          <a:ln cap="flat" cmpd="sng" w="19050">
            <a:solidFill>
              <a:srgbClr val="6FA8DC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384" name="Google Shape;384;p29"/>
          <p:cNvSpPr/>
          <p:nvPr/>
        </p:nvSpPr>
        <p:spPr>
          <a:xfrm>
            <a:off x="4007077" y="2988475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cxnSp>
        <p:nvCxnSpPr>
          <p:cNvPr id="385" name="Google Shape;385;p29"/>
          <p:cNvCxnSpPr>
            <a:stCxn id="378" idx="6"/>
            <a:endCxn id="384" idx="4"/>
          </p:cNvCxnSpPr>
          <p:nvPr/>
        </p:nvCxnSpPr>
        <p:spPr>
          <a:xfrm>
            <a:off x="3295354" y="2988475"/>
            <a:ext cx="711600" cy="74700"/>
          </a:xfrm>
          <a:prstGeom prst="curvedConnector3">
            <a:avLst>
              <a:gd fmla="val 50009" name="adj1"/>
            </a:avLst>
          </a:prstGeom>
          <a:noFill/>
          <a:ln cap="flat" cmpd="sng" w="19050">
            <a:solidFill>
              <a:srgbClr val="6D9EEB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386" name="Google Shape;386;p29"/>
          <p:cNvCxnSpPr>
            <a:stCxn id="379" idx="2"/>
            <a:endCxn id="384" idx="0"/>
          </p:cNvCxnSpPr>
          <p:nvPr/>
        </p:nvCxnSpPr>
        <p:spPr>
          <a:xfrm flipH="1">
            <a:off x="4221054" y="2988475"/>
            <a:ext cx="1463100" cy="74700"/>
          </a:xfrm>
          <a:prstGeom prst="curvedConnector3">
            <a:avLst>
              <a:gd fmla="val 50003" name="adj1"/>
            </a:avLst>
          </a:prstGeom>
          <a:noFill/>
          <a:ln cap="flat" cmpd="sng" w="19050">
            <a:solidFill>
              <a:srgbClr val="6FA8DC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387" name="Google Shape;387;p29"/>
          <p:cNvSpPr/>
          <p:nvPr/>
        </p:nvSpPr>
        <p:spPr>
          <a:xfrm>
            <a:off x="6885500" y="768502"/>
            <a:ext cx="360600" cy="3606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88" name="Google Shape;388;p29"/>
          <p:cNvSpPr/>
          <p:nvPr/>
        </p:nvSpPr>
        <p:spPr>
          <a:xfrm>
            <a:off x="6964240" y="847250"/>
            <a:ext cx="203100" cy="2031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89" name="Google Shape;389;p29"/>
          <p:cNvSpPr/>
          <p:nvPr/>
        </p:nvSpPr>
        <p:spPr>
          <a:xfrm>
            <a:off x="6852300" y="915650"/>
            <a:ext cx="66300" cy="663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90" name="Google Shape;390;p29"/>
          <p:cNvSpPr/>
          <p:nvPr/>
        </p:nvSpPr>
        <p:spPr>
          <a:xfrm>
            <a:off x="6902100" y="4591652"/>
            <a:ext cx="360600" cy="3606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91" name="Google Shape;391;p29"/>
          <p:cNvSpPr/>
          <p:nvPr/>
        </p:nvSpPr>
        <p:spPr>
          <a:xfrm>
            <a:off x="6980840" y="4670400"/>
            <a:ext cx="203100" cy="2031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83" name="Google Shape;383;p29"/>
          <p:cNvSpPr/>
          <p:nvPr/>
        </p:nvSpPr>
        <p:spPr>
          <a:xfrm>
            <a:off x="6868900" y="4738800"/>
            <a:ext cx="66300" cy="663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92" name="Google Shape;392;p29"/>
          <p:cNvSpPr/>
          <p:nvPr/>
        </p:nvSpPr>
        <p:spPr>
          <a:xfrm>
            <a:off x="3839300" y="2913775"/>
            <a:ext cx="4680900" cy="1337400"/>
          </a:xfrm>
          <a:prstGeom prst="wedgeRoundRectCallout">
            <a:avLst>
              <a:gd fmla="val 18020" name="adj1"/>
              <a:gd fmla="val 70213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Using UDP is useful for iterative querying, since the client may contact multiple DNS servers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0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PA 2: DNS Client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398" name="Google Shape;398;p30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0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PA2</a:t>
            </a:r>
            <a:endParaRPr/>
          </a:p>
        </p:txBody>
      </p:sp>
      <p:sp>
        <p:nvSpPr>
          <p:cNvPr id="400" name="Google Shape;400;p30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0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DNS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02" name="Google Shape;402;p30"/>
          <p:cNvSpPr txBox="1"/>
          <p:nvPr/>
        </p:nvSpPr>
        <p:spPr>
          <a:xfrm>
            <a:off x="5871200" y="1327875"/>
            <a:ext cx="23889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dns-server.net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03" name="Google Shape;403;p30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404" name="Google Shape;404;p30"/>
          <p:cNvCxnSpPr>
            <a:stCxn id="401" idx="1"/>
            <a:endCxn id="403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5" name="Google Shape;405;p30"/>
          <p:cNvSpPr txBox="1"/>
          <p:nvPr/>
        </p:nvSpPr>
        <p:spPr>
          <a:xfrm>
            <a:off x="5738602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53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06" name="Google Shape;406;p30"/>
          <p:cNvSpPr txBox="1"/>
          <p:nvPr/>
        </p:nvSpPr>
        <p:spPr>
          <a:xfrm>
            <a:off x="1092650" y="1327875"/>
            <a:ext cx="16425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407" name="Google Shape;407;p30"/>
          <p:cNvCxnSpPr>
            <a:stCxn id="399" idx="3"/>
            <a:endCxn id="408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9" name="Google Shape;409;p30"/>
          <p:cNvSpPr/>
          <p:nvPr/>
        </p:nvSpPr>
        <p:spPr>
          <a:xfrm>
            <a:off x="5934452" y="87408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cxnSp>
        <p:nvCxnSpPr>
          <p:cNvPr id="410" name="Google Shape;410;p30"/>
          <p:cNvCxnSpPr>
            <a:stCxn id="408" idx="6"/>
            <a:endCxn id="409" idx="4"/>
          </p:cNvCxnSpPr>
          <p:nvPr/>
        </p:nvCxnSpPr>
        <p:spPr>
          <a:xfrm flipH="1" rot="10800000">
            <a:off x="3295354" y="948775"/>
            <a:ext cx="2639100" cy="20397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6D9EEB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408" name="Google Shape;408;p30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11" name="Google Shape;411;p30"/>
          <p:cNvSpPr/>
          <p:nvPr/>
        </p:nvSpPr>
        <p:spPr>
          <a:xfrm>
            <a:off x="4507952" y="2839075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cxnSp>
        <p:nvCxnSpPr>
          <p:cNvPr id="412" name="Google Shape;412;p30"/>
          <p:cNvCxnSpPr>
            <a:stCxn id="408" idx="6"/>
            <a:endCxn id="411" idx="4"/>
          </p:cNvCxnSpPr>
          <p:nvPr/>
        </p:nvCxnSpPr>
        <p:spPr>
          <a:xfrm flipH="1" rot="10800000">
            <a:off x="3295354" y="2913775"/>
            <a:ext cx="1212600" cy="747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6D9EEB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413" name="Google Shape;413;p30"/>
          <p:cNvSpPr/>
          <p:nvPr/>
        </p:nvSpPr>
        <p:spPr>
          <a:xfrm>
            <a:off x="2521252" y="4591950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cxnSp>
        <p:nvCxnSpPr>
          <p:cNvPr id="414" name="Google Shape;414;p30"/>
          <p:cNvCxnSpPr>
            <a:stCxn id="403" idx="2"/>
            <a:endCxn id="413" idx="0"/>
          </p:cNvCxnSpPr>
          <p:nvPr/>
        </p:nvCxnSpPr>
        <p:spPr>
          <a:xfrm flipH="1">
            <a:off x="2735154" y="2988475"/>
            <a:ext cx="2949000" cy="16782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6FA8DC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30"/>
          <p:cNvCxnSpPr>
            <a:stCxn id="403" idx="2"/>
            <a:endCxn id="411" idx="0"/>
          </p:cNvCxnSpPr>
          <p:nvPr/>
        </p:nvCxnSpPr>
        <p:spPr>
          <a:xfrm rot="10800000">
            <a:off x="4721754" y="2913775"/>
            <a:ext cx="962400" cy="747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rgbClr val="6FA8DC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416" name="Google Shape;416;p30"/>
          <p:cNvSpPr/>
          <p:nvPr/>
        </p:nvSpPr>
        <p:spPr>
          <a:xfrm>
            <a:off x="1946691" y="4486360"/>
            <a:ext cx="360600" cy="3606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7" name="Google Shape;417;p30"/>
          <p:cNvCxnSpPr>
            <a:stCxn id="413" idx="4"/>
            <a:endCxn id="416" idx="3"/>
          </p:cNvCxnSpPr>
          <p:nvPr/>
        </p:nvCxnSpPr>
        <p:spPr>
          <a:xfrm flipH="1">
            <a:off x="2307352" y="4666650"/>
            <a:ext cx="213900" cy="600"/>
          </a:xfrm>
          <a:prstGeom prst="curvedConnector3">
            <a:avLst>
              <a:gd fmla="val 50014" name="adj1"/>
            </a:avLst>
          </a:prstGeom>
          <a:noFill/>
          <a:ln cap="flat" cmpd="sng" w="19050">
            <a:solidFill>
              <a:srgbClr val="6FA8DC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418" name="Google Shape;418;p30"/>
          <p:cNvSpPr/>
          <p:nvPr/>
        </p:nvSpPr>
        <p:spPr>
          <a:xfrm>
            <a:off x="5470258" y="4697241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cxnSp>
        <p:nvCxnSpPr>
          <p:cNvPr id="419" name="Google Shape;419;p30"/>
          <p:cNvCxnSpPr>
            <a:stCxn id="420" idx="6"/>
            <a:endCxn id="418" idx="5"/>
          </p:cNvCxnSpPr>
          <p:nvPr/>
        </p:nvCxnSpPr>
        <p:spPr>
          <a:xfrm>
            <a:off x="3295354" y="2988475"/>
            <a:ext cx="2193600" cy="1783500"/>
          </a:xfrm>
          <a:prstGeom prst="curvedConnector3">
            <a:avLst>
              <a:gd fmla="val 49574" name="adj1"/>
            </a:avLst>
          </a:prstGeom>
          <a:noFill/>
          <a:ln cap="flat" cmpd="sng" w="19050">
            <a:solidFill>
              <a:srgbClr val="6FA8DC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421" name="Google Shape;421;p30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20" name="Google Shape;420;p30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422" name="Google Shape;422;p30"/>
          <p:cNvCxnSpPr>
            <a:stCxn id="409" idx="0"/>
            <a:endCxn id="423" idx="1"/>
          </p:cNvCxnSpPr>
          <p:nvPr/>
        </p:nvCxnSpPr>
        <p:spPr>
          <a:xfrm>
            <a:off x="6148352" y="948788"/>
            <a:ext cx="737100" cy="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6D9EEB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424" name="Google Shape;424;p30"/>
          <p:cNvCxnSpPr>
            <a:stCxn id="418" idx="0"/>
            <a:endCxn id="425" idx="2"/>
          </p:cNvCxnSpPr>
          <p:nvPr/>
        </p:nvCxnSpPr>
        <p:spPr>
          <a:xfrm>
            <a:off x="5684158" y="4771941"/>
            <a:ext cx="1184700" cy="600"/>
          </a:xfrm>
          <a:prstGeom prst="curvedConnector3">
            <a:avLst>
              <a:gd fmla="val 50002" name="adj1"/>
            </a:avLst>
          </a:prstGeom>
          <a:noFill/>
          <a:ln cap="flat" cmpd="sng" w="19050">
            <a:solidFill>
              <a:srgbClr val="6FA8DC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426" name="Google Shape;426;p30"/>
          <p:cNvSpPr/>
          <p:nvPr/>
        </p:nvSpPr>
        <p:spPr>
          <a:xfrm>
            <a:off x="4007077" y="2988475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cxnSp>
        <p:nvCxnSpPr>
          <p:cNvPr id="427" name="Google Shape;427;p30"/>
          <p:cNvCxnSpPr>
            <a:stCxn id="420" idx="6"/>
            <a:endCxn id="426" idx="4"/>
          </p:cNvCxnSpPr>
          <p:nvPr/>
        </p:nvCxnSpPr>
        <p:spPr>
          <a:xfrm>
            <a:off x="3295354" y="2988475"/>
            <a:ext cx="711600" cy="74700"/>
          </a:xfrm>
          <a:prstGeom prst="curvedConnector3">
            <a:avLst>
              <a:gd fmla="val 50009" name="adj1"/>
            </a:avLst>
          </a:prstGeom>
          <a:noFill/>
          <a:ln cap="flat" cmpd="sng" w="19050">
            <a:solidFill>
              <a:srgbClr val="6D9EEB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428" name="Google Shape;428;p30"/>
          <p:cNvCxnSpPr>
            <a:stCxn id="421" idx="2"/>
            <a:endCxn id="426" idx="0"/>
          </p:cNvCxnSpPr>
          <p:nvPr/>
        </p:nvCxnSpPr>
        <p:spPr>
          <a:xfrm flipH="1">
            <a:off x="4221054" y="2988475"/>
            <a:ext cx="1463100" cy="74700"/>
          </a:xfrm>
          <a:prstGeom prst="curvedConnector3">
            <a:avLst>
              <a:gd fmla="val 50003" name="adj1"/>
            </a:avLst>
          </a:prstGeom>
          <a:noFill/>
          <a:ln cap="flat" cmpd="sng" w="19050">
            <a:solidFill>
              <a:srgbClr val="6FA8DC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429" name="Google Shape;429;p30"/>
          <p:cNvSpPr/>
          <p:nvPr/>
        </p:nvSpPr>
        <p:spPr>
          <a:xfrm>
            <a:off x="6885500" y="768502"/>
            <a:ext cx="360600" cy="3606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430" name="Google Shape;430;p30"/>
          <p:cNvSpPr/>
          <p:nvPr/>
        </p:nvSpPr>
        <p:spPr>
          <a:xfrm>
            <a:off x="6964240" y="847250"/>
            <a:ext cx="203100" cy="2031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31" name="Google Shape;431;p30"/>
          <p:cNvSpPr/>
          <p:nvPr/>
        </p:nvSpPr>
        <p:spPr>
          <a:xfrm>
            <a:off x="6852300" y="915650"/>
            <a:ext cx="66300" cy="663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32" name="Google Shape;432;p30"/>
          <p:cNvSpPr/>
          <p:nvPr/>
        </p:nvSpPr>
        <p:spPr>
          <a:xfrm>
            <a:off x="6902100" y="4591652"/>
            <a:ext cx="360600" cy="3606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433" name="Google Shape;433;p30"/>
          <p:cNvSpPr/>
          <p:nvPr/>
        </p:nvSpPr>
        <p:spPr>
          <a:xfrm>
            <a:off x="6980840" y="4670400"/>
            <a:ext cx="203100" cy="2031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25" name="Google Shape;425;p30"/>
          <p:cNvSpPr/>
          <p:nvPr/>
        </p:nvSpPr>
        <p:spPr>
          <a:xfrm>
            <a:off x="6868900" y="4738800"/>
            <a:ext cx="66300" cy="663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34" name="Google Shape;434;p30"/>
          <p:cNvSpPr/>
          <p:nvPr/>
        </p:nvSpPr>
        <p:spPr>
          <a:xfrm>
            <a:off x="2025440" y="4565400"/>
            <a:ext cx="203100" cy="2031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35" name="Google Shape;435;p30"/>
          <p:cNvSpPr/>
          <p:nvPr/>
        </p:nvSpPr>
        <p:spPr>
          <a:xfrm>
            <a:off x="2277475" y="4633500"/>
            <a:ext cx="66300" cy="663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1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PA 2: DNS Client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441" name="Google Shape;441;p31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1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PA2</a:t>
            </a:r>
            <a:endParaRPr/>
          </a:p>
        </p:txBody>
      </p:sp>
      <p:sp>
        <p:nvSpPr>
          <p:cNvPr id="443" name="Google Shape;443;p31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1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DNS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45" name="Google Shape;445;p31"/>
          <p:cNvSpPr txBox="1"/>
          <p:nvPr/>
        </p:nvSpPr>
        <p:spPr>
          <a:xfrm>
            <a:off x="5871200" y="1327875"/>
            <a:ext cx="23889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dns-server.net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46" name="Google Shape;446;p31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447" name="Google Shape;447;p31"/>
          <p:cNvCxnSpPr>
            <a:stCxn id="444" idx="1"/>
            <a:endCxn id="446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8" name="Google Shape;448;p31"/>
          <p:cNvSpPr txBox="1"/>
          <p:nvPr/>
        </p:nvSpPr>
        <p:spPr>
          <a:xfrm>
            <a:off x="5738602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53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49" name="Google Shape;449;p31"/>
          <p:cNvSpPr txBox="1"/>
          <p:nvPr/>
        </p:nvSpPr>
        <p:spPr>
          <a:xfrm>
            <a:off x="1092650" y="1327875"/>
            <a:ext cx="16425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450" name="Google Shape;450;p31"/>
          <p:cNvCxnSpPr>
            <a:stCxn id="442" idx="3"/>
            <a:endCxn id="451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2" name="Google Shape;452;p31"/>
          <p:cNvSpPr/>
          <p:nvPr/>
        </p:nvSpPr>
        <p:spPr>
          <a:xfrm>
            <a:off x="5934452" y="87408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cxnSp>
        <p:nvCxnSpPr>
          <p:cNvPr id="453" name="Google Shape;453;p31"/>
          <p:cNvCxnSpPr>
            <a:stCxn id="451" idx="6"/>
            <a:endCxn id="452" idx="4"/>
          </p:cNvCxnSpPr>
          <p:nvPr/>
        </p:nvCxnSpPr>
        <p:spPr>
          <a:xfrm flipH="1" rot="10800000">
            <a:off x="3295354" y="948775"/>
            <a:ext cx="2639100" cy="20397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6D9EEB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451" name="Google Shape;451;p31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54" name="Google Shape;454;p31"/>
          <p:cNvSpPr/>
          <p:nvPr/>
        </p:nvSpPr>
        <p:spPr>
          <a:xfrm>
            <a:off x="4507952" y="2839075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cxnSp>
        <p:nvCxnSpPr>
          <p:cNvPr id="455" name="Google Shape;455;p31"/>
          <p:cNvCxnSpPr>
            <a:stCxn id="451" idx="6"/>
            <a:endCxn id="454" idx="4"/>
          </p:cNvCxnSpPr>
          <p:nvPr/>
        </p:nvCxnSpPr>
        <p:spPr>
          <a:xfrm flipH="1" rot="10800000">
            <a:off x="3295354" y="2913775"/>
            <a:ext cx="1212600" cy="747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6D9EEB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456" name="Google Shape;456;p31"/>
          <p:cNvSpPr/>
          <p:nvPr/>
        </p:nvSpPr>
        <p:spPr>
          <a:xfrm>
            <a:off x="2521252" y="4591950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cxnSp>
        <p:nvCxnSpPr>
          <p:cNvPr id="457" name="Google Shape;457;p31"/>
          <p:cNvCxnSpPr>
            <a:stCxn id="446" idx="2"/>
            <a:endCxn id="456" idx="0"/>
          </p:cNvCxnSpPr>
          <p:nvPr/>
        </p:nvCxnSpPr>
        <p:spPr>
          <a:xfrm flipH="1">
            <a:off x="2735154" y="2988475"/>
            <a:ext cx="2949000" cy="16782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6FA8DC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458" name="Google Shape;458;p31"/>
          <p:cNvCxnSpPr>
            <a:stCxn id="446" idx="2"/>
            <a:endCxn id="454" idx="0"/>
          </p:cNvCxnSpPr>
          <p:nvPr/>
        </p:nvCxnSpPr>
        <p:spPr>
          <a:xfrm rot="10800000">
            <a:off x="4721754" y="2913775"/>
            <a:ext cx="962400" cy="747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rgbClr val="6FA8DC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459" name="Google Shape;459;p31"/>
          <p:cNvSpPr/>
          <p:nvPr/>
        </p:nvSpPr>
        <p:spPr>
          <a:xfrm>
            <a:off x="1946691" y="4486360"/>
            <a:ext cx="360600" cy="3606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60" name="Google Shape;460;p31"/>
          <p:cNvCxnSpPr>
            <a:stCxn id="456" idx="4"/>
            <a:endCxn id="459" idx="3"/>
          </p:cNvCxnSpPr>
          <p:nvPr/>
        </p:nvCxnSpPr>
        <p:spPr>
          <a:xfrm flipH="1">
            <a:off x="2307352" y="4666650"/>
            <a:ext cx="213900" cy="600"/>
          </a:xfrm>
          <a:prstGeom prst="curvedConnector3">
            <a:avLst>
              <a:gd fmla="val 50014" name="adj1"/>
            </a:avLst>
          </a:prstGeom>
          <a:noFill/>
          <a:ln cap="flat" cmpd="sng" w="19050">
            <a:solidFill>
              <a:srgbClr val="6FA8DC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461" name="Google Shape;461;p31"/>
          <p:cNvSpPr/>
          <p:nvPr/>
        </p:nvSpPr>
        <p:spPr>
          <a:xfrm>
            <a:off x="5470258" y="4697241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cxnSp>
        <p:nvCxnSpPr>
          <p:cNvPr id="462" name="Google Shape;462;p31"/>
          <p:cNvCxnSpPr>
            <a:stCxn id="463" idx="6"/>
            <a:endCxn id="461" idx="5"/>
          </p:cNvCxnSpPr>
          <p:nvPr/>
        </p:nvCxnSpPr>
        <p:spPr>
          <a:xfrm>
            <a:off x="3295354" y="2988475"/>
            <a:ext cx="2193600" cy="1783500"/>
          </a:xfrm>
          <a:prstGeom prst="curvedConnector3">
            <a:avLst>
              <a:gd fmla="val 49574" name="adj1"/>
            </a:avLst>
          </a:prstGeom>
          <a:noFill/>
          <a:ln cap="flat" cmpd="sng" w="19050">
            <a:solidFill>
              <a:srgbClr val="6FA8DC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464" name="Google Shape;464;p31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63" name="Google Shape;463;p31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465" name="Google Shape;465;p31"/>
          <p:cNvCxnSpPr>
            <a:stCxn id="452" idx="0"/>
            <a:endCxn id="466" idx="1"/>
          </p:cNvCxnSpPr>
          <p:nvPr/>
        </p:nvCxnSpPr>
        <p:spPr>
          <a:xfrm>
            <a:off x="6148352" y="948788"/>
            <a:ext cx="737100" cy="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6D9EEB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467" name="Google Shape;467;p31"/>
          <p:cNvCxnSpPr>
            <a:stCxn id="461" idx="0"/>
            <a:endCxn id="468" idx="2"/>
          </p:cNvCxnSpPr>
          <p:nvPr/>
        </p:nvCxnSpPr>
        <p:spPr>
          <a:xfrm>
            <a:off x="5684158" y="4771941"/>
            <a:ext cx="1184700" cy="600"/>
          </a:xfrm>
          <a:prstGeom prst="curvedConnector3">
            <a:avLst>
              <a:gd fmla="val 50002" name="adj1"/>
            </a:avLst>
          </a:prstGeom>
          <a:noFill/>
          <a:ln cap="flat" cmpd="sng" w="19050">
            <a:solidFill>
              <a:srgbClr val="6FA8DC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469" name="Google Shape;469;p31"/>
          <p:cNvSpPr/>
          <p:nvPr/>
        </p:nvSpPr>
        <p:spPr>
          <a:xfrm>
            <a:off x="4007077" y="2988475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cxnSp>
        <p:nvCxnSpPr>
          <p:cNvPr id="470" name="Google Shape;470;p31"/>
          <p:cNvCxnSpPr>
            <a:stCxn id="463" idx="6"/>
            <a:endCxn id="469" idx="4"/>
          </p:cNvCxnSpPr>
          <p:nvPr/>
        </p:nvCxnSpPr>
        <p:spPr>
          <a:xfrm>
            <a:off x="3295354" y="2988475"/>
            <a:ext cx="711600" cy="74700"/>
          </a:xfrm>
          <a:prstGeom prst="curvedConnector3">
            <a:avLst>
              <a:gd fmla="val 50009" name="adj1"/>
            </a:avLst>
          </a:prstGeom>
          <a:noFill/>
          <a:ln cap="flat" cmpd="sng" w="19050">
            <a:solidFill>
              <a:srgbClr val="6D9EEB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471" name="Google Shape;471;p31"/>
          <p:cNvCxnSpPr>
            <a:stCxn id="464" idx="2"/>
            <a:endCxn id="469" idx="0"/>
          </p:cNvCxnSpPr>
          <p:nvPr/>
        </p:nvCxnSpPr>
        <p:spPr>
          <a:xfrm flipH="1">
            <a:off x="4221054" y="2988475"/>
            <a:ext cx="1463100" cy="74700"/>
          </a:xfrm>
          <a:prstGeom prst="curvedConnector3">
            <a:avLst>
              <a:gd fmla="val 50003" name="adj1"/>
            </a:avLst>
          </a:prstGeom>
          <a:noFill/>
          <a:ln cap="flat" cmpd="sng" w="19050">
            <a:solidFill>
              <a:srgbClr val="6FA8DC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472" name="Google Shape;472;p31"/>
          <p:cNvSpPr/>
          <p:nvPr/>
        </p:nvSpPr>
        <p:spPr>
          <a:xfrm>
            <a:off x="6885500" y="768502"/>
            <a:ext cx="360600" cy="3606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473" name="Google Shape;473;p31"/>
          <p:cNvSpPr/>
          <p:nvPr/>
        </p:nvSpPr>
        <p:spPr>
          <a:xfrm>
            <a:off x="6964240" y="847250"/>
            <a:ext cx="203100" cy="2031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74" name="Google Shape;474;p31"/>
          <p:cNvSpPr/>
          <p:nvPr/>
        </p:nvSpPr>
        <p:spPr>
          <a:xfrm>
            <a:off x="6852300" y="915650"/>
            <a:ext cx="66300" cy="663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75" name="Google Shape;475;p31"/>
          <p:cNvSpPr/>
          <p:nvPr/>
        </p:nvSpPr>
        <p:spPr>
          <a:xfrm>
            <a:off x="6902100" y="4591652"/>
            <a:ext cx="360600" cy="3606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476" name="Google Shape;476;p31"/>
          <p:cNvSpPr/>
          <p:nvPr/>
        </p:nvSpPr>
        <p:spPr>
          <a:xfrm>
            <a:off x="6980840" y="4670400"/>
            <a:ext cx="203100" cy="2031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68" name="Google Shape;468;p31"/>
          <p:cNvSpPr/>
          <p:nvPr/>
        </p:nvSpPr>
        <p:spPr>
          <a:xfrm>
            <a:off x="6868900" y="4738800"/>
            <a:ext cx="66300" cy="663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77" name="Google Shape;477;p31"/>
          <p:cNvSpPr/>
          <p:nvPr/>
        </p:nvSpPr>
        <p:spPr>
          <a:xfrm>
            <a:off x="2025440" y="4565400"/>
            <a:ext cx="203100" cy="2031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78" name="Google Shape;478;p31"/>
          <p:cNvSpPr/>
          <p:nvPr/>
        </p:nvSpPr>
        <p:spPr>
          <a:xfrm>
            <a:off x="2277475" y="4633500"/>
            <a:ext cx="66300" cy="663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79" name="Google Shape;479;p31"/>
          <p:cNvSpPr/>
          <p:nvPr/>
        </p:nvSpPr>
        <p:spPr>
          <a:xfrm>
            <a:off x="1003250" y="3401800"/>
            <a:ext cx="4868100" cy="774600"/>
          </a:xfrm>
          <a:prstGeom prst="wedgeRoundRectCallout">
            <a:avLst>
              <a:gd fmla="val -26290" name="adj1"/>
              <a:gd fmla="val 75294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/>
              <a:t>With UDP, other clients can send queries to the same DNS server port at the same time</a:t>
            </a:r>
            <a:endParaRPr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2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CA">
                <a:latin typeface="Courier"/>
                <a:ea typeface="Courier"/>
                <a:cs typeface="Courier"/>
                <a:sym typeface="Courier"/>
              </a:rPr>
              <a:t>A</a:t>
            </a:r>
            <a:r>
              <a:rPr b="1" lang="en-CA"/>
              <a:t> / </a:t>
            </a:r>
            <a:r>
              <a:rPr b="1" lang="en-CA">
                <a:latin typeface="Courier"/>
                <a:ea typeface="Courier"/>
                <a:cs typeface="Courier"/>
                <a:sym typeface="Courier"/>
              </a:rPr>
              <a:t>AAAA</a:t>
            </a:r>
            <a:r>
              <a:rPr b="1" lang="en-CA"/>
              <a:t> Record</a:t>
            </a:r>
            <a:endParaRPr b="1"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Stores the IP address for a domain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CA">
                <a:latin typeface="Courier"/>
                <a:ea typeface="Courier"/>
                <a:cs typeface="Courier"/>
                <a:sym typeface="Courier"/>
              </a:rPr>
              <a:t>CNAME</a:t>
            </a:r>
            <a:r>
              <a:rPr b="1" lang="en-CA"/>
              <a:t> Record</a:t>
            </a:r>
            <a:endParaRPr b="1"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Maps one domain name to another domain name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Used when one name is an alias for another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CA">
                <a:latin typeface="Courier"/>
                <a:ea typeface="Courier"/>
                <a:cs typeface="Courier"/>
                <a:sym typeface="Courier"/>
              </a:rPr>
              <a:t>NS</a:t>
            </a:r>
            <a:r>
              <a:rPr b="1" lang="en-CA"/>
              <a:t> Record</a:t>
            </a:r>
            <a:endParaRPr b="1"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Stores the name of a nameserver for a domain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b="1" lang="en-CA"/>
              <a:t>Nameserver</a:t>
            </a:r>
            <a:r>
              <a:rPr lang="en-CA"/>
              <a:t>: A DNS server that knows where to direct queries for a domain</a:t>
            </a:r>
            <a:endParaRPr/>
          </a:p>
          <a:p>
            <a:pPr indent="-3238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E.g. An authoritative </a:t>
            </a:r>
            <a:r>
              <a:rPr b="1" lang="en-CA"/>
              <a:t>nameserver</a:t>
            </a:r>
            <a:r>
              <a:rPr lang="en-CA"/>
              <a:t> for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cs.ubc.ca</a:t>
            </a:r>
            <a:r>
              <a:rPr lang="en-CA"/>
              <a:t> can help resolve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students.cs.ubc.ca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32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DNS Review: Vocabulary</a:t>
            </a:r>
            <a:endParaRPr>
              <a:solidFill>
                <a:srgbClr val="0077C8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3"/>
          <p:cNvSpPr txBox="1"/>
          <p:nvPr>
            <p:ph idx="1" type="body"/>
          </p:nvPr>
        </p:nvSpPr>
        <p:spPr>
          <a:xfrm>
            <a:off x="438950" y="1131900"/>
            <a:ext cx="8538000" cy="38481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&lt;name&gt;    			&lt;TTL&gt;  &lt;Class&gt;  &lt;type&gt;  &lt;value&gt;</a:t>
            </a:r>
            <a:endParaRPr sz="1300">
              <a:solidFill>
                <a:srgbClr val="4DD0E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Example A Record:</a:t>
            </a:r>
            <a:endParaRPr sz="13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students.cs.ubc.ca.    300    IN       A       192.0.2.1</a:t>
            </a:r>
            <a:endParaRPr sz="1300">
              <a:solidFill>
                <a:srgbClr val="4DD0E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Example AAAA Record:</a:t>
            </a:r>
            <a:endParaRPr sz="13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example.com.           300    IN       AAAA    2001:db8:85a3::8a2e:370:7334</a:t>
            </a:r>
            <a:endParaRPr sz="1300">
              <a:solidFill>
                <a:srgbClr val="4DD0E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Example CNAME Record:</a:t>
            </a:r>
            <a:endParaRPr sz="13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www.example.com.       300    IN       CNAME   example.com.</a:t>
            </a:r>
            <a:endParaRPr sz="1300">
              <a:solidFill>
                <a:srgbClr val="4DD0E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Example NS Record:</a:t>
            </a:r>
            <a:endParaRPr sz="13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cs.ubc.ca.             300    IN       NS      ns1.cs.ubc.ca.</a:t>
            </a:r>
            <a:endParaRPr sz="1300">
              <a:solidFill>
                <a:srgbClr val="4DD0E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91" name="Google Shape;491;p33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DNS Review: Vocabulary - Examples</a:t>
            </a:r>
            <a:endParaRPr>
              <a:solidFill>
                <a:srgbClr val="0077C8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4"/>
          <p:cNvSpPr txBox="1"/>
          <p:nvPr>
            <p:ph idx="1" type="body"/>
          </p:nvPr>
        </p:nvSpPr>
        <p:spPr>
          <a:xfrm>
            <a:off x="3557525" y="1730850"/>
            <a:ext cx="5382300" cy="30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62500" lnSpcReduction="20000"/>
          </a:bodyPr>
          <a:lstStyle/>
          <a:p>
            <a:pPr indent="-28813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/>
              <a:t>A Header</a:t>
            </a:r>
            <a:endParaRPr/>
          </a:p>
          <a:p>
            <a:pPr indent="-288131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/>
              <a:t>Metadata about the message</a:t>
            </a:r>
            <a:endParaRPr/>
          </a:p>
          <a:p>
            <a:pPr indent="-288131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/>
              <a:t>Includes the number of records in each section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8813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/>
              <a:t>followed by one or more Questions records</a:t>
            </a:r>
            <a:endParaRPr/>
          </a:p>
          <a:p>
            <a:pPr indent="-288131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/>
              <a:t>What we are asking for</a:t>
            </a:r>
            <a:endParaRPr/>
          </a:p>
          <a:p>
            <a:pPr indent="-288131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/>
              <a:t>E.g. What is the A record for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example.com</a:t>
            </a:r>
            <a:r>
              <a:rPr lang="en-CA"/>
              <a:t>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8813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/>
              <a:t>followed by 0 or more Answer records</a:t>
            </a:r>
            <a:endParaRPr/>
          </a:p>
          <a:p>
            <a:pPr indent="-288131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/>
              <a:t>Direct answers to the question</a:t>
            </a:r>
            <a:endParaRPr/>
          </a:p>
          <a:p>
            <a:pPr indent="-288131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/>
              <a:t>E.g.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example.com</a:t>
            </a:r>
            <a:r>
              <a:rPr lang="en-CA"/>
              <a:t> has IP address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192.0.2.1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8813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/>
              <a:t>followed by 0 or more Authority records</a:t>
            </a:r>
            <a:endParaRPr/>
          </a:p>
          <a:p>
            <a:pPr indent="-288131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/>
              <a:t>Records that point us toward the right nameserver</a:t>
            </a:r>
            <a:endParaRPr/>
          </a:p>
          <a:p>
            <a:pPr indent="-288131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/>
              <a:t>Useful when the current server does not have the final answer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8813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/>
              <a:t>followed by 0 or more Additional records</a:t>
            </a:r>
            <a:endParaRPr/>
          </a:p>
          <a:p>
            <a:pPr indent="-288131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/>
              <a:t>Extra helpful records</a:t>
            </a:r>
            <a:endParaRPr/>
          </a:p>
          <a:p>
            <a:pPr indent="-288131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/>
              <a:t>Often contains IP addresses for nameservers listed in the Authority section</a:t>
            </a:r>
            <a:endParaRPr/>
          </a:p>
        </p:txBody>
      </p:sp>
      <p:sp>
        <p:nvSpPr>
          <p:cNvPr id="497" name="Google Shape;497;p34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DNS Review: DNS Messages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498" name="Google Shape;498;p34"/>
          <p:cNvSpPr/>
          <p:nvPr/>
        </p:nvSpPr>
        <p:spPr>
          <a:xfrm>
            <a:off x="919425" y="1730850"/>
            <a:ext cx="2400300" cy="613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</a:rPr>
              <a:t>Header</a:t>
            </a:r>
            <a:endParaRPr/>
          </a:p>
        </p:txBody>
      </p:sp>
      <p:sp>
        <p:nvSpPr>
          <p:cNvPr id="499" name="Google Shape;499;p34"/>
          <p:cNvSpPr/>
          <p:nvPr/>
        </p:nvSpPr>
        <p:spPr>
          <a:xfrm>
            <a:off x="919425" y="2344010"/>
            <a:ext cx="2400300" cy="613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</a:rPr>
              <a:t>Question</a:t>
            </a:r>
            <a:endParaRPr/>
          </a:p>
        </p:txBody>
      </p:sp>
      <p:sp>
        <p:nvSpPr>
          <p:cNvPr id="500" name="Google Shape;500;p34"/>
          <p:cNvSpPr/>
          <p:nvPr/>
        </p:nvSpPr>
        <p:spPr>
          <a:xfrm>
            <a:off x="919425" y="2957169"/>
            <a:ext cx="2400300" cy="613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</a:rPr>
              <a:t>Answer</a:t>
            </a:r>
            <a:endParaRPr/>
          </a:p>
        </p:txBody>
      </p:sp>
      <p:sp>
        <p:nvSpPr>
          <p:cNvPr id="501" name="Google Shape;501;p34"/>
          <p:cNvSpPr/>
          <p:nvPr/>
        </p:nvSpPr>
        <p:spPr>
          <a:xfrm>
            <a:off x="919425" y="3570329"/>
            <a:ext cx="2400300" cy="613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</a:rPr>
              <a:t>Authority</a:t>
            </a:r>
            <a:endParaRPr/>
          </a:p>
        </p:txBody>
      </p:sp>
      <p:sp>
        <p:nvSpPr>
          <p:cNvPr id="502" name="Google Shape;502;p34"/>
          <p:cNvSpPr/>
          <p:nvPr/>
        </p:nvSpPr>
        <p:spPr>
          <a:xfrm>
            <a:off x="919425" y="4183488"/>
            <a:ext cx="2400300" cy="613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</a:rPr>
              <a:t>Additional</a:t>
            </a:r>
            <a:endParaRPr/>
          </a:p>
        </p:txBody>
      </p:sp>
      <p:sp>
        <p:nvSpPr>
          <p:cNvPr id="503" name="Google Shape;503;p34"/>
          <p:cNvSpPr txBox="1"/>
          <p:nvPr>
            <p:ph idx="1" type="body"/>
          </p:nvPr>
        </p:nvSpPr>
        <p:spPr>
          <a:xfrm>
            <a:off x="438950" y="1131899"/>
            <a:ext cx="76614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10000"/>
          </a:bodyPr>
          <a:lstStyle/>
          <a:p>
            <a:pPr indent="-30956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/>
              <a:t>Every DNS query and response follows the same high-level structure:</a:t>
            </a:r>
            <a:endParaRPr/>
          </a:p>
          <a:p>
            <a:pPr indent="-309563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/>
              <a:t>Refer to </a:t>
            </a:r>
            <a:r>
              <a:rPr lang="en-CA" u="sng">
                <a:solidFill>
                  <a:schemeClr val="hlink"/>
                </a:solidFill>
                <a:hlinkClick r:id="rId3"/>
              </a:rPr>
              <a:t>RFC 1035</a:t>
            </a:r>
            <a:r>
              <a:rPr lang="en-CA"/>
              <a:t> and </a:t>
            </a:r>
            <a:r>
              <a:rPr lang="en-CA" u="sng">
                <a:solidFill>
                  <a:schemeClr val="hlink"/>
                </a:solidFill>
                <a:hlinkClick r:id="rId4"/>
              </a:rPr>
              <a:t>DNS Primer</a:t>
            </a:r>
            <a:r>
              <a:rPr lang="en-CA"/>
              <a:t> for more details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5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Referencing the </a:t>
            </a:r>
            <a:r>
              <a:rPr lang="en-CA" u="sng">
                <a:solidFill>
                  <a:schemeClr val="hlink"/>
                </a:solidFill>
                <a:hlinkClick r:id="rId3"/>
              </a:rPr>
              <a:t>DNS Primer</a:t>
            </a:r>
            <a:r>
              <a:rPr lang="en-CA"/>
              <a:t>, how do you know how many Questions, Answers, Authority, and Additional Records there are in a DNS Message?</a:t>
            </a:r>
            <a:endParaRPr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/>
              <a:t>If you’re sending a DNS Query, there will always be 1 question and 0 of everything else, and if you’re receiving one, there will always be 0 questions and 1 of everything else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/>
              <a:t>The first 4 bits of each section tell you how many records there are in that section</a:t>
            </a:r>
            <a:endParaRPr sz="1300"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F0000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F0000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/>
              <a:t>The sections have a set length and will end in 0’s’ if there’s no more data in that section</a:t>
            </a:r>
            <a:endParaRPr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F0000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/>
              <a:t>The number of Records in each section is set/shown by a variable in the header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6AA84F"/>
              </a:solidFill>
            </a:endParaRPr>
          </a:p>
        </p:txBody>
      </p:sp>
      <p:sp>
        <p:nvSpPr>
          <p:cNvPr id="509" name="Google Shape;509;p35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DNS Review: DNS Messages - Activity</a:t>
            </a:r>
            <a:endParaRPr>
              <a:solidFill>
                <a:srgbClr val="0077C8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6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Referencing the </a:t>
            </a:r>
            <a:r>
              <a:rPr lang="en-CA" u="sng">
                <a:solidFill>
                  <a:schemeClr val="hlink"/>
                </a:solidFill>
                <a:hlinkClick r:id="rId3"/>
              </a:rPr>
              <a:t>DNS Primer</a:t>
            </a:r>
            <a:r>
              <a:rPr lang="en-CA"/>
              <a:t>, how do you know how many Questions, Answers, Authority, and Additional Records there are in a DNS Message?</a:t>
            </a:r>
            <a:endParaRPr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/>
              <a:t>If you’re sending a DNS Query, there will always be 1 question and 0 of everything else, and if you’re receiving one, there will always be 0 questions and 1 of everything else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00"/>
              <a:t>		</a:t>
            </a:r>
            <a:r>
              <a:rPr b="1" lang="en-CA" sz="1300">
                <a:solidFill>
                  <a:srgbClr val="FF0000"/>
                </a:solidFill>
              </a:rPr>
              <a:t>A response for a single question may contain multiple answers</a:t>
            </a:r>
            <a:endParaRPr b="1" sz="13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F0000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/>
              <a:t>The first 4 bits of each section tell you how many records there are in that section</a:t>
            </a:r>
            <a:endParaRPr sz="1300"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F0000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F0000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/>
              <a:t>The sections have a set length and will end in 0’s’ if there’s no more data in that section</a:t>
            </a:r>
            <a:endParaRPr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F0000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/>
              <a:t>The number of Records in each section is set/shown by a variable in the header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515" name="Google Shape;515;p36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DNS Review: DNS Messages - Activity</a:t>
            </a:r>
            <a:endParaRPr>
              <a:solidFill>
                <a:srgbClr val="0077C8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7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Referencing the </a:t>
            </a:r>
            <a:r>
              <a:rPr lang="en-CA" u="sng">
                <a:solidFill>
                  <a:schemeClr val="hlink"/>
                </a:solidFill>
                <a:hlinkClick r:id="rId3"/>
              </a:rPr>
              <a:t>DNS Primer</a:t>
            </a:r>
            <a:r>
              <a:rPr lang="en-CA"/>
              <a:t>, how do you know how many Questions, Answers, Authority, and Additional Records there are in a DNS Message?</a:t>
            </a:r>
            <a:endParaRPr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/>
              <a:t>If you’re sending a DNS Query, there will always be 1 question and 0 of everything else, and if you’re receiving one, there will always be 0 questions and 1 of everything else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00"/>
              <a:t>		</a:t>
            </a:r>
            <a:r>
              <a:rPr b="1" lang="en-CA" sz="1300">
                <a:solidFill>
                  <a:srgbClr val="FF0000"/>
                </a:solidFill>
              </a:rPr>
              <a:t>A response for a single question may contain multiple answers</a:t>
            </a:r>
            <a:endParaRPr b="1" sz="13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F0000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/>
              <a:t>The first 4 bits of each section tell you how many records there are in that section</a:t>
            </a:r>
            <a:endParaRPr sz="1300"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300">
                <a:solidFill>
                  <a:srgbClr val="FF0000"/>
                </a:solidFill>
              </a:rPr>
              <a:t>Counts are 16-bit fields in the header</a:t>
            </a:r>
            <a:endParaRPr b="1" sz="1300">
              <a:solidFill>
                <a:srgbClr val="FF0000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F0000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/>
              <a:t>The sections have a set length and will end in 0’s’ if there’s no more data in that section</a:t>
            </a:r>
            <a:endParaRPr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F0000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/>
              <a:t>The number of Records in each section is set/shown by a variable in the header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6AA84F"/>
              </a:solidFill>
            </a:endParaRPr>
          </a:p>
        </p:txBody>
      </p:sp>
      <p:sp>
        <p:nvSpPr>
          <p:cNvPr id="521" name="Google Shape;521;p37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DNS Review: DNS Messages - Activity</a:t>
            </a:r>
            <a:endParaRPr>
              <a:solidFill>
                <a:srgbClr val="0077C8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8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Referencing the </a:t>
            </a:r>
            <a:r>
              <a:rPr lang="en-CA" u="sng">
                <a:solidFill>
                  <a:schemeClr val="hlink"/>
                </a:solidFill>
                <a:hlinkClick r:id="rId3"/>
              </a:rPr>
              <a:t>DNS Primer</a:t>
            </a:r>
            <a:r>
              <a:rPr lang="en-CA"/>
              <a:t>, how do you know how many Questions, Answers, Authority, and Additional Records there are in a DNS Message?</a:t>
            </a:r>
            <a:endParaRPr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/>
              <a:t>If you’re sending a DNS Query, there will always be 1 question and 0 of everything else, and if you’re receiving one, there will always be 0 questions and 1 of everything else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00"/>
              <a:t>		</a:t>
            </a:r>
            <a:r>
              <a:rPr b="1" lang="en-CA" sz="1300">
                <a:solidFill>
                  <a:srgbClr val="FF0000"/>
                </a:solidFill>
              </a:rPr>
              <a:t>A response for a single question may contain multiple answers</a:t>
            </a:r>
            <a:endParaRPr b="1" sz="13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F0000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/>
              <a:t>The first 4 bits of each section tell you how many records there are in that section</a:t>
            </a:r>
            <a:endParaRPr sz="1300"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300">
                <a:solidFill>
                  <a:srgbClr val="FF0000"/>
                </a:solidFill>
              </a:rPr>
              <a:t>Counts are 16-bit fields in the header</a:t>
            </a:r>
            <a:endParaRPr b="1" sz="1300">
              <a:solidFill>
                <a:srgbClr val="FF0000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F0000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/>
              <a:t>The sections have a set length and will end in 0’s’ if there’s no more data in that section</a:t>
            </a:r>
            <a:endParaRPr sz="1300"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300">
                <a:solidFill>
                  <a:srgbClr val="FF0000"/>
                </a:solidFill>
              </a:rPr>
              <a:t>DNS sections are variable length</a:t>
            </a:r>
            <a:endParaRPr b="1" sz="1300"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F0000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/>
              <a:t>The number of Records in each section is set/shown by a variable in the header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6AA84F"/>
              </a:solidFill>
            </a:endParaRPr>
          </a:p>
        </p:txBody>
      </p:sp>
      <p:sp>
        <p:nvSpPr>
          <p:cNvPr id="527" name="Google Shape;527;p38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DNS Review: DNS Messages - Activity</a:t>
            </a:r>
            <a:endParaRPr>
              <a:solidFill>
                <a:srgbClr val="0077C8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9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Referencing the </a:t>
            </a:r>
            <a:r>
              <a:rPr lang="en-CA" u="sng">
                <a:solidFill>
                  <a:schemeClr val="hlink"/>
                </a:solidFill>
                <a:hlinkClick r:id="rId3"/>
              </a:rPr>
              <a:t>DNS Primer</a:t>
            </a:r>
            <a:r>
              <a:rPr lang="en-CA"/>
              <a:t>, how do you know how many Questions, Answers, Authority, and Additional Records there are in a DNS Message?</a:t>
            </a:r>
            <a:endParaRPr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/>
              <a:t>If you’re sending a DNS Query, there will always be 1 question and 0 of everything else, and if you’re receiving one, there will always be 0 questions and 1 of everything else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00"/>
              <a:t>		</a:t>
            </a:r>
            <a:r>
              <a:rPr b="1" lang="en-CA" sz="1300">
                <a:solidFill>
                  <a:srgbClr val="FF0000"/>
                </a:solidFill>
              </a:rPr>
              <a:t>A response for a single question may contain multiple answers</a:t>
            </a:r>
            <a:endParaRPr b="1" sz="13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F0000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/>
              <a:t>The first 4 bits of each section tell you how many records there are in that section</a:t>
            </a:r>
            <a:endParaRPr sz="1300"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300">
                <a:solidFill>
                  <a:srgbClr val="FF0000"/>
                </a:solidFill>
              </a:rPr>
              <a:t>Counts are 16-bit fields in the header</a:t>
            </a:r>
            <a:endParaRPr b="1" sz="1300">
              <a:solidFill>
                <a:srgbClr val="FF0000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F0000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/>
              <a:t>The sections have a set length and will end in 0’s’ if there’s no more data in that section</a:t>
            </a:r>
            <a:endParaRPr sz="1300"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300">
                <a:solidFill>
                  <a:srgbClr val="FF0000"/>
                </a:solidFill>
              </a:rPr>
              <a:t>DNS sections are variable length</a:t>
            </a:r>
            <a:endParaRPr b="1" sz="1300"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F0000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/>
              <a:t>The number of Records in each section is set/shown by a variable in the header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00"/>
              <a:t>		</a:t>
            </a:r>
            <a:r>
              <a:rPr b="1" lang="en-CA" sz="1300">
                <a:solidFill>
                  <a:srgbClr val="6AA84F"/>
                </a:solidFill>
              </a:rPr>
              <a:t>Correct!</a:t>
            </a:r>
            <a:endParaRPr b="1" sz="1300">
              <a:solidFill>
                <a:srgbClr val="6AA84F"/>
              </a:solidFill>
            </a:endParaRPr>
          </a:p>
        </p:txBody>
      </p:sp>
      <p:sp>
        <p:nvSpPr>
          <p:cNvPr id="533" name="Google Shape;533;p39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DNS Review: DNS Messages - Activity</a:t>
            </a:r>
            <a:endParaRPr>
              <a:solidFill>
                <a:srgbClr val="0077C8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0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For PA2, you will have to create and parse DNS messages to talk with DNS servers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Don’t worry! We are providing a class for this: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DNSMessage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The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DNSMessage</a:t>
            </a:r>
            <a:r>
              <a:rPr lang="en-CA"/>
              <a:t> class uses </a:t>
            </a:r>
            <a:r>
              <a:rPr b="1" lang="en-CA"/>
              <a:t>ByteBuffer</a:t>
            </a:r>
            <a:r>
              <a:rPr lang="en-CA"/>
              <a:t>, so it helps to understand the basics.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A </a:t>
            </a:r>
            <a:r>
              <a:rPr b="1" lang="en-CA"/>
              <a:t>ByteBuffer</a:t>
            </a:r>
            <a:r>
              <a:rPr lang="en-CA"/>
              <a:t> consists of:</a:t>
            </a:r>
            <a:endParaRPr/>
          </a:p>
          <a:p>
            <a:pPr indent="-323850" lvl="0" marL="13716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-CA"/>
              <a:t>Content</a:t>
            </a:r>
            <a:r>
              <a:rPr lang="en-CA"/>
              <a:t>: the bytes it holds</a:t>
            </a:r>
            <a:endParaRPr/>
          </a:p>
          <a:p>
            <a:pPr indent="-323850" lvl="0" marL="13716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-CA"/>
              <a:t>Position</a:t>
            </a:r>
            <a:r>
              <a:rPr lang="en-CA"/>
              <a:t>: where the next read/write starts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Refer to the </a:t>
            </a:r>
            <a:r>
              <a:rPr lang="en-CA" u="sng">
                <a:solidFill>
                  <a:schemeClr val="hlink"/>
                </a:solidFill>
                <a:hlinkClick r:id="rId3"/>
              </a:rPr>
              <a:t>ByteBuffer documentation</a:t>
            </a:r>
            <a:r>
              <a:rPr lang="en-CA"/>
              <a:t> for more details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Consider the following example for the next activities: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6AA84F"/>
              </a:solidFill>
            </a:endParaRPr>
          </a:p>
        </p:txBody>
      </p:sp>
      <p:sp>
        <p:nvSpPr>
          <p:cNvPr id="539" name="Google Shape;539;p40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DNS Review: DNS Messages - ByteBuffer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540" name="Google Shape;540;p40"/>
          <p:cNvSpPr txBox="1"/>
          <p:nvPr/>
        </p:nvSpPr>
        <p:spPr>
          <a:xfrm>
            <a:off x="1370000" y="3900725"/>
            <a:ext cx="6024600" cy="8043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Bytes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:     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0x12  0x34  0x56  0x78  0x9A  0xBC</a:t>
            </a:r>
            <a:endParaRPr sz="9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Index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:     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0     1     2     3     4     5</a:t>
            </a:r>
            <a:endParaRPr sz="9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Current position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1</a:t>
            </a:r>
            <a:endParaRPr sz="900">
              <a:solidFill>
                <a:srgbClr val="CE93D8"/>
              </a:solidFill>
              <a:highlight>
                <a:srgbClr val="212121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1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Current state: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What happens after I execute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short ret = buffer.getShort();</a:t>
            </a:r>
            <a:endParaRPr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>
                <a:latin typeface="Courier"/>
                <a:ea typeface="Courier"/>
                <a:cs typeface="Courier"/>
                <a:sym typeface="Courier"/>
              </a:rPr>
              <a:t>ret = 0x1234</a:t>
            </a:r>
            <a:r>
              <a:rPr lang="en-CA" sz="1300"/>
              <a:t> and the new buffer position is 1</a:t>
            </a:r>
            <a:endParaRPr sz="1300"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>
                <a:latin typeface="Courier"/>
                <a:ea typeface="Courier"/>
                <a:cs typeface="Courier"/>
                <a:sym typeface="Courier"/>
              </a:rPr>
              <a:t>ret = 0x1234</a:t>
            </a:r>
            <a:r>
              <a:rPr lang="en-CA" sz="1300"/>
              <a:t> and the new buffer position is 3</a:t>
            </a:r>
            <a:endParaRPr sz="1300"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>
                <a:latin typeface="Courier"/>
                <a:ea typeface="Courier"/>
                <a:cs typeface="Courier"/>
                <a:sym typeface="Courier"/>
              </a:rPr>
              <a:t>ret = 0x3456</a:t>
            </a:r>
            <a:r>
              <a:rPr lang="en-CA" sz="1300"/>
              <a:t> and the new buffer position is 1</a:t>
            </a:r>
            <a:endParaRPr sz="1300"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>
                <a:latin typeface="Courier"/>
                <a:ea typeface="Courier"/>
                <a:cs typeface="Courier"/>
                <a:sym typeface="Courier"/>
              </a:rPr>
              <a:t>ret = 0x3456</a:t>
            </a:r>
            <a:r>
              <a:rPr lang="en-CA" sz="1300"/>
              <a:t> and the new buffer position is 3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6AA84F"/>
              </a:solidFill>
            </a:endParaRPr>
          </a:p>
        </p:txBody>
      </p:sp>
      <p:sp>
        <p:nvSpPr>
          <p:cNvPr id="546" name="Google Shape;546;p41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DNS Review: DNS Messages - ByteBuffer Activity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547" name="Google Shape;547;p41"/>
          <p:cNvSpPr txBox="1"/>
          <p:nvPr/>
        </p:nvSpPr>
        <p:spPr>
          <a:xfrm>
            <a:off x="1370000" y="1433425"/>
            <a:ext cx="6024600" cy="8043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Bytes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:     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0x12  0x34  0x56  0x78  0x9A  0xBC</a:t>
            </a:r>
            <a:endParaRPr sz="9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Index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:     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0     1     2     3     4     5</a:t>
            </a:r>
            <a:endParaRPr sz="9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Current position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1</a:t>
            </a:r>
            <a:endParaRPr sz="900">
              <a:solidFill>
                <a:srgbClr val="CE93D8"/>
              </a:solidFill>
              <a:highlight>
                <a:srgbClr val="212121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2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Current state: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What happens after I execute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short ret = buffer.getShort();</a:t>
            </a:r>
            <a:endParaRPr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>
                <a:latin typeface="Courier"/>
                <a:ea typeface="Courier"/>
                <a:cs typeface="Courier"/>
                <a:sym typeface="Courier"/>
              </a:rPr>
              <a:t>ret = 0x1234</a:t>
            </a:r>
            <a:r>
              <a:rPr lang="en-CA" sz="1300"/>
              <a:t> and the new buffer position is 1</a:t>
            </a:r>
            <a:endParaRPr sz="1300"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>
                <a:latin typeface="Courier"/>
                <a:ea typeface="Courier"/>
                <a:cs typeface="Courier"/>
                <a:sym typeface="Courier"/>
              </a:rPr>
              <a:t>ret = 0x1234</a:t>
            </a:r>
            <a:r>
              <a:rPr lang="en-CA" sz="1300"/>
              <a:t> and the new buffer position is 3</a:t>
            </a:r>
            <a:endParaRPr sz="1300"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>
                <a:latin typeface="Courier"/>
                <a:ea typeface="Courier"/>
                <a:cs typeface="Courier"/>
                <a:sym typeface="Courier"/>
              </a:rPr>
              <a:t>ret = 0x3456</a:t>
            </a:r>
            <a:r>
              <a:rPr lang="en-CA" sz="1300"/>
              <a:t> and the new buffer position is 1</a:t>
            </a:r>
            <a:endParaRPr sz="1300"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300"/>
              <a:buAutoNum type="arabicPeriod"/>
            </a:pPr>
            <a:r>
              <a:rPr b="1" lang="en-CA" sz="13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ret = 0x3456</a:t>
            </a:r>
            <a:r>
              <a:rPr b="1" lang="en-CA" sz="1300">
                <a:solidFill>
                  <a:srgbClr val="0000FF"/>
                </a:solidFill>
              </a:rPr>
              <a:t> and the new buffer position is 3</a:t>
            </a:r>
            <a:endParaRPr b="1" sz="13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6AA84F"/>
              </a:solidFill>
            </a:endParaRPr>
          </a:p>
        </p:txBody>
      </p:sp>
      <p:sp>
        <p:nvSpPr>
          <p:cNvPr id="553" name="Google Shape;553;p42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DNS Review: DNS Messages - ByteBuffer Activity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554" name="Google Shape;554;p42"/>
          <p:cNvSpPr txBox="1"/>
          <p:nvPr/>
        </p:nvSpPr>
        <p:spPr>
          <a:xfrm>
            <a:off x="1370000" y="1433425"/>
            <a:ext cx="6024600" cy="8043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Bytes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:     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0x12  0x34  0x56  0x78  0x9A  0xBC</a:t>
            </a:r>
            <a:endParaRPr sz="9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Index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:     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0     1     2     3     4     5</a:t>
            </a:r>
            <a:endParaRPr sz="9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Current position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1</a:t>
            </a:r>
            <a:endParaRPr sz="900">
              <a:solidFill>
                <a:srgbClr val="CE93D8"/>
              </a:solidFill>
              <a:highlight>
                <a:srgbClr val="212121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3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Current state: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What happens after I execute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short pineapple = buffer.getShort();</a:t>
            </a:r>
            <a:endParaRPr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>
                <a:latin typeface="Courier"/>
                <a:ea typeface="Courier"/>
                <a:cs typeface="Courier"/>
                <a:sym typeface="Courier"/>
              </a:rPr>
              <a:t>pineapple=0x1234</a:t>
            </a:r>
            <a:r>
              <a:rPr lang="en-CA" sz="1300"/>
              <a:t> and the new buffer position is 1</a:t>
            </a:r>
            <a:endParaRPr sz="1300"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>
                <a:latin typeface="Courier"/>
                <a:ea typeface="Courier"/>
                <a:cs typeface="Courier"/>
                <a:sym typeface="Courier"/>
              </a:rPr>
              <a:t>pineapple=0x1234</a:t>
            </a:r>
            <a:r>
              <a:rPr lang="en-CA" sz="1300"/>
              <a:t> and the new buffer position is 3</a:t>
            </a:r>
            <a:endParaRPr sz="1300"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>
                <a:latin typeface="Courier"/>
                <a:ea typeface="Courier"/>
                <a:cs typeface="Courier"/>
                <a:sym typeface="Courier"/>
              </a:rPr>
              <a:t>pineapple=0x3456</a:t>
            </a:r>
            <a:r>
              <a:rPr lang="en-CA" sz="1300"/>
              <a:t> and the new buffer position is 1</a:t>
            </a:r>
            <a:endParaRPr sz="1300"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>
                <a:latin typeface="Courier"/>
                <a:ea typeface="Courier"/>
                <a:cs typeface="Courier"/>
                <a:sym typeface="Courier"/>
              </a:rPr>
              <a:t>pineapple=0x3456</a:t>
            </a:r>
            <a:r>
              <a:rPr lang="en-CA" sz="1300"/>
              <a:t> and the new buffer position is 3</a:t>
            </a:r>
            <a:endParaRPr sz="1300"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>
                <a:latin typeface="Courier"/>
                <a:ea typeface="Courier"/>
                <a:cs typeface="Courier"/>
                <a:sym typeface="Courier"/>
              </a:rPr>
              <a:t>pineapple=0x789A</a:t>
            </a:r>
            <a:r>
              <a:rPr lang="en-CA" sz="1300"/>
              <a:t> and the new buffer position is 3</a:t>
            </a:r>
            <a:endParaRPr sz="1300"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>
                <a:latin typeface="Courier"/>
                <a:ea typeface="Courier"/>
                <a:cs typeface="Courier"/>
                <a:sym typeface="Courier"/>
              </a:rPr>
              <a:t>pineapple=0x789A</a:t>
            </a:r>
            <a:r>
              <a:rPr lang="en-CA" sz="1300"/>
              <a:t> and the new buffer position is 5</a:t>
            </a:r>
            <a:endParaRPr b="1" sz="1300">
              <a:solidFill>
                <a:srgbClr val="6AA84F"/>
              </a:solidFill>
            </a:endParaRPr>
          </a:p>
        </p:txBody>
      </p:sp>
      <p:sp>
        <p:nvSpPr>
          <p:cNvPr id="560" name="Google Shape;560;p43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DNS Review: DNS Messages - ByteBuffer Activity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561" name="Google Shape;561;p43"/>
          <p:cNvSpPr txBox="1"/>
          <p:nvPr/>
        </p:nvSpPr>
        <p:spPr>
          <a:xfrm>
            <a:off x="1370000" y="1433425"/>
            <a:ext cx="6024600" cy="8043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Bytes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:     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0x12  0x34  0x56  0x78  0x9A  0xBC</a:t>
            </a:r>
            <a:endParaRPr sz="9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Index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:     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0     1     2     3     4     5</a:t>
            </a:r>
            <a:endParaRPr sz="9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Current position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3</a:t>
            </a:r>
            <a:endParaRPr sz="900">
              <a:solidFill>
                <a:srgbClr val="CE93D8"/>
              </a:solidFill>
              <a:highlight>
                <a:srgbClr val="212121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4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Current state: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What happens after I execute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short pineapple = buffer.getShort();</a:t>
            </a:r>
            <a:endParaRPr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>
                <a:latin typeface="Courier"/>
                <a:ea typeface="Courier"/>
                <a:cs typeface="Courier"/>
                <a:sym typeface="Courier"/>
              </a:rPr>
              <a:t>pineapple=0x1234</a:t>
            </a:r>
            <a:r>
              <a:rPr lang="en-CA" sz="1300"/>
              <a:t> and the new buffer position is 1</a:t>
            </a:r>
            <a:endParaRPr sz="1300"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>
                <a:latin typeface="Courier"/>
                <a:ea typeface="Courier"/>
                <a:cs typeface="Courier"/>
                <a:sym typeface="Courier"/>
              </a:rPr>
              <a:t>pineapple=0x1234</a:t>
            </a:r>
            <a:r>
              <a:rPr lang="en-CA" sz="1300"/>
              <a:t> and the new buffer position is 3</a:t>
            </a:r>
            <a:endParaRPr sz="1300"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>
                <a:latin typeface="Courier"/>
                <a:ea typeface="Courier"/>
                <a:cs typeface="Courier"/>
                <a:sym typeface="Courier"/>
              </a:rPr>
              <a:t>pineapple=0x3456</a:t>
            </a:r>
            <a:r>
              <a:rPr lang="en-CA" sz="1300"/>
              <a:t> and the new buffer position is 1</a:t>
            </a:r>
            <a:endParaRPr sz="1300"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>
                <a:latin typeface="Courier"/>
                <a:ea typeface="Courier"/>
                <a:cs typeface="Courier"/>
                <a:sym typeface="Courier"/>
              </a:rPr>
              <a:t>pineapple=0x3456</a:t>
            </a:r>
            <a:r>
              <a:rPr lang="en-CA" sz="1300"/>
              <a:t> and the new buffer position is 3</a:t>
            </a:r>
            <a:endParaRPr sz="1300"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>
                <a:latin typeface="Courier"/>
                <a:ea typeface="Courier"/>
                <a:cs typeface="Courier"/>
                <a:sym typeface="Courier"/>
              </a:rPr>
              <a:t>pineapple=0x789A</a:t>
            </a:r>
            <a:r>
              <a:rPr lang="en-CA" sz="1300"/>
              <a:t> and the new buffer position is 3</a:t>
            </a:r>
            <a:endParaRPr sz="1300"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300"/>
              <a:buAutoNum type="arabicPeriod"/>
            </a:pPr>
            <a:r>
              <a:rPr b="1" lang="en-CA" sz="13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pineapple=0x789A</a:t>
            </a:r>
            <a:r>
              <a:rPr b="1" lang="en-CA" sz="1300">
                <a:solidFill>
                  <a:srgbClr val="0000FF"/>
                </a:solidFill>
              </a:rPr>
              <a:t> and the new buffer position is 5</a:t>
            </a:r>
            <a:endParaRPr b="1" sz="1300">
              <a:solidFill>
                <a:srgbClr val="0000FF"/>
              </a:solidFill>
            </a:endParaRPr>
          </a:p>
        </p:txBody>
      </p:sp>
      <p:sp>
        <p:nvSpPr>
          <p:cNvPr id="567" name="Google Shape;567;p44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DNS Review: DNS Messages - ByteBuffer Activity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568" name="Google Shape;568;p44"/>
          <p:cNvSpPr txBox="1"/>
          <p:nvPr/>
        </p:nvSpPr>
        <p:spPr>
          <a:xfrm>
            <a:off x="1370000" y="1433425"/>
            <a:ext cx="6024600" cy="8043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Bytes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:     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0x12  0x34  0x56  0x78  0x9A  0xBC</a:t>
            </a:r>
            <a:endParaRPr sz="9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Index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:     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0     1     2     3     4     5</a:t>
            </a:r>
            <a:endParaRPr sz="9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Current position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3</a:t>
            </a:r>
            <a:endParaRPr sz="900">
              <a:solidFill>
                <a:srgbClr val="CE93D8"/>
              </a:solidFill>
              <a:highlight>
                <a:srgbClr val="212121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5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Refer to the </a:t>
            </a:r>
            <a:r>
              <a:rPr lang="en-CA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ByteBuffer documentation</a:t>
            </a:r>
            <a:r>
              <a:rPr lang="en-CA"/>
              <a:t> for this question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Out of the following functions, which ones change the buffer position?</a:t>
            </a:r>
            <a:endParaRPr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>
                <a:latin typeface="Courier"/>
                <a:ea typeface="Courier"/>
                <a:cs typeface="Courier"/>
                <a:sym typeface="Courier"/>
              </a:rPr>
              <a:t>getShort()</a:t>
            </a:r>
            <a:endParaRPr sz="1300">
              <a:latin typeface="Courier"/>
              <a:ea typeface="Courier"/>
              <a:cs typeface="Courier"/>
              <a:sym typeface="Courier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>
                <a:latin typeface="Courier"/>
                <a:ea typeface="Courier"/>
                <a:cs typeface="Courier"/>
                <a:sym typeface="Courier"/>
              </a:rPr>
              <a:t>getShort(int index)</a:t>
            </a:r>
            <a:endParaRPr sz="1300">
              <a:latin typeface="Courier"/>
              <a:ea typeface="Courier"/>
              <a:cs typeface="Courier"/>
              <a:sym typeface="Courier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>
                <a:latin typeface="Courier"/>
                <a:ea typeface="Courier"/>
                <a:cs typeface="Courier"/>
                <a:sym typeface="Courier"/>
              </a:rPr>
              <a:t>putShort(int index, short pineapple)</a:t>
            </a:r>
            <a:endParaRPr sz="1300">
              <a:latin typeface="Courier"/>
              <a:ea typeface="Courier"/>
              <a:cs typeface="Courier"/>
              <a:sym typeface="Courier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>
                <a:latin typeface="Courier"/>
                <a:ea typeface="Courier"/>
                <a:cs typeface="Courier"/>
                <a:sym typeface="Courier"/>
              </a:rPr>
              <a:t>putShort(short pineapple)</a:t>
            </a:r>
            <a:endParaRPr sz="1300">
              <a:latin typeface="Courier"/>
              <a:ea typeface="Courier"/>
              <a:cs typeface="Courier"/>
              <a:sym typeface="Courier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>
                <a:latin typeface="Courier"/>
                <a:ea typeface="Courier"/>
                <a:cs typeface="Courier"/>
                <a:sym typeface="Courier"/>
              </a:rPr>
              <a:t>get(byte[] arr, int index, int length)</a:t>
            </a:r>
            <a:endParaRPr sz="13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6AA84F"/>
              </a:solidFill>
            </a:endParaRPr>
          </a:p>
        </p:txBody>
      </p:sp>
      <p:sp>
        <p:nvSpPr>
          <p:cNvPr id="574" name="Google Shape;574;p45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DNS Review: DNS Messages - ByteBuffer Activity</a:t>
            </a:r>
            <a:endParaRPr>
              <a:solidFill>
                <a:srgbClr val="0077C8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6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Refer to the </a:t>
            </a:r>
            <a:r>
              <a:rPr lang="en-CA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ByteBuffer documentation</a:t>
            </a:r>
            <a:r>
              <a:rPr lang="en-CA"/>
              <a:t> for this question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Out of the following functions, which ones change the buffer position?</a:t>
            </a:r>
            <a:endParaRPr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300"/>
              <a:buAutoNum type="arabicPeriod"/>
            </a:pPr>
            <a:r>
              <a:rPr b="1" lang="en-CA" sz="13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getShort()</a:t>
            </a:r>
            <a:endParaRPr b="1" sz="13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>
                <a:latin typeface="Courier"/>
                <a:ea typeface="Courier"/>
                <a:cs typeface="Courier"/>
                <a:sym typeface="Courier"/>
              </a:rPr>
              <a:t>getShort(int index)</a:t>
            </a:r>
            <a:endParaRPr sz="1300">
              <a:latin typeface="Courier"/>
              <a:ea typeface="Courier"/>
              <a:cs typeface="Courier"/>
              <a:sym typeface="Courier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>
                <a:latin typeface="Courier"/>
                <a:ea typeface="Courier"/>
                <a:cs typeface="Courier"/>
                <a:sym typeface="Courier"/>
              </a:rPr>
              <a:t>putShort(int index, short pineapple)</a:t>
            </a:r>
            <a:endParaRPr sz="1300">
              <a:latin typeface="Courier"/>
              <a:ea typeface="Courier"/>
              <a:cs typeface="Courier"/>
              <a:sym typeface="Courier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300"/>
              <a:buAutoNum type="arabicPeriod"/>
            </a:pPr>
            <a:r>
              <a:rPr b="1" lang="en-CA" sz="13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putShort(short pineapple)</a:t>
            </a:r>
            <a:endParaRPr b="1" sz="13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300"/>
              <a:buAutoNum type="arabicPeriod"/>
            </a:pPr>
            <a:r>
              <a:rPr b="1" lang="en-CA" sz="13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get(byte[] arr, int index, int length)</a:t>
            </a:r>
            <a:endParaRPr b="1" sz="13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6AA84F"/>
              </a:solidFill>
            </a:endParaRPr>
          </a:p>
        </p:txBody>
      </p:sp>
      <p:sp>
        <p:nvSpPr>
          <p:cNvPr id="580" name="Google Shape;580;p46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DNS Review: DNS Messages - ByteBuffer Activity</a:t>
            </a:r>
            <a:endParaRPr>
              <a:solidFill>
                <a:srgbClr val="0077C8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7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/>
              <a:t>A similar activity to In-Class Activity 3.3-2: Acting like a Local DNS Server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/>
              <a:t>To query a specific nameserver, use: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6706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&lt;nameserver&gt;</a:t>
            </a:r>
            <a:r>
              <a:rPr lang="en-CA"/>
              <a:t> is the IP address of the DNS server</a:t>
            </a:r>
            <a:endParaRPr/>
          </a:p>
          <a:p>
            <a:pPr indent="-316706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&lt;hostname&gt;</a:t>
            </a:r>
            <a:r>
              <a:rPr lang="en-CA"/>
              <a:t> is the domain name we are looking up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/>
              <a:t>Start from the root server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198.41.0.4</a:t>
            </a:r>
            <a:r>
              <a:rPr lang="en-CA"/>
              <a:t> (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a.root-servers.net</a:t>
            </a:r>
            <a:r>
              <a:rPr lang="en-CA"/>
              <a:t>), then follow the nameservers one by one until you find an A record for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gaia.cs.umass.edu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16706" lvl="0" marL="914400" rtl="0" algn="l">
              <a:spcBef>
                <a:spcPts val="300"/>
              </a:spcBef>
              <a:spcAft>
                <a:spcPts val="0"/>
              </a:spcAft>
              <a:buSzPct val="100000"/>
              <a:buChar char="-"/>
            </a:pPr>
            <a:r>
              <a:rPr lang="en-CA"/>
              <a:t>Start with: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●"/>
            </a:pPr>
            <a:r>
              <a:rPr lang="en-CA">
                <a:solidFill>
                  <a:srgbClr val="FF0000"/>
                </a:solidFill>
              </a:rPr>
              <a:t>Note: </a:t>
            </a:r>
            <a:r>
              <a:rPr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radicalbeerfaction.tripod.com</a:t>
            </a:r>
            <a:r>
              <a:rPr lang="en-CA">
                <a:solidFill>
                  <a:srgbClr val="FF0000"/>
                </a:solidFill>
              </a:rPr>
              <a:t> is no longer available, so we will use </a:t>
            </a:r>
            <a:r>
              <a:rPr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gaia.cs.umass.edu</a:t>
            </a:r>
            <a:r>
              <a:rPr lang="en-CA">
                <a:solidFill>
                  <a:srgbClr val="FF0000"/>
                </a:solidFill>
              </a:rPr>
              <a:t>, which is the example used in the lecture slides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586" name="Google Shape;586;p47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DNS Review: Iterative Queries - Activity</a:t>
            </a:r>
            <a:endParaRPr/>
          </a:p>
        </p:txBody>
      </p:sp>
      <p:sp>
        <p:nvSpPr>
          <p:cNvPr id="587" name="Google Shape;587;p47"/>
          <p:cNvSpPr txBox="1"/>
          <p:nvPr/>
        </p:nvSpPr>
        <p:spPr>
          <a:xfrm>
            <a:off x="1037200" y="1868091"/>
            <a:ext cx="4494300" cy="5889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dig</a:t>
            </a:r>
            <a:r>
              <a:rPr lang="en-CA" sz="11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@</a:t>
            </a:r>
            <a:r>
              <a:rPr lang="en-CA" sz="11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-CA" sz="11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nameserver</a:t>
            </a:r>
            <a:r>
              <a:rPr lang="en-CA" sz="11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&gt; &lt;</a:t>
            </a:r>
            <a:r>
              <a:rPr lang="en-CA" sz="11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hostname</a:t>
            </a:r>
            <a:r>
              <a:rPr lang="en-CA" sz="11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&gt; &lt;</a:t>
            </a:r>
            <a:r>
              <a:rPr lang="en-CA" sz="11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record type</a:t>
            </a:r>
            <a:r>
              <a:rPr lang="en-CA" sz="11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00">
              <a:solidFill>
                <a:srgbClr val="CE93D8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88" name="Google Shape;588;p47"/>
          <p:cNvSpPr txBox="1"/>
          <p:nvPr/>
        </p:nvSpPr>
        <p:spPr>
          <a:xfrm>
            <a:off x="2187999" y="3707430"/>
            <a:ext cx="3148200" cy="2748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dig </a:t>
            </a:r>
            <a:r>
              <a:rPr lang="en-CA" sz="11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@198.41.0.4 gaia.cs.umass.edu A</a:t>
            </a:r>
            <a:endParaRPr sz="11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Google Shape;593;p48" title="aa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48"/>
          <p:cNvSpPr/>
          <p:nvPr/>
        </p:nvSpPr>
        <p:spPr>
          <a:xfrm>
            <a:off x="3548700" y="1121525"/>
            <a:ext cx="5081100" cy="1368600"/>
          </a:xfrm>
          <a:prstGeom prst="ellipse">
            <a:avLst/>
          </a:prstGeom>
          <a:noFill/>
          <a:ln cap="flat" cmpd="sng" w="762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9" name="Google Shape;599;p49" title="aa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49"/>
          <p:cNvSpPr/>
          <p:nvPr/>
        </p:nvSpPr>
        <p:spPr>
          <a:xfrm>
            <a:off x="3548700" y="1121525"/>
            <a:ext cx="5081100" cy="1368600"/>
          </a:xfrm>
          <a:prstGeom prst="ellipse">
            <a:avLst/>
          </a:prstGeom>
          <a:noFill/>
          <a:ln cap="flat" cmpd="sng" w="762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49"/>
          <p:cNvSpPr/>
          <p:nvPr/>
        </p:nvSpPr>
        <p:spPr>
          <a:xfrm>
            <a:off x="2345950" y="2724725"/>
            <a:ext cx="4562700" cy="1739400"/>
          </a:xfrm>
          <a:prstGeom prst="wedgeRoundRectCallout">
            <a:avLst>
              <a:gd fmla="val -13089" name="adj1"/>
              <a:gd fmla="val -69416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CA" sz="1800"/>
              <a:t>This is the specific example that we are going to follow, instead of the one given by the tutorial material</a:t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/>
              <a:t>We will look into this area in more detail</a:t>
            </a:r>
            <a:endParaRPr sz="1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0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DNS Review: Iterative Queries</a:t>
            </a:r>
            <a:endParaRPr/>
          </a:p>
        </p:txBody>
      </p:sp>
      <p:sp>
        <p:nvSpPr>
          <p:cNvPr id="607" name="Google Shape;607;p50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Local DNS Server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(Resolver)</a:t>
            </a:r>
            <a:endParaRPr/>
          </a:p>
        </p:txBody>
      </p:sp>
      <p:sp>
        <p:nvSpPr>
          <p:cNvPr id="608" name="Google Shape;608;p50"/>
          <p:cNvSpPr/>
          <p:nvPr/>
        </p:nvSpPr>
        <p:spPr>
          <a:xfrm>
            <a:off x="5805650" y="1728464"/>
            <a:ext cx="2520000" cy="24558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9" name="Google Shape;609;p50"/>
          <p:cNvCxnSpPr/>
          <p:nvPr/>
        </p:nvCxnSpPr>
        <p:spPr>
          <a:xfrm>
            <a:off x="2543888" y="2928710"/>
            <a:ext cx="326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0" name="Google Shape;610;p50"/>
          <p:cNvSpPr txBox="1"/>
          <p:nvPr/>
        </p:nvSpPr>
        <p:spPr>
          <a:xfrm>
            <a:off x="5805650" y="1399588"/>
            <a:ext cx="25200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434343"/>
                </a:solidFill>
              </a:rPr>
              <a:t>(authoritative nameserver for </a:t>
            </a:r>
            <a:r>
              <a:rPr lang="en-CA" sz="1200">
                <a:solidFill>
                  <a:srgbClr val="434343"/>
                </a:solidFill>
                <a:latin typeface="Courier"/>
                <a:ea typeface="Courier"/>
                <a:cs typeface="Courier"/>
                <a:sym typeface="Courier"/>
              </a:rPr>
              <a:t>edu</a:t>
            </a:r>
            <a:r>
              <a:rPr lang="en-CA" sz="1200">
                <a:solidFill>
                  <a:srgbClr val="434343"/>
                </a:solidFill>
              </a:rPr>
              <a:t>)</a:t>
            </a:r>
            <a:endParaRPr sz="1200">
              <a:solidFill>
                <a:srgbClr val="434343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611" name="Google Shape;611;p50"/>
          <p:cNvSpPr/>
          <p:nvPr/>
        </p:nvSpPr>
        <p:spPr>
          <a:xfrm>
            <a:off x="6661096" y="202350"/>
            <a:ext cx="809100" cy="81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Root DNS Server</a:t>
            </a:r>
            <a:endParaRPr/>
          </a:p>
        </p:txBody>
      </p:sp>
      <p:cxnSp>
        <p:nvCxnSpPr>
          <p:cNvPr id="612" name="Google Shape;612;p50"/>
          <p:cNvCxnSpPr>
            <a:stCxn id="611" idx="1"/>
            <a:endCxn id="607" idx="0"/>
          </p:cNvCxnSpPr>
          <p:nvPr/>
        </p:nvCxnSpPr>
        <p:spPr>
          <a:xfrm flipH="1">
            <a:off x="1913896" y="607350"/>
            <a:ext cx="4747200" cy="175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3" name="Google Shape;613;p50"/>
          <p:cNvCxnSpPr>
            <a:stCxn id="614" idx="1"/>
          </p:cNvCxnSpPr>
          <p:nvPr/>
        </p:nvCxnSpPr>
        <p:spPr>
          <a:xfrm flipH="1">
            <a:off x="2543950" y="3156775"/>
            <a:ext cx="3321600" cy="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5" name="Google Shape;615;p50"/>
          <p:cNvSpPr/>
          <p:nvPr/>
        </p:nvSpPr>
        <p:spPr>
          <a:xfrm>
            <a:off x="2627000" y="1357350"/>
            <a:ext cx="3095700" cy="251100"/>
          </a:xfrm>
          <a:prstGeom prst="rect">
            <a:avLst/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latin typeface="Courier"/>
                <a:ea typeface="Courier"/>
                <a:cs typeface="Courier"/>
                <a:sym typeface="Courier"/>
              </a:rPr>
              <a:t>(edu, NS, a.edu-servers.net, TTL)</a:t>
            </a:r>
            <a:endParaRPr sz="11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616" name="Google Shape;616;p50"/>
          <p:cNvSpPr/>
          <p:nvPr/>
        </p:nvSpPr>
        <p:spPr>
          <a:xfrm>
            <a:off x="2627000" y="1608450"/>
            <a:ext cx="3095700" cy="251100"/>
          </a:xfrm>
          <a:prstGeom prst="rect">
            <a:avLst/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latin typeface="Courier"/>
                <a:ea typeface="Courier"/>
                <a:cs typeface="Courier"/>
                <a:sym typeface="Courier"/>
              </a:rPr>
              <a:t>(</a:t>
            </a:r>
            <a:r>
              <a:rPr lang="en-CA" sz="11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a.edu-s...</a:t>
            </a:r>
            <a:r>
              <a:rPr lang="en-CA" sz="1100">
                <a:latin typeface="Courier"/>
                <a:ea typeface="Courier"/>
                <a:cs typeface="Courier"/>
                <a:sym typeface="Courier"/>
              </a:rPr>
              <a:t>,  A, 192.5.6.30, TTL)</a:t>
            </a:r>
            <a:endParaRPr sz="11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617" name="Google Shape;617;p50"/>
          <p:cNvSpPr/>
          <p:nvPr/>
        </p:nvSpPr>
        <p:spPr>
          <a:xfrm>
            <a:off x="5865550" y="1788250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aaaaa.edu</a:t>
            </a:r>
            <a:endParaRPr/>
          </a:p>
        </p:txBody>
      </p:sp>
      <p:sp>
        <p:nvSpPr>
          <p:cNvPr id="618" name="Google Shape;618;p50"/>
          <p:cNvSpPr/>
          <p:nvPr/>
        </p:nvSpPr>
        <p:spPr>
          <a:xfrm>
            <a:off x="5865550" y="2187315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bbbbb.edu</a:t>
            </a:r>
            <a:endParaRPr/>
          </a:p>
        </p:txBody>
      </p:sp>
      <p:sp>
        <p:nvSpPr>
          <p:cNvPr id="619" name="Google Shape;619;p50"/>
          <p:cNvSpPr/>
          <p:nvPr/>
        </p:nvSpPr>
        <p:spPr>
          <a:xfrm>
            <a:off x="5865550" y="2586379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ccccc.edu</a:t>
            </a:r>
            <a:endParaRPr/>
          </a:p>
        </p:txBody>
      </p:sp>
      <p:sp>
        <p:nvSpPr>
          <p:cNvPr id="614" name="Google Shape;614;p50"/>
          <p:cNvSpPr/>
          <p:nvPr/>
        </p:nvSpPr>
        <p:spPr>
          <a:xfrm>
            <a:off x="5865550" y="2987125"/>
            <a:ext cx="2400300" cy="3393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umass.edu</a:t>
            </a:r>
            <a:endParaRPr/>
          </a:p>
        </p:txBody>
      </p:sp>
      <p:sp>
        <p:nvSpPr>
          <p:cNvPr id="620" name="Google Shape;620;p50"/>
          <p:cNvSpPr/>
          <p:nvPr/>
        </p:nvSpPr>
        <p:spPr>
          <a:xfrm>
            <a:off x="5865500" y="3386190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xxxxx.edu</a:t>
            </a:r>
            <a:endParaRPr/>
          </a:p>
        </p:txBody>
      </p:sp>
      <p:sp>
        <p:nvSpPr>
          <p:cNvPr id="621" name="Google Shape;621;p50"/>
          <p:cNvSpPr/>
          <p:nvPr/>
        </p:nvSpPr>
        <p:spPr>
          <a:xfrm>
            <a:off x="5865500" y="3785259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zzzzz.edu</a:t>
            </a:r>
            <a:endParaRPr/>
          </a:p>
        </p:txBody>
      </p:sp>
      <p:sp>
        <p:nvSpPr>
          <p:cNvPr id="622" name="Google Shape;622;p50"/>
          <p:cNvSpPr/>
          <p:nvPr/>
        </p:nvSpPr>
        <p:spPr>
          <a:xfrm>
            <a:off x="4724721" y="4248950"/>
            <a:ext cx="809100" cy="81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Next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DNS Server</a:t>
            </a:r>
            <a:endParaRPr/>
          </a:p>
        </p:txBody>
      </p:sp>
      <p:cxnSp>
        <p:nvCxnSpPr>
          <p:cNvPr id="623" name="Google Shape;623;p50"/>
          <p:cNvCxnSpPr>
            <a:endCxn id="622" idx="1"/>
          </p:cNvCxnSpPr>
          <p:nvPr/>
        </p:nvCxnSpPr>
        <p:spPr>
          <a:xfrm>
            <a:off x="2533821" y="3466250"/>
            <a:ext cx="2190900" cy="118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4" name="Google Shape;624;p50"/>
          <p:cNvSpPr txBox="1"/>
          <p:nvPr/>
        </p:nvSpPr>
        <p:spPr>
          <a:xfrm>
            <a:off x="2991350" y="2557513"/>
            <a:ext cx="259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Q: </a:t>
            </a:r>
            <a:r>
              <a:rPr lang="en-CA" u="sng">
                <a:solidFill>
                  <a:schemeClr val="accent5"/>
                </a:solidFill>
                <a:latin typeface="Courier"/>
                <a:ea typeface="Courier"/>
                <a:cs typeface="Courier"/>
                <a:sym typeface="Couri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gaia.cs.umass.edu</a:t>
            </a: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? </a:t>
            </a:r>
            <a:endParaRPr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625" name="Google Shape;625;p50"/>
          <p:cNvSpPr txBox="1"/>
          <p:nvPr/>
        </p:nvSpPr>
        <p:spPr>
          <a:xfrm>
            <a:off x="5805700" y="1147211"/>
            <a:ext cx="25200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192.5.6.30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626" name="Google Shape;626;p50"/>
          <p:cNvSpPr txBox="1"/>
          <p:nvPr/>
        </p:nvSpPr>
        <p:spPr>
          <a:xfrm rot="1730216">
            <a:off x="2418648" y="3714289"/>
            <a:ext cx="2592478" cy="35406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Q: </a:t>
            </a:r>
            <a:r>
              <a:rPr lang="en-CA" sz="1100" u="sng">
                <a:solidFill>
                  <a:schemeClr val="accent5"/>
                </a:solidFill>
                <a:latin typeface="Courier"/>
                <a:ea typeface="Courier"/>
                <a:cs typeface="Courier"/>
                <a:sym typeface="Couri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gaia.cs.umass.edu</a:t>
            </a:r>
            <a:r>
              <a:rPr lang="en-CA" sz="11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? </a:t>
            </a:r>
            <a:endParaRPr sz="11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51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DNS Review: Iterative Queries</a:t>
            </a:r>
            <a:endParaRPr/>
          </a:p>
        </p:txBody>
      </p:sp>
      <p:sp>
        <p:nvSpPr>
          <p:cNvPr id="632" name="Google Shape;632;p51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Local DNS Server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(Resolver)</a:t>
            </a:r>
            <a:endParaRPr/>
          </a:p>
        </p:txBody>
      </p:sp>
      <p:sp>
        <p:nvSpPr>
          <p:cNvPr id="633" name="Google Shape;633;p51"/>
          <p:cNvSpPr/>
          <p:nvPr/>
        </p:nvSpPr>
        <p:spPr>
          <a:xfrm>
            <a:off x="5805650" y="1728464"/>
            <a:ext cx="2520000" cy="24558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34" name="Google Shape;634;p51"/>
          <p:cNvCxnSpPr/>
          <p:nvPr/>
        </p:nvCxnSpPr>
        <p:spPr>
          <a:xfrm>
            <a:off x="2543888" y="2928710"/>
            <a:ext cx="326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5" name="Google Shape;635;p51"/>
          <p:cNvSpPr txBox="1"/>
          <p:nvPr/>
        </p:nvSpPr>
        <p:spPr>
          <a:xfrm>
            <a:off x="5805650" y="1399588"/>
            <a:ext cx="25200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434343"/>
                </a:solidFill>
              </a:rPr>
              <a:t>(authoritative nameserver for </a:t>
            </a:r>
            <a:r>
              <a:rPr lang="en-CA" sz="1200">
                <a:solidFill>
                  <a:srgbClr val="434343"/>
                </a:solidFill>
                <a:latin typeface="Courier"/>
                <a:ea typeface="Courier"/>
                <a:cs typeface="Courier"/>
                <a:sym typeface="Courier"/>
              </a:rPr>
              <a:t>edu</a:t>
            </a:r>
            <a:r>
              <a:rPr lang="en-CA" sz="1200">
                <a:solidFill>
                  <a:srgbClr val="434343"/>
                </a:solidFill>
              </a:rPr>
              <a:t>)</a:t>
            </a:r>
            <a:endParaRPr sz="1200">
              <a:solidFill>
                <a:srgbClr val="434343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636" name="Google Shape;636;p51"/>
          <p:cNvSpPr/>
          <p:nvPr/>
        </p:nvSpPr>
        <p:spPr>
          <a:xfrm>
            <a:off x="6661096" y="202350"/>
            <a:ext cx="809100" cy="81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Root DNS Server</a:t>
            </a:r>
            <a:endParaRPr/>
          </a:p>
        </p:txBody>
      </p:sp>
      <p:cxnSp>
        <p:nvCxnSpPr>
          <p:cNvPr id="637" name="Google Shape;637;p51"/>
          <p:cNvCxnSpPr>
            <a:stCxn id="636" idx="1"/>
            <a:endCxn id="632" idx="0"/>
          </p:cNvCxnSpPr>
          <p:nvPr/>
        </p:nvCxnSpPr>
        <p:spPr>
          <a:xfrm flipH="1">
            <a:off x="1913896" y="607350"/>
            <a:ext cx="4747200" cy="175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8" name="Google Shape;638;p51"/>
          <p:cNvCxnSpPr>
            <a:stCxn id="639" idx="1"/>
          </p:cNvCxnSpPr>
          <p:nvPr/>
        </p:nvCxnSpPr>
        <p:spPr>
          <a:xfrm flipH="1">
            <a:off x="2543950" y="3156775"/>
            <a:ext cx="3321600" cy="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0" name="Google Shape;640;p51"/>
          <p:cNvSpPr/>
          <p:nvPr/>
        </p:nvSpPr>
        <p:spPr>
          <a:xfrm>
            <a:off x="2627000" y="1357350"/>
            <a:ext cx="3095700" cy="251100"/>
          </a:xfrm>
          <a:prstGeom prst="rect">
            <a:avLst/>
          </a:prstGeom>
          <a:solidFill>
            <a:srgbClr val="C9DAF8"/>
          </a:solidFill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latin typeface="Courier"/>
                <a:ea typeface="Courier"/>
                <a:cs typeface="Courier"/>
                <a:sym typeface="Courier"/>
              </a:rPr>
              <a:t>(edu, NS, a.edu-servers.net, TTL)</a:t>
            </a:r>
            <a:endParaRPr sz="11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641" name="Google Shape;641;p51"/>
          <p:cNvSpPr/>
          <p:nvPr/>
        </p:nvSpPr>
        <p:spPr>
          <a:xfrm>
            <a:off x="2627000" y="1608450"/>
            <a:ext cx="3095700" cy="251100"/>
          </a:xfrm>
          <a:prstGeom prst="rect">
            <a:avLst/>
          </a:prstGeom>
          <a:solidFill>
            <a:srgbClr val="C9DAF8"/>
          </a:solidFill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latin typeface="Courier"/>
                <a:ea typeface="Courier"/>
                <a:cs typeface="Courier"/>
                <a:sym typeface="Courier"/>
              </a:rPr>
              <a:t>(</a:t>
            </a:r>
            <a:r>
              <a:rPr lang="en-CA" sz="11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a.edu-s...</a:t>
            </a:r>
            <a:r>
              <a:rPr lang="en-CA" sz="1100">
                <a:latin typeface="Courier"/>
                <a:ea typeface="Courier"/>
                <a:cs typeface="Courier"/>
                <a:sym typeface="Courier"/>
              </a:rPr>
              <a:t>,  A, 192.5.6.30, TTL)</a:t>
            </a:r>
            <a:endParaRPr sz="11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642" name="Google Shape;642;p51"/>
          <p:cNvSpPr/>
          <p:nvPr/>
        </p:nvSpPr>
        <p:spPr>
          <a:xfrm>
            <a:off x="5865550" y="1788250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aaaaa.edu</a:t>
            </a:r>
            <a:endParaRPr/>
          </a:p>
        </p:txBody>
      </p:sp>
      <p:sp>
        <p:nvSpPr>
          <p:cNvPr id="643" name="Google Shape;643;p51"/>
          <p:cNvSpPr/>
          <p:nvPr/>
        </p:nvSpPr>
        <p:spPr>
          <a:xfrm>
            <a:off x="5865550" y="2187315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bbbbb.edu</a:t>
            </a:r>
            <a:endParaRPr/>
          </a:p>
        </p:txBody>
      </p:sp>
      <p:sp>
        <p:nvSpPr>
          <p:cNvPr id="644" name="Google Shape;644;p51"/>
          <p:cNvSpPr/>
          <p:nvPr/>
        </p:nvSpPr>
        <p:spPr>
          <a:xfrm>
            <a:off x="5865550" y="2586379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ccccc.edu</a:t>
            </a:r>
            <a:endParaRPr/>
          </a:p>
        </p:txBody>
      </p:sp>
      <p:sp>
        <p:nvSpPr>
          <p:cNvPr id="639" name="Google Shape;639;p51"/>
          <p:cNvSpPr/>
          <p:nvPr/>
        </p:nvSpPr>
        <p:spPr>
          <a:xfrm>
            <a:off x="5865550" y="2987125"/>
            <a:ext cx="2400300" cy="3393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umass.edu</a:t>
            </a:r>
            <a:endParaRPr/>
          </a:p>
        </p:txBody>
      </p:sp>
      <p:sp>
        <p:nvSpPr>
          <p:cNvPr id="645" name="Google Shape;645;p51"/>
          <p:cNvSpPr/>
          <p:nvPr/>
        </p:nvSpPr>
        <p:spPr>
          <a:xfrm>
            <a:off x="5865500" y="3386190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xxxxx.edu</a:t>
            </a:r>
            <a:endParaRPr/>
          </a:p>
        </p:txBody>
      </p:sp>
      <p:sp>
        <p:nvSpPr>
          <p:cNvPr id="646" name="Google Shape;646;p51"/>
          <p:cNvSpPr/>
          <p:nvPr/>
        </p:nvSpPr>
        <p:spPr>
          <a:xfrm>
            <a:off x="5865500" y="3785259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zzzzz.edu</a:t>
            </a:r>
            <a:endParaRPr/>
          </a:p>
        </p:txBody>
      </p:sp>
      <p:sp>
        <p:nvSpPr>
          <p:cNvPr id="647" name="Google Shape;647;p51"/>
          <p:cNvSpPr/>
          <p:nvPr/>
        </p:nvSpPr>
        <p:spPr>
          <a:xfrm>
            <a:off x="4724721" y="4248950"/>
            <a:ext cx="809100" cy="81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Next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DNS Server</a:t>
            </a:r>
            <a:endParaRPr/>
          </a:p>
        </p:txBody>
      </p:sp>
      <p:cxnSp>
        <p:nvCxnSpPr>
          <p:cNvPr id="648" name="Google Shape;648;p51"/>
          <p:cNvCxnSpPr>
            <a:endCxn id="647" idx="1"/>
          </p:cNvCxnSpPr>
          <p:nvPr/>
        </p:nvCxnSpPr>
        <p:spPr>
          <a:xfrm>
            <a:off x="2533821" y="3466250"/>
            <a:ext cx="2190900" cy="118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9" name="Google Shape;649;p51"/>
          <p:cNvSpPr txBox="1"/>
          <p:nvPr/>
        </p:nvSpPr>
        <p:spPr>
          <a:xfrm>
            <a:off x="2991350" y="2557513"/>
            <a:ext cx="259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Q: </a:t>
            </a:r>
            <a:r>
              <a:rPr lang="en-CA" u="sng">
                <a:solidFill>
                  <a:schemeClr val="accent5"/>
                </a:solidFill>
                <a:latin typeface="Courier"/>
                <a:ea typeface="Courier"/>
                <a:cs typeface="Courier"/>
                <a:sym typeface="Couri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gaia.cs.umass.edu</a:t>
            </a: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? </a:t>
            </a:r>
            <a:endParaRPr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650" name="Google Shape;650;p51"/>
          <p:cNvSpPr txBox="1"/>
          <p:nvPr/>
        </p:nvSpPr>
        <p:spPr>
          <a:xfrm>
            <a:off x="5805700" y="1147211"/>
            <a:ext cx="25200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192.5.6.30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651" name="Google Shape;651;p51"/>
          <p:cNvSpPr txBox="1"/>
          <p:nvPr/>
        </p:nvSpPr>
        <p:spPr>
          <a:xfrm rot="1730216">
            <a:off x="2418648" y="3714289"/>
            <a:ext cx="2592478" cy="35406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Q: </a:t>
            </a:r>
            <a:r>
              <a:rPr lang="en-CA" sz="1100" u="sng">
                <a:solidFill>
                  <a:schemeClr val="accent5"/>
                </a:solidFill>
                <a:latin typeface="Courier"/>
                <a:ea typeface="Courier"/>
                <a:cs typeface="Courier"/>
                <a:sym typeface="Couri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gaia.cs.umass.edu</a:t>
            </a:r>
            <a:r>
              <a:rPr lang="en-CA" sz="11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? </a:t>
            </a:r>
            <a:endParaRPr sz="11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52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DNS Review: Iterative Queries</a:t>
            </a:r>
            <a:endParaRPr/>
          </a:p>
        </p:txBody>
      </p:sp>
      <p:sp>
        <p:nvSpPr>
          <p:cNvPr id="657" name="Google Shape;657;p52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Local DNS Server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(Resolver)</a:t>
            </a:r>
            <a:endParaRPr/>
          </a:p>
        </p:txBody>
      </p:sp>
      <p:sp>
        <p:nvSpPr>
          <p:cNvPr id="658" name="Google Shape;658;p52"/>
          <p:cNvSpPr/>
          <p:nvPr/>
        </p:nvSpPr>
        <p:spPr>
          <a:xfrm>
            <a:off x="5805650" y="1728464"/>
            <a:ext cx="2520000" cy="24558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9" name="Google Shape;659;p52"/>
          <p:cNvCxnSpPr/>
          <p:nvPr/>
        </p:nvCxnSpPr>
        <p:spPr>
          <a:xfrm>
            <a:off x="2543888" y="2928710"/>
            <a:ext cx="326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0" name="Google Shape;660;p52"/>
          <p:cNvSpPr txBox="1"/>
          <p:nvPr/>
        </p:nvSpPr>
        <p:spPr>
          <a:xfrm>
            <a:off x="5805650" y="1399588"/>
            <a:ext cx="25200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434343"/>
                </a:solidFill>
              </a:rPr>
              <a:t>(authoritative nameserver for </a:t>
            </a:r>
            <a:r>
              <a:rPr lang="en-CA" sz="1200">
                <a:solidFill>
                  <a:srgbClr val="434343"/>
                </a:solidFill>
                <a:latin typeface="Courier"/>
                <a:ea typeface="Courier"/>
                <a:cs typeface="Courier"/>
                <a:sym typeface="Courier"/>
              </a:rPr>
              <a:t>edu</a:t>
            </a:r>
            <a:r>
              <a:rPr lang="en-CA" sz="1200">
                <a:solidFill>
                  <a:srgbClr val="434343"/>
                </a:solidFill>
              </a:rPr>
              <a:t>)</a:t>
            </a:r>
            <a:endParaRPr sz="1200">
              <a:solidFill>
                <a:srgbClr val="434343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661" name="Google Shape;661;p52"/>
          <p:cNvSpPr/>
          <p:nvPr/>
        </p:nvSpPr>
        <p:spPr>
          <a:xfrm>
            <a:off x="6661096" y="202350"/>
            <a:ext cx="809100" cy="81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Root DNS Server</a:t>
            </a:r>
            <a:endParaRPr/>
          </a:p>
        </p:txBody>
      </p:sp>
      <p:cxnSp>
        <p:nvCxnSpPr>
          <p:cNvPr id="662" name="Google Shape;662;p52"/>
          <p:cNvCxnSpPr>
            <a:stCxn id="661" idx="1"/>
            <a:endCxn id="657" idx="0"/>
          </p:cNvCxnSpPr>
          <p:nvPr/>
        </p:nvCxnSpPr>
        <p:spPr>
          <a:xfrm flipH="1">
            <a:off x="1913896" y="607350"/>
            <a:ext cx="4747200" cy="175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3" name="Google Shape;663;p52"/>
          <p:cNvCxnSpPr>
            <a:stCxn id="664" idx="1"/>
          </p:cNvCxnSpPr>
          <p:nvPr/>
        </p:nvCxnSpPr>
        <p:spPr>
          <a:xfrm flipH="1">
            <a:off x="2543950" y="3156775"/>
            <a:ext cx="3321600" cy="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5" name="Google Shape;665;p52"/>
          <p:cNvSpPr/>
          <p:nvPr/>
        </p:nvSpPr>
        <p:spPr>
          <a:xfrm>
            <a:off x="2627000" y="1357350"/>
            <a:ext cx="3095700" cy="251100"/>
          </a:xfrm>
          <a:prstGeom prst="rect">
            <a:avLst/>
          </a:prstGeom>
          <a:solidFill>
            <a:srgbClr val="C9DAF8"/>
          </a:solidFill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latin typeface="Courier"/>
                <a:ea typeface="Courier"/>
                <a:cs typeface="Courier"/>
                <a:sym typeface="Courier"/>
              </a:rPr>
              <a:t>(edu, NS, a.edu-servers.net, TTL)</a:t>
            </a:r>
            <a:endParaRPr sz="11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666" name="Google Shape;666;p52"/>
          <p:cNvSpPr/>
          <p:nvPr/>
        </p:nvSpPr>
        <p:spPr>
          <a:xfrm>
            <a:off x="2627000" y="1608450"/>
            <a:ext cx="3095700" cy="251100"/>
          </a:xfrm>
          <a:prstGeom prst="rect">
            <a:avLst/>
          </a:prstGeom>
          <a:solidFill>
            <a:srgbClr val="C9DAF8"/>
          </a:solidFill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latin typeface="Courier"/>
                <a:ea typeface="Courier"/>
                <a:cs typeface="Courier"/>
                <a:sym typeface="Courier"/>
              </a:rPr>
              <a:t>(</a:t>
            </a:r>
            <a:r>
              <a:rPr lang="en-CA" sz="11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a.edu-s...</a:t>
            </a:r>
            <a:r>
              <a:rPr lang="en-CA" sz="1100">
                <a:latin typeface="Courier"/>
                <a:ea typeface="Courier"/>
                <a:cs typeface="Courier"/>
                <a:sym typeface="Courier"/>
              </a:rPr>
              <a:t>,  A, 192.5.6.30, TTL)</a:t>
            </a:r>
            <a:endParaRPr sz="11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667" name="Google Shape;667;p52"/>
          <p:cNvSpPr/>
          <p:nvPr/>
        </p:nvSpPr>
        <p:spPr>
          <a:xfrm>
            <a:off x="5865550" y="1788250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aaaaa.edu</a:t>
            </a:r>
            <a:endParaRPr/>
          </a:p>
        </p:txBody>
      </p:sp>
      <p:sp>
        <p:nvSpPr>
          <p:cNvPr id="668" name="Google Shape;668;p52"/>
          <p:cNvSpPr/>
          <p:nvPr/>
        </p:nvSpPr>
        <p:spPr>
          <a:xfrm>
            <a:off x="5865550" y="2187315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bbbbb.edu</a:t>
            </a:r>
            <a:endParaRPr/>
          </a:p>
        </p:txBody>
      </p:sp>
      <p:sp>
        <p:nvSpPr>
          <p:cNvPr id="669" name="Google Shape;669;p52"/>
          <p:cNvSpPr/>
          <p:nvPr/>
        </p:nvSpPr>
        <p:spPr>
          <a:xfrm>
            <a:off x="5865550" y="2586379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ccccc.edu</a:t>
            </a:r>
            <a:endParaRPr/>
          </a:p>
        </p:txBody>
      </p:sp>
      <p:sp>
        <p:nvSpPr>
          <p:cNvPr id="664" name="Google Shape;664;p52"/>
          <p:cNvSpPr/>
          <p:nvPr/>
        </p:nvSpPr>
        <p:spPr>
          <a:xfrm>
            <a:off x="5865550" y="2987125"/>
            <a:ext cx="2400300" cy="3393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umass.edu</a:t>
            </a:r>
            <a:endParaRPr/>
          </a:p>
        </p:txBody>
      </p:sp>
      <p:sp>
        <p:nvSpPr>
          <p:cNvPr id="670" name="Google Shape;670;p52"/>
          <p:cNvSpPr/>
          <p:nvPr/>
        </p:nvSpPr>
        <p:spPr>
          <a:xfrm>
            <a:off x="5865500" y="3386190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xxxxx.edu</a:t>
            </a:r>
            <a:endParaRPr/>
          </a:p>
        </p:txBody>
      </p:sp>
      <p:sp>
        <p:nvSpPr>
          <p:cNvPr id="671" name="Google Shape;671;p52"/>
          <p:cNvSpPr/>
          <p:nvPr/>
        </p:nvSpPr>
        <p:spPr>
          <a:xfrm>
            <a:off x="5865500" y="3785259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zzzzz.edu</a:t>
            </a:r>
            <a:endParaRPr/>
          </a:p>
        </p:txBody>
      </p:sp>
      <p:sp>
        <p:nvSpPr>
          <p:cNvPr id="672" name="Google Shape;672;p52"/>
          <p:cNvSpPr/>
          <p:nvPr/>
        </p:nvSpPr>
        <p:spPr>
          <a:xfrm>
            <a:off x="4724721" y="4248950"/>
            <a:ext cx="809100" cy="81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Next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DNS Server</a:t>
            </a:r>
            <a:endParaRPr/>
          </a:p>
        </p:txBody>
      </p:sp>
      <p:cxnSp>
        <p:nvCxnSpPr>
          <p:cNvPr id="673" name="Google Shape;673;p52"/>
          <p:cNvCxnSpPr>
            <a:endCxn id="672" idx="1"/>
          </p:cNvCxnSpPr>
          <p:nvPr/>
        </p:nvCxnSpPr>
        <p:spPr>
          <a:xfrm>
            <a:off x="2533821" y="3466250"/>
            <a:ext cx="2190900" cy="118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4" name="Google Shape;674;p52"/>
          <p:cNvSpPr txBox="1"/>
          <p:nvPr/>
        </p:nvSpPr>
        <p:spPr>
          <a:xfrm>
            <a:off x="2991350" y="2557513"/>
            <a:ext cx="259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Q: </a:t>
            </a:r>
            <a:r>
              <a:rPr lang="en-CA" u="sng">
                <a:solidFill>
                  <a:schemeClr val="accent5"/>
                </a:solidFill>
                <a:latin typeface="Courier"/>
                <a:ea typeface="Courier"/>
                <a:cs typeface="Courier"/>
                <a:sym typeface="Couri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gaia.cs.umass.edu</a:t>
            </a: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? </a:t>
            </a:r>
            <a:endParaRPr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675" name="Google Shape;675;p52"/>
          <p:cNvSpPr txBox="1"/>
          <p:nvPr/>
        </p:nvSpPr>
        <p:spPr>
          <a:xfrm>
            <a:off x="5805700" y="1147211"/>
            <a:ext cx="25200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192.5.6.30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676" name="Google Shape;676;p52"/>
          <p:cNvSpPr txBox="1"/>
          <p:nvPr/>
        </p:nvSpPr>
        <p:spPr>
          <a:xfrm rot="1730216">
            <a:off x="2418648" y="3714289"/>
            <a:ext cx="2592478" cy="35406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Q: </a:t>
            </a:r>
            <a:r>
              <a:rPr lang="en-CA" sz="1100" u="sng">
                <a:solidFill>
                  <a:schemeClr val="accent5"/>
                </a:solidFill>
                <a:latin typeface="Courier"/>
                <a:ea typeface="Courier"/>
                <a:cs typeface="Courier"/>
                <a:sym typeface="Couri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gaia.cs.umass.edu</a:t>
            </a:r>
            <a:r>
              <a:rPr lang="en-CA" sz="11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? </a:t>
            </a:r>
            <a:endParaRPr sz="11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677" name="Google Shape;677;p52"/>
          <p:cNvSpPr/>
          <p:nvPr/>
        </p:nvSpPr>
        <p:spPr>
          <a:xfrm>
            <a:off x="2345950" y="2724725"/>
            <a:ext cx="6123300" cy="1000800"/>
          </a:xfrm>
          <a:prstGeom prst="wedgeRoundRectCallout">
            <a:avLst>
              <a:gd fmla="val -19719" name="adj1"/>
              <a:gd fmla="val -118148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CA" sz="1800"/>
              <a:t>This is the reply from the first dig command</a:t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/>
              <a:t>It includes the </a:t>
            </a:r>
            <a:r>
              <a:rPr lang="en-CA" sz="1800">
                <a:latin typeface="Courier"/>
                <a:ea typeface="Courier"/>
                <a:cs typeface="Courier"/>
                <a:sym typeface="Courier"/>
              </a:rPr>
              <a:t>edu</a:t>
            </a:r>
            <a:r>
              <a:rPr lang="en-CA" sz="1800"/>
              <a:t> nameservers and their IP addresses</a:t>
            </a:r>
            <a:endParaRPr sz="18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53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DNS Review: Iterative Queries</a:t>
            </a:r>
            <a:endParaRPr/>
          </a:p>
        </p:txBody>
      </p:sp>
      <p:sp>
        <p:nvSpPr>
          <p:cNvPr id="683" name="Google Shape;683;p53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Local DNS Server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(Resolver)</a:t>
            </a:r>
            <a:endParaRPr/>
          </a:p>
        </p:txBody>
      </p:sp>
      <p:sp>
        <p:nvSpPr>
          <p:cNvPr id="684" name="Google Shape;684;p53"/>
          <p:cNvSpPr/>
          <p:nvPr/>
        </p:nvSpPr>
        <p:spPr>
          <a:xfrm>
            <a:off x="5805650" y="1728464"/>
            <a:ext cx="2520000" cy="24558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5" name="Google Shape;685;p53"/>
          <p:cNvCxnSpPr/>
          <p:nvPr/>
        </p:nvCxnSpPr>
        <p:spPr>
          <a:xfrm>
            <a:off x="2543888" y="2928710"/>
            <a:ext cx="32619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6" name="Google Shape;686;p53"/>
          <p:cNvSpPr txBox="1"/>
          <p:nvPr/>
        </p:nvSpPr>
        <p:spPr>
          <a:xfrm>
            <a:off x="5805650" y="1399588"/>
            <a:ext cx="25200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434343"/>
                </a:solidFill>
              </a:rPr>
              <a:t>(authoritative nameserver for </a:t>
            </a:r>
            <a:r>
              <a:rPr lang="en-CA" sz="1200">
                <a:solidFill>
                  <a:srgbClr val="434343"/>
                </a:solidFill>
                <a:latin typeface="Courier"/>
                <a:ea typeface="Courier"/>
                <a:cs typeface="Courier"/>
                <a:sym typeface="Courier"/>
              </a:rPr>
              <a:t>edu</a:t>
            </a:r>
            <a:r>
              <a:rPr lang="en-CA" sz="1200">
                <a:solidFill>
                  <a:srgbClr val="434343"/>
                </a:solidFill>
              </a:rPr>
              <a:t>)</a:t>
            </a:r>
            <a:endParaRPr sz="1200">
              <a:solidFill>
                <a:srgbClr val="434343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687" name="Google Shape;687;p53"/>
          <p:cNvSpPr/>
          <p:nvPr/>
        </p:nvSpPr>
        <p:spPr>
          <a:xfrm>
            <a:off x="6661096" y="202350"/>
            <a:ext cx="809100" cy="81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Root DNS Server</a:t>
            </a:r>
            <a:endParaRPr/>
          </a:p>
        </p:txBody>
      </p:sp>
      <p:cxnSp>
        <p:nvCxnSpPr>
          <p:cNvPr id="688" name="Google Shape;688;p53"/>
          <p:cNvCxnSpPr>
            <a:stCxn id="687" idx="1"/>
            <a:endCxn id="683" idx="0"/>
          </p:cNvCxnSpPr>
          <p:nvPr/>
        </p:nvCxnSpPr>
        <p:spPr>
          <a:xfrm flipH="1">
            <a:off x="1913896" y="607350"/>
            <a:ext cx="4747200" cy="175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9" name="Google Shape;689;p53"/>
          <p:cNvCxnSpPr>
            <a:stCxn id="690" idx="1"/>
          </p:cNvCxnSpPr>
          <p:nvPr/>
        </p:nvCxnSpPr>
        <p:spPr>
          <a:xfrm flipH="1">
            <a:off x="2543950" y="3156775"/>
            <a:ext cx="3321600" cy="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1" name="Google Shape;691;p53"/>
          <p:cNvSpPr/>
          <p:nvPr/>
        </p:nvSpPr>
        <p:spPr>
          <a:xfrm>
            <a:off x="2627000" y="1357350"/>
            <a:ext cx="3095700" cy="251100"/>
          </a:xfrm>
          <a:prstGeom prst="rect">
            <a:avLst/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latin typeface="Courier"/>
                <a:ea typeface="Courier"/>
                <a:cs typeface="Courier"/>
                <a:sym typeface="Courier"/>
              </a:rPr>
              <a:t>(edu, NS, a.edu-servers.net, TTL)</a:t>
            </a:r>
            <a:endParaRPr sz="11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692" name="Google Shape;692;p53"/>
          <p:cNvSpPr/>
          <p:nvPr/>
        </p:nvSpPr>
        <p:spPr>
          <a:xfrm>
            <a:off x="2627000" y="1608450"/>
            <a:ext cx="3095700" cy="251100"/>
          </a:xfrm>
          <a:prstGeom prst="rect">
            <a:avLst/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latin typeface="Courier"/>
                <a:ea typeface="Courier"/>
                <a:cs typeface="Courier"/>
                <a:sym typeface="Courier"/>
              </a:rPr>
              <a:t>(</a:t>
            </a:r>
            <a:r>
              <a:rPr lang="en-CA" sz="11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a.edu-s...</a:t>
            </a:r>
            <a:r>
              <a:rPr lang="en-CA" sz="1100">
                <a:latin typeface="Courier"/>
                <a:ea typeface="Courier"/>
                <a:cs typeface="Courier"/>
                <a:sym typeface="Courier"/>
              </a:rPr>
              <a:t>,  A, 192.5.6.30, TTL)</a:t>
            </a:r>
            <a:endParaRPr sz="11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693" name="Google Shape;693;p53"/>
          <p:cNvSpPr/>
          <p:nvPr/>
        </p:nvSpPr>
        <p:spPr>
          <a:xfrm>
            <a:off x="5865550" y="1788250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aaaaa.edu</a:t>
            </a:r>
            <a:endParaRPr/>
          </a:p>
        </p:txBody>
      </p:sp>
      <p:sp>
        <p:nvSpPr>
          <p:cNvPr id="694" name="Google Shape;694;p53"/>
          <p:cNvSpPr/>
          <p:nvPr/>
        </p:nvSpPr>
        <p:spPr>
          <a:xfrm>
            <a:off x="5865550" y="2187315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bbbbb.edu</a:t>
            </a:r>
            <a:endParaRPr/>
          </a:p>
        </p:txBody>
      </p:sp>
      <p:sp>
        <p:nvSpPr>
          <p:cNvPr id="695" name="Google Shape;695;p53"/>
          <p:cNvSpPr/>
          <p:nvPr/>
        </p:nvSpPr>
        <p:spPr>
          <a:xfrm>
            <a:off x="5865550" y="2586379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ccccc.edu</a:t>
            </a:r>
            <a:endParaRPr/>
          </a:p>
        </p:txBody>
      </p:sp>
      <p:sp>
        <p:nvSpPr>
          <p:cNvPr id="690" name="Google Shape;690;p53"/>
          <p:cNvSpPr/>
          <p:nvPr/>
        </p:nvSpPr>
        <p:spPr>
          <a:xfrm>
            <a:off x="5865550" y="2987125"/>
            <a:ext cx="2400300" cy="3393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umass.edu</a:t>
            </a:r>
            <a:endParaRPr/>
          </a:p>
        </p:txBody>
      </p:sp>
      <p:sp>
        <p:nvSpPr>
          <p:cNvPr id="696" name="Google Shape;696;p53"/>
          <p:cNvSpPr/>
          <p:nvPr/>
        </p:nvSpPr>
        <p:spPr>
          <a:xfrm>
            <a:off x="5865500" y="3386190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xxxxx.edu</a:t>
            </a:r>
            <a:endParaRPr/>
          </a:p>
        </p:txBody>
      </p:sp>
      <p:sp>
        <p:nvSpPr>
          <p:cNvPr id="697" name="Google Shape;697;p53"/>
          <p:cNvSpPr/>
          <p:nvPr/>
        </p:nvSpPr>
        <p:spPr>
          <a:xfrm>
            <a:off x="5865500" y="3785259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zzzzz.edu</a:t>
            </a:r>
            <a:endParaRPr/>
          </a:p>
        </p:txBody>
      </p:sp>
      <p:sp>
        <p:nvSpPr>
          <p:cNvPr id="698" name="Google Shape;698;p53"/>
          <p:cNvSpPr/>
          <p:nvPr/>
        </p:nvSpPr>
        <p:spPr>
          <a:xfrm>
            <a:off x="4724721" y="4248950"/>
            <a:ext cx="809100" cy="81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Next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DNS Server</a:t>
            </a:r>
            <a:endParaRPr/>
          </a:p>
        </p:txBody>
      </p:sp>
      <p:cxnSp>
        <p:nvCxnSpPr>
          <p:cNvPr id="699" name="Google Shape;699;p53"/>
          <p:cNvCxnSpPr>
            <a:endCxn id="698" idx="1"/>
          </p:cNvCxnSpPr>
          <p:nvPr/>
        </p:nvCxnSpPr>
        <p:spPr>
          <a:xfrm>
            <a:off x="2533821" y="3466250"/>
            <a:ext cx="2190900" cy="118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0" name="Google Shape;700;p53"/>
          <p:cNvSpPr txBox="1"/>
          <p:nvPr/>
        </p:nvSpPr>
        <p:spPr>
          <a:xfrm>
            <a:off x="2991350" y="2557513"/>
            <a:ext cx="259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Q: </a:t>
            </a:r>
            <a:r>
              <a:rPr lang="en-CA" u="sng">
                <a:solidFill>
                  <a:schemeClr val="accent5"/>
                </a:solidFill>
                <a:latin typeface="Courier"/>
                <a:ea typeface="Courier"/>
                <a:cs typeface="Courier"/>
                <a:sym typeface="Couri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gaia.cs.umass.edu</a:t>
            </a: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? </a:t>
            </a:r>
            <a:endParaRPr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701" name="Google Shape;701;p53"/>
          <p:cNvSpPr txBox="1"/>
          <p:nvPr/>
        </p:nvSpPr>
        <p:spPr>
          <a:xfrm>
            <a:off x="5805700" y="1147211"/>
            <a:ext cx="25200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192.5.6.30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702" name="Google Shape;702;p53"/>
          <p:cNvSpPr txBox="1"/>
          <p:nvPr/>
        </p:nvSpPr>
        <p:spPr>
          <a:xfrm rot="1730216">
            <a:off x="2418648" y="3714289"/>
            <a:ext cx="2592478" cy="35406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Q: </a:t>
            </a:r>
            <a:r>
              <a:rPr lang="en-CA" sz="1100" u="sng">
                <a:solidFill>
                  <a:schemeClr val="accent5"/>
                </a:solidFill>
                <a:latin typeface="Courier"/>
                <a:ea typeface="Courier"/>
                <a:cs typeface="Courier"/>
                <a:sym typeface="Couri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gaia.cs.umass.edu</a:t>
            </a:r>
            <a:r>
              <a:rPr lang="en-CA" sz="11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? </a:t>
            </a:r>
            <a:endParaRPr sz="11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54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DNS Review: Iterative Queries</a:t>
            </a:r>
            <a:endParaRPr/>
          </a:p>
        </p:txBody>
      </p:sp>
      <p:sp>
        <p:nvSpPr>
          <p:cNvPr id="708" name="Google Shape;708;p54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Local DNS Server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(Resolver)</a:t>
            </a:r>
            <a:endParaRPr/>
          </a:p>
        </p:txBody>
      </p:sp>
      <p:sp>
        <p:nvSpPr>
          <p:cNvPr id="709" name="Google Shape;709;p54"/>
          <p:cNvSpPr/>
          <p:nvPr/>
        </p:nvSpPr>
        <p:spPr>
          <a:xfrm>
            <a:off x="5805650" y="1728464"/>
            <a:ext cx="2520000" cy="24558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10" name="Google Shape;710;p54"/>
          <p:cNvCxnSpPr/>
          <p:nvPr/>
        </p:nvCxnSpPr>
        <p:spPr>
          <a:xfrm>
            <a:off x="2543888" y="2928710"/>
            <a:ext cx="32619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1" name="Google Shape;711;p54"/>
          <p:cNvSpPr txBox="1"/>
          <p:nvPr/>
        </p:nvSpPr>
        <p:spPr>
          <a:xfrm>
            <a:off x="5805650" y="1399588"/>
            <a:ext cx="25200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434343"/>
                </a:solidFill>
              </a:rPr>
              <a:t>(authoritative nameserver for </a:t>
            </a:r>
            <a:r>
              <a:rPr lang="en-CA" sz="1200">
                <a:solidFill>
                  <a:srgbClr val="434343"/>
                </a:solidFill>
                <a:latin typeface="Courier"/>
                <a:ea typeface="Courier"/>
                <a:cs typeface="Courier"/>
                <a:sym typeface="Courier"/>
              </a:rPr>
              <a:t>edu</a:t>
            </a:r>
            <a:r>
              <a:rPr lang="en-CA" sz="1200">
                <a:solidFill>
                  <a:srgbClr val="434343"/>
                </a:solidFill>
              </a:rPr>
              <a:t>)</a:t>
            </a:r>
            <a:endParaRPr sz="1200">
              <a:solidFill>
                <a:srgbClr val="434343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712" name="Google Shape;712;p54"/>
          <p:cNvSpPr/>
          <p:nvPr/>
        </p:nvSpPr>
        <p:spPr>
          <a:xfrm>
            <a:off x="6661096" y="202350"/>
            <a:ext cx="809100" cy="81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Root DNS Server</a:t>
            </a:r>
            <a:endParaRPr/>
          </a:p>
        </p:txBody>
      </p:sp>
      <p:cxnSp>
        <p:nvCxnSpPr>
          <p:cNvPr id="713" name="Google Shape;713;p54"/>
          <p:cNvCxnSpPr>
            <a:stCxn id="712" idx="1"/>
            <a:endCxn id="708" idx="0"/>
          </p:cNvCxnSpPr>
          <p:nvPr/>
        </p:nvCxnSpPr>
        <p:spPr>
          <a:xfrm flipH="1">
            <a:off x="1913896" y="607350"/>
            <a:ext cx="4747200" cy="175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4" name="Google Shape;714;p54"/>
          <p:cNvCxnSpPr>
            <a:stCxn id="715" idx="1"/>
          </p:cNvCxnSpPr>
          <p:nvPr/>
        </p:nvCxnSpPr>
        <p:spPr>
          <a:xfrm flipH="1">
            <a:off x="2543950" y="3156775"/>
            <a:ext cx="3321600" cy="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6" name="Google Shape;716;p54"/>
          <p:cNvSpPr/>
          <p:nvPr/>
        </p:nvSpPr>
        <p:spPr>
          <a:xfrm>
            <a:off x="2627000" y="1357350"/>
            <a:ext cx="3095700" cy="251100"/>
          </a:xfrm>
          <a:prstGeom prst="rect">
            <a:avLst/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latin typeface="Courier"/>
                <a:ea typeface="Courier"/>
                <a:cs typeface="Courier"/>
                <a:sym typeface="Courier"/>
              </a:rPr>
              <a:t>(edu, NS, a.edu-servers.net, TTL)</a:t>
            </a:r>
            <a:endParaRPr sz="11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717" name="Google Shape;717;p54"/>
          <p:cNvSpPr/>
          <p:nvPr/>
        </p:nvSpPr>
        <p:spPr>
          <a:xfrm>
            <a:off x="2627000" y="1608450"/>
            <a:ext cx="3095700" cy="251100"/>
          </a:xfrm>
          <a:prstGeom prst="rect">
            <a:avLst/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latin typeface="Courier"/>
                <a:ea typeface="Courier"/>
                <a:cs typeface="Courier"/>
                <a:sym typeface="Courier"/>
              </a:rPr>
              <a:t>(</a:t>
            </a:r>
            <a:r>
              <a:rPr lang="en-CA" sz="11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a.edu-s...</a:t>
            </a:r>
            <a:r>
              <a:rPr lang="en-CA" sz="1100">
                <a:latin typeface="Courier"/>
                <a:ea typeface="Courier"/>
                <a:cs typeface="Courier"/>
                <a:sym typeface="Courier"/>
              </a:rPr>
              <a:t>,  A, 192.5.6.30, TTL)</a:t>
            </a:r>
            <a:endParaRPr sz="11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718" name="Google Shape;718;p54"/>
          <p:cNvSpPr/>
          <p:nvPr/>
        </p:nvSpPr>
        <p:spPr>
          <a:xfrm>
            <a:off x="5865550" y="1788250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aaaaa.edu</a:t>
            </a:r>
            <a:endParaRPr/>
          </a:p>
        </p:txBody>
      </p:sp>
      <p:sp>
        <p:nvSpPr>
          <p:cNvPr id="719" name="Google Shape;719;p54"/>
          <p:cNvSpPr/>
          <p:nvPr/>
        </p:nvSpPr>
        <p:spPr>
          <a:xfrm>
            <a:off x="5865550" y="2187315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bbbbb.edu</a:t>
            </a:r>
            <a:endParaRPr/>
          </a:p>
        </p:txBody>
      </p:sp>
      <p:sp>
        <p:nvSpPr>
          <p:cNvPr id="720" name="Google Shape;720;p54"/>
          <p:cNvSpPr/>
          <p:nvPr/>
        </p:nvSpPr>
        <p:spPr>
          <a:xfrm>
            <a:off x="5865550" y="2586379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ccccc.edu</a:t>
            </a:r>
            <a:endParaRPr/>
          </a:p>
        </p:txBody>
      </p:sp>
      <p:sp>
        <p:nvSpPr>
          <p:cNvPr id="715" name="Google Shape;715;p54"/>
          <p:cNvSpPr/>
          <p:nvPr/>
        </p:nvSpPr>
        <p:spPr>
          <a:xfrm>
            <a:off x="5865550" y="2987125"/>
            <a:ext cx="2400300" cy="3393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umass.edu</a:t>
            </a:r>
            <a:endParaRPr/>
          </a:p>
        </p:txBody>
      </p:sp>
      <p:sp>
        <p:nvSpPr>
          <p:cNvPr id="721" name="Google Shape;721;p54"/>
          <p:cNvSpPr/>
          <p:nvPr/>
        </p:nvSpPr>
        <p:spPr>
          <a:xfrm>
            <a:off x="5865500" y="3386190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xxxxx.edu</a:t>
            </a:r>
            <a:endParaRPr/>
          </a:p>
        </p:txBody>
      </p:sp>
      <p:sp>
        <p:nvSpPr>
          <p:cNvPr id="722" name="Google Shape;722;p54"/>
          <p:cNvSpPr/>
          <p:nvPr/>
        </p:nvSpPr>
        <p:spPr>
          <a:xfrm>
            <a:off x="5865500" y="3785259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zzzzz.edu</a:t>
            </a:r>
            <a:endParaRPr/>
          </a:p>
        </p:txBody>
      </p:sp>
      <p:sp>
        <p:nvSpPr>
          <p:cNvPr id="723" name="Google Shape;723;p54"/>
          <p:cNvSpPr/>
          <p:nvPr/>
        </p:nvSpPr>
        <p:spPr>
          <a:xfrm>
            <a:off x="4724721" y="4248950"/>
            <a:ext cx="809100" cy="81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Next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DNS Server</a:t>
            </a:r>
            <a:endParaRPr/>
          </a:p>
        </p:txBody>
      </p:sp>
      <p:cxnSp>
        <p:nvCxnSpPr>
          <p:cNvPr id="724" name="Google Shape;724;p54"/>
          <p:cNvCxnSpPr>
            <a:endCxn id="723" idx="1"/>
          </p:cNvCxnSpPr>
          <p:nvPr/>
        </p:nvCxnSpPr>
        <p:spPr>
          <a:xfrm>
            <a:off x="2533821" y="3466250"/>
            <a:ext cx="2190900" cy="118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5" name="Google Shape;725;p54"/>
          <p:cNvSpPr txBox="1"/>
          <p:nvPr/>
        </p:nvSpPr>
        <p:spPr>
          <a:xfrm>
            <a:off x="2991350" y="2557513"/>
            <a:ext cx="259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Q: </a:t>
            </a:r>
            <a:r>
              <a:rPr lang="en-CA" u="sng">
                <a:solidFill>
                  <a:schemeClr val="accent5"/>
                </a:solidFill>
                <a:latin typeface="Courier"/>
                <a:ea typeface="Courier"/>
                <a:cs typeface="Courier"/>
                <a:sym typeface="Couri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gaia.cs.umass.edu</a:t>
            </a: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? </a:t>
            </a:r>
            <a:endParaRPr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726" name="Google Shape;726;p54"/>
          <p:cNvSpPr txBox="1"/>
          <p:nvPr/>
        </p:nvSpPr>
        <p:spPr>
          <a:xfrm>
            <a:off x="5805700" y="1147211"/>
            <a:ext cx="25200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192.5.6.30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727" name="Google Shape;727;p54"/>
          <p:cNvSpPr txBox="1"/>
          <p:nvPr/>
        </p:nvSpPr>
        <p:spPr>
          <a:xfrm rot="1730216">
            <a:off x="2418648" y="3714289"/>
            <a:ext cx="2592478" cy="35406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Q: </a:t>
            </a:r>
            <a:r>
              <a:rPr lang="en-CA" sz="1100" u="sng">
                <a:solidFill>
                  <a:schemeClr val="accent5"/>
                </a:solidFill>
                <a:latin typeface="Courier"/>
                <a:ea typeface="Courier"/>
                <a:cs typeface="Courier"/>
                <a:sym typeface="Couri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gaia.cs.umass.edu</a:t>
            </a:r>
            <a:r>
              <a:rPr lang="en-CA" sz="11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? </a:t>
            </a:r>
            <a:endParaRPr sz="11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728" name="Google Shape;728;p54"/>
          <p:cNvSpPr/>
          <p:nvPr/>
        </p:nvSpPr>
        <p:spPr>
          <a:xfrm>
            <a:off x="1014750" y="3559700"/>
            <a:ext cx="4654500" cy="1000800"/>
          </a:xfrm>
          <a:prstGeom prst="wedgeRoundRectCallout">
            <a:avLst>
              <a:gd fmla="val 14739" name="adj1"/>
              <a:gd fmla="val -99523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/>
              <a:t>We can query the next DNS server using the information from the previous response</a:t>
            </a:r>
            <a:endParaRPr sz="1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55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DNS Review: Iterative Queries</a:t>
            </a:r>
            <a:endParaRPr/>
          </a:p>
        </p:txBody>
      </p:sp>
      <p:sp>
        <p:nvSpPr>
          <p:cNvPr id="734" name="Google Shape;734;p55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Local DNS Server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(Resolver)</a:t>
            </a:r>
            <a:endParaRPr/>
          </a:p>
        </p:txBody>
      </p:sp>
      <p:sp>
        <p:nvSpPr>
          <p:cNvPr id="735" name="Google Shape;735;p55"/>
          <p:cNvSpPr/>
          <p:nvPr/>
        </p:nvSpPr>
        <p:spPr>
          <a:xfrm>
            <a:off x="5805650" y="1728464"/>
            <a:ext cx="2520000" cy="2455800"/>
          </a:xfrm>
          <a:prstGeom prst="rect">
            <a:avLst/>
          </a:prstGeom>
          <a:solidFill>
            <a:schemeClr val="lt2"/>
          </a:solidFill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36" name="Google Shape;736;p55"/>
          <p:cNvCxnSpPr/>
          <p:nvPr/>
        </p:nvCxnSpPr>
        <p:spPr>
          <a:xfrm>
            <a:off x="2543888" y="2928710"/>
            <a:ext cx="326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7" name="Google Shape;737;p55"/>
          <p:cNvSpPr txBox="1"/>
          <p:nvPr/>
        </p:nvSpPr>
        <p:spPr>
          <a:xfrm>
            <a:off x="5805650" y="1399588"/>
            <a:ext cx="25200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434343"/>
                </a:solidFill>
              </a:rPr>
              <a:t>(authoritative nameserver for </a:t>
            </a:r>
            <a:r>
              <a:rPr lang="en-CA" sz="1200">
                <a:solidFill>
                  <a:srgbClr val="434343"/>
                </a:solidFill>
                <a:latin typeface="Courier"/>
                <a:ea typeface="Courier"/>
                <a:cs typeface="Courier"/>
                <a:sym typeface="Courier"/>
              </a:rPr>
              <a:t>edu</a:t>
            </a:r>
            <a:r>
              <a:rPr lang="en-CA" sz="1200">
                <a:solidFill>
                  <a:srgbClr val="434343"/>
                </a:solidFill>
              </a:rPr>
              <a:t>)</a:t>
            </a:r>
            <a:endParaRPr sz="1200">
              <a:solidFill>
                <a:srgbClr val="434343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738" name="Google Shape;738;p55"/>
          <p:cNvSpPr/>
          <p:nvPr/>
        </p:nvSpPr>
        <p:spPr>
          <a:xfrm>
            <a:off x="6661096" y="202350"/>
            <a:ext cx="809100" cy="81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Root DNS Server</a:t>
            </a:r>
            <a:endParaRPr/>
          </a:p>
        </p:txBody>
      </p:sp>
      <p:cxnSp>
        <p:nvCxnSpPr>
          <p:cNvPr id="739" name="Google Shape;739;p55"/>
          <p:cNvCxnSpPr>
            <a:stCxn id="738" idx="1"/>
            <a:endCxn id="734" idx="0"/>
          </p:cNvCxnSpPr>
          <p:nvPr/>
        </p:nvCxnSpPr>
        <p:spPr>
          <a:xfrm flipH="1">
            <a:off x="1913896" y="607350"/>
            <a:ext cx="4747200" cy="175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0" name="Google Shape;740;p55"/>
          <p:cNvCxnSpPr>
            <a:stCxn id="741" idx="1"/>
          </p:cNvCxnSpPr>
          <p:nvPr/>
        </p:nvCxnSpPr>
        <p:spPr>
          <a:xfrm flipH="1">
            <a:off x="2543950" y="3156775"/>
            <a:ext cx="3321600" cy="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2" name="Google Shape;742;p55"/>
          <p:cNvSpPr/>
          <p:nvPr/>
        </p:nvSpPr>
        <p:spPr>
          <a:xfrm>
            <a:off x="2627000" y="1357350"/>
            <a:ext cx="3095700" cy="251100"/>
          </a:xfrm>
          <a:prstGeom prst="rect">
            <a:avLst/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latin typeface="Courier"/>
                <a:ea typeface="Courier"/>
                <a:cs typeface="Courier"/>
                <a:sym typeface="Courier"/>
              </a:rPr>
              <a:t>(edu, NS, a.edu-servers.net, TTL)</a:t>
            </a:r>
            <a:endParaRPr sz="11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743" name="Google Shape;743;p55"/>
          <p:cNvSpPr/>
          <p:nvPr/>
        </p:nvSpPr>
        <p:spPr>
          <a:xfrm>
            <a:off x="2627000" y="1608450"/>
            <a:ext cx="3095700" cy="251100"/>
          </a:xfrm>
          <a:prstGeom prst="rect">
            <a:avLst/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latin typeface="Courier"/>
                <a:ea typeface="Courier"/>
                <a:cs typeface="Courier"/>
                <a:sym typeface="Courier"/>
              </a:rPr>
              <a:t>(</a:t>
            </a:r>
            <a:r>
              <a:rPr lang="en-CA" sz="11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a.edu-s...</a:t>
            </a:r>
            <a:r>
              <a:rPr lang="en-CA" sz="1100">
                <a:latin typeface="Courier"/>
                <a:ea typeface="Courier"/>
                <a:cs typeface="Courier"/>
                <a:sym typeface="Courier"/>
              </a:rPr>
              <a:t>,  A, 192.5.6.30, TTL)</a:t>
            </a:r>
            <a:endParaRPr sz="11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744" name="Google Shape;744;p55"/>
          <p:cNvSpPr/>
          <p:nvPr/>
        </p:nvSpPr>
        <p:spPr>
          <a:xfrm>
            <a:off x="5865550" y="1788250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aaaaa.edu</a:t>
            </a:r>
            <a:endParaRPr/>
          </a:p>
        </p:txBody>
      </p:sp>
      <p:sp>
        <p:nvSpPr>
          <p:cNvPr id="745" name="Google Shape;745;p55"/>
          <p:cNvSpPr/>
          <p:nvPr/>
        </p:nvSpPr>
        <p:spPr>
          <a:xfrm>
            <a:off x="5865550" y="2187315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bbbbb.edu</a:t>
            </a:r>
            <a:endParaRPr/>
          </a:p>
        </p:txBody>
      </p:sp>
      <p:sp>
        <p:nvSpPr>
          <p:cNvPr id="746" name="Google Shape;746;p55"/>
          <p:cNvSpPr/>
          <p:nvPr/>
        </p:nvSpPr>
        <p:spPr>
          <a:xfrm>
            <a:off x="5865550" y="2586379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ccccc.edu</a:t>
            </a:r>
            <a:endParaRPr/>
          </a:p>
        </p:txBody>
      </p:sp>
      <p:sp>
        <p:nvSpPr>
          <p:cNvPr id="741" name="Google Shape;741;p55"/>
          <p:cNvSpPr/>
          <p:nvPr/>
        </p:nvSpPr>
        <p:spPr>
          <a:xfrm>
            <a:off x="5865550" y="2987125"/>
            <a:ext cx="2400300" cy="3393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umass.edu</a:t>
            </a:r>
            <a:endParaRPr/>
          </a:p>
        </p:txBody>
      </p:sp>
      <p:sp>
        <p:nvSpPr>
          <p:cNvPr id="747" name="Google Shape;747;p55"/>
          <p:cNvSpPr/>
          <p:nvPr/>
        </p:nvSpPr>
        <p:spPr>
          <a:xfrm>
            <a:off x="5865500" y="3386190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xxxxx.edu</a:t>
            </a:r>
            <a:endParaRPr/>
          </a:p>
        </p:txBody>
      </p:sp>
      <p:sp>
        <p:nvSpPr>
          <p:cNvPr id="748" name="Google Shape;748;p55"/>
          <p:cNvSpPr/>
          <p:nvPr/>
        </p:nvSpPr>
        <p:spPr>
          <a:xfrm>
            <a:off x="5865500" y="3785259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zzzzz.edu</a:t>
            </a:r>
            <a:endParaRPr/>
          </a:p>
        </p:txBody>
      </p:sp>
      <p:sp>
        <p:nvSpPr>
          <p:cNvPr id="749" name="Google Shape;749;p55"/>
          <p:cNvSpPr/>
          <p:nvPr/>
        </p:nvSpPr>
        <p:spPr>
          <a:xfrm>
            <a:off x="4724721" y="4248950"/>
            <a:ext cx="809100" cy="81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Next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DNS Server</a:t>
            </a:r>
            <a:endParaRPr/>
          </a:p>
        </p:txBody>
      </p:sp>
      <p:cxnSp>
        <p:nvCxnSpPr>
          <p:cNvPr id="750" name="Google Shape;750;p55"/>
          <p:cNvCxnSpPr>
            <a:endCxn id="749" idx="1"/>
          </p:cNvCxnSpPr>
          <p:nvPr/>
        </p:nvCxnSpPr>
        <p:spPr>
          <a:xfrm>
            <a:off x="2533821" y="3466250"/>
            <a:ext cx="2190900" cy="118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1" name="Google Shape;751;p55"/>
          <p:cNvSpPr txBox="1"/>
          <p:nvPr/>
        </p:nvSpPr>
        <p:spPr>
          <a:xfrm>
            <a:off x="2991350" y="2557513"/>
            <a:ext cx="259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Q: </a:t>
            </a:r>
            <a:r>
              <a:rPr lang="en-CA" u="sng">
                <a:solidFill>
                  <a:schemeClr val="accent5"/>
                </a:solidFill>
                <a:latin typeface="Courier"/>
                <a:ea typeface="Courier"/>
                <a:cs typeface="Courier"/>
                <a:sym typeface="Couri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gaia.cs.umass.edu</a:t>
            </a: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? </a:t>
            </a:r>
            <a:endParaRPr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752" name="Google Shape;752;p55"/>
          <p:cNvSpPr txBox="1"/>
          <p:nvPr/>
        </p:nvSpPr>
        <p:spPr>
          <a:xfrm>
            <a:off x="5805700" y="1147211"/>
            <a:ext cx="25200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192.5.6.30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753" name="Google Shape;753;p55"/>
          <p:cNvSpPr txBox="1"/>
          <p:nvPr/>
        </p:nvSpPr>
        <p:spPr>
          <a:xfrm rot="1730216">
            <a:off x="2418648" y="3714289"/>
            <a:ext cx="2592478" cy="35406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Q: </a:t>
            </a:r>
            <a:r>
              <a:rPr lang="en-CA" sz="1100" u="sng">
                <a:solidFill>
                  <a:schemeClr val="accent5"/>
                </a:solidFill>
                <a:latin typeface="Courier"/>
                <a:ea typeface="Courier"/>
                <a:cs typeface="Courier"/>
                <a:sym typeface="Couri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gaia.cs.umass.edu</a:t>
            </a:r>
            <a:r>
              <a:rPr lang="en-CA" sz="11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? </a:t>
            </a:r>
            <a:endParaRPr sz="11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56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DNS Review: Iterative Queries</a:t>
            </a:r>
            <a:endParaRPr/>
          </a:p>
        </p:txBody>
      </p:sp>
      <p:sp>
        <p:nvSpPr>
          <p:cNvPr id="759" name="Google Shape;759;p56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Local DNS Server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(Resolver)</a:t>
            </a:r>
            <a:endParaRPr/>
          </a:p>
        </p:txBody>
      </p:sp>
      <p:sp>
        <p:nvSpPr>
          <p:cNvPr id="760" name="Google Shape;760;p56"/>
          <p:cNvSpPr/>
          <p:nvPr/>
        </p:nvSpPr>
        <p:spPr>
          <a:xfrm>
            <a:off x="5805650" y="1728464"/>
            <a:ext cx="2520000" cy="2455800"/>
          </a:xfrm>
          <a:prstGeom prst="rect">
            <a:avLst/>
          </a:prstGeom>
          <a:solidFill>
            <a:schemeClr val="lt2"/>
          </a:solidFill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61" name="Google Shape;761;p56"/>
          <p:cNvCxnSpPr/>
          <p:nvPr/>
        </p:nvCxnSpPr>
        <p:spPr>
          <a:xfrm>
            <a:off x="2543888" y="2928710"/>
            <a:ext cx="326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2" name="Google Shape;762;p56"/>
          <p:cNvSpPr txBox="1"/>
          <p:nvPr/>
        </p:nvSpPr>
        <p:spPr>
          <a:xfrm>
            <a:off x="5805650" y="1399588"/>
            <a:ext cx="25200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434343"/>
                </a:solidFill>
              </a:rPr>
              <a:t>(authoritative nameserver for </a:t>
            </a:r>
            <a:r>
              <a:rPr lang="en-CA" sz="1200">
                <a:solidFill>
                  <a:srgbClr val="434343"/>
                </a:solidFill>
                <a:latin typeface="Courier"/>
                <a:ea typeface="Courier"/>
                <a:cs typeface="Courier"/>
                <a:sym typeface="Courier"/>
              </a:rPr>
              <a:t>edu</a:t>
            </a:r>
            <a:r>
              <a:rPr lang="en-CA" sz="1200">
                <a:solidFill>
                  <a:srgbClr val="434343"/>
                </a:solidFill>
              </a:rPr>
              <a:t>)</a:t>
            </a:r>
            <a:endParaRPr sz="1200">
              <a:solidFill>
                <a:srgbClr val="434343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763" name="Google Shape;763;p56"/>
          <p:cNvSpPr/>
          <p:nvPr/>
        </p:nvSpPr>
        <p:spPr>
          <a:xfrm>
            <a:off x="6661096" y="202350"/>
            <a:ext cx="809100" cy="81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Root DNS Server</a:t>
            </a:r>
            <a:endParaRPr/>
          </a:p>
        </p:txBody>
      </p:sp>
      <p:cxnSp>
        <p:nvCxnSpPr>
          <p:cNvPr id="764" name="Google Shape;764;p56"/>
          <p:cNvCxnSpPr>
            <a:stCxn id="763" idx="1"/>
            <a:endCxn id="759" idx="0"/>
          </p:cNvCxnSpPr>
          <p:nvPr/>
        </p:nvCxnSpPr>
        <p:spPr>
          <a:xfrm flipH="1">
            <a:off x="1913896" y="607350"/>
            <a:ext cx="4747200" cy="175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5" name="Google Shape;765;p56"/>
          <p:cNvCxnSpPr>
            <a:stCxn id="766" idx="1"/>
          </p:cNvCxnSpPr>
          <p:nvPr/>
        </p:nvCxnSpPr>
        <p:spPr>
          <a:xfrm flipH="1">
            <a:off x="2543950" y="3156775"/>
            <a:ext cx="3321600" cy="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7" name="Google Shape;767;p56"/>
          <p:cNvSpPr/>
          <p:nvPr/>
        </p:nvSpPr>
        <p:spPr>
          <a:xfrm>
            <a:off x="2627000" y="1357350"/>
            <a:ext cx="3095700" cy="251100"/>
          </a:xfrm>
          <a:prstGeom prst="rect">
            <a:avLst/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latin typeface="Courier"/>
                <a:ea typeface="Courier"/>
                <a:cs typeface="Courier"/>
                <a:sym typeface="Courier"/>
              </a:rPr>
              <a:t>(edu, NS, a.edu-servers.net, TTL)</a:t>
            </a:r>
            <a:endParaRPr sz="11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768" name="Google Shape;768;p56"/>
          <p:cNvSpPr/>
          <p:nvPr/>
        </p:nvSpPr>
        <p:spPr>
          <a:xfrm>
            <a:off x="2627000" y="1608450"/>
            <a:ext cx="3095700" cy="251100"/>
          </a:xfrm>
          <a:prstGeom prst="rect">
            <a:avLst/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latin typeface="Courier"/>
                <a:ea typeface="Courier"/>
                <a:cs typeface="Courier"/>
                <a:sym typeface="Courier"/>
              </a:rPr>
              <a:t>(</a:t>
            </a:r>
            <a:r>
              <a:rPr lang="en-CA" sz="11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a.edu-s...</a:t>
            </a:r>
            <a:r>
              <a:rPr lang="en-CA" sz="1100">
                <a:latin typeface="Courier"/>
                <a:ea typeface="Courier"/>
                <a:cs typeface="Courier"/>
                <a:sym typeface="Courier"/>
              </a:rPr>
              <a:t>,  A, 192.5.6.30, TTL)</a:t>
            </a:r>
            <a:endParaRPr sz="11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769" name="Google Shape;769;p56"/>
          <p:cNvSpPr/>
          <p:nvPr/>
        </p:nvSpPr>
        <p:spPr>
          <a:xfrm>
            <a:off x="5865550" y="1788250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aaaaa.edu</a:t>
            </a:r>
            <a:endParaRPr/>
          </a:p>
        </p:txBody>
      </p:sp>
      <p:sp>
        <p:nvSpPr>
          <p:cNvPr id="770" name="Google Shape;770;p56"/>
          <p:cNvSpPr/>
          <p:nvPr/>
        </p:nvSpPr>
        <p:spPr>
          <a:xfrm>
            <a:off x="5865550" y="2187315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bbbbb.edu</a:t>
            </a:r>
            <a:endParaRPr/>
          </a:p>
        </p:txBody>
      </p:sp>
      <p:sp>
        <p:nvSpPr>
          <p:cNvPr id="771" name="Google Shape;771;p56"/>
          <p:cNvSpPr/>
          <p:nvPr/>
        </p:nvSpPr>
        <p:spPr>
          <a:xfrm>
            <a:off x="5865550" y="2586379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ccccc.edu</a:t>
            </a:r>
            <a:endParaRPr/>
          </a:p>
        </p:txBody>
      </p:sp>
      <p:sp>
        <p:nvSpPr>
          <p:cNvPr id="766" name="Google Shape;766;p56"/>
          <p:cNvSpPr/>
          <p:nvPr/>
        </p:nvSpPr>
        <p:spPr>
          <a:xfrm>
            <a:off x="5865550" y="2987125"/>
            <a:ext cx="2400300" cy="3393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umass.edu</a:t>
            </a:r>
            <a:endParaRPr/>
          </a:p>
        </p:txBody>
      </p:sp>
      <p:sp>
        <p:nvSpPr>
          <p:cNvPr id="772" name="Google Shape;772;p56"/>
          <p:cNvSpPr/>
          <p:nvPr/>
        </p:nvSpPr>
        <p:spPr>
          <a:xfrm>
            <a:off x="5865500" y="3386190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xxxxx.edu</a:t>
            </a:r>
            <a:endParaRPr/>
          </a:p>
        </p:txBody>
      </p:sp>
      <p:sp>
        <p:nvSpPr>
          <p:cNvPr id="773" name="Google Shape;773;p56"/>
          <p:cNvSpPr/>
          <p:nvPr/>
        </p:nvSpPr>
        <p:spPr>
          <a:xfrm>
            <a:off x="5865500" y="3785259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zzzzz.edu</a:t>
            </a:r>
            <a:endParaRPr/>
          </a:p>
        </p:txBody>
      </p:sp>
      <p:sp>
        <p:nvSpPr>
          <p:cNvPr id="774" name="Google Shape;774;p56"/>
          <p:cNvSpPr/>
          <p:nvPr/>
        </p:nvSpPr>
        <p:spPr>
          <a:xfrm>
            <a:off x="4724721" y="4248950"/>
            <a:ext cx="809100" cy="81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Next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DNS Server</a:t>
            </a:r>
            <a:endParaRPr/>
          </a:p>
        </p:txBody>
      </p:sp>
      <p:cxnSp>
        <p:nvCxnSpPr>
          <p:cNvPr id="775" name="Google Shape;775;p56"/>
          <p:cNvCxnSpPr>
            <a:endCxn id="774" idx="1"/>
          </p:cNvCxnSpPr>
          <p:nvPr/>
        </p:nvCxnSpPr>
        <p:spPr>
          <a:xfrm>
            <a:off x="2533821" y="3466250"/>
            <a:ext cx="2190900" cy="118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6" name="Google Shape;776;p56"/>
          <p:cNvSpPr txBox="1"/>
          <p:nvPr/>
        </p:nvSpPr>
        <p:spPr>
          <a:xfrm>
            <a:off x="2991350" y="2557513"/>
            <a:ext cx="259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Q: </a:t>
            </a:r>
            <a:r>
              <a:rPr lang="en-CA" u="sng">
                <a:solidFill>
                  <a:schemeClr val="accent5"/>
                </a:solidFill>
                <a:latin typeface="Courier"/>
                <a:ea typeface="Courier"/>
                <a:cs typeface="Courier"/>
                <a:sym typeface="Couri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gaia.cs.umass.edu</a:t>
            </a: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? </a:t>
            </a:r>
            <a:endParaRPr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777" name="Google Shape;777;p56"/>
          <p:cNvSpPr txBox="1"/>
          <p:nvPr/>
        </p:nvSpPr>
        <p:spPr>
          <a:xfrm>
            <a:off x="5805700" y="1147211"/>
            <a:ext cx="25200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192.5.6.30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778" name="Google Shape;778;p56"/>
          <p:cNvSpPr txBox="1"/>
          <p:nvPr/>
        </p:nvSpPr>
        <p:spPr>
          <a:xfrm rot="1730216">
            <a:off x="2418648" y="3714289"/>
            <a:ext cx="2592478" cy="35406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Q: </a:t>
            </a:r>
            <a:r>
              <a:rPr lang="en-CA" sz="1100" u="sng">
                <a:solidFill>
                  <a:schemeClr val="accent5"/>
                </a:solidFill>
                <a:latin typeface="Courier"/>
                <a:ea typeface="Courier"/>
                <a:cs typeface="Courier"/>
                <a:sym typeface="Couri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gaia.cs.umass.edu</a:t>
            </a:r>
            <a:r>
              <a:rPr lang="en-CA" sz="11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? </a:t>
            </a:r>
            <a:endParaRPr sz="11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779" name="Google Shape;779;p56"/>
          <p:cNvSpPr/>
          <p:nvPr/>
        </p:nvSpPr>
        <p:spPr>
          <a:xfrm>
            <a:off x="1489300" y="1224306"/>
            <a:ext cx="3669900" cy="922200"/>
          </a:xfrm>
          <a:prstGeom prst="wedgeRoundRectCallout">
            <a:avLst>
              <a:gd fmla="val 62643" name="adj1"/>
              <a:gd fmla="val 86033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/>
              <a:t>The </a:t>
            </a:r>
            <a:r>
              <a:rPr lang="en-CA" sz="1800">
                <a:latin typeface="Courier"/>
                <a:ea typeface="Courier"/>
                <a:cs typeface="Courier"/>
                <a:sym typeface="Courier"/>
              </a:rPr>
              <a:t>edu</a:t>
            </a:r>
            <a:r>
              <a:rPr lang="en-CA" sz="1800"/>
              <a:t> nameserver contains records for domains under </a:t>
            </a:r>
            <a:r>
              <a:rPr lang="en-CA" sz="1800">
                <a:latin typeface="Courier"/>
                <a:ea typeface="Courier"/>
                <a:cs typeface="Courier"/>
                <a:sym typeface="Courier"/>
              </a:rPr>
              <a:t>.edu</a:t>
            </a:r>
            <a:endParaRPr sz="18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57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DNS Review: Iterative Queries</a:t>
            </a:r>
            <a:endParaRPr/>
          </a:p>
        </p:txBody>
      </p:sp>
      <p:sp>
        <p:nvSpPr>
          <p:cNvPr id="785" name="Google Shape;785;p57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Local DNS Server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(Resolver)</a:t>
            </a:r>
            <a:endParaRPr/>
          </a:p>
        </p:txBody>
      </p:sp>
      <p:sp>
        <p:nvSpPr>
          <p:cNvPr id="786" name="Google Shape;786;p57"/>
          <p:cNvSpPr/>
          <p:nvPr/>
        </p:nvSpPr>
        <p:spPr>
          <a:xfrm>
            <a:off x="5805650" y="1728464"/>
            <a:ext cx="2520000" cy="24558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87" name="Google Shape;787;p57"/>
          <p:cNvCxnSpPr/>
          <p:nvPr/>
        </p:nvCxnSpPr>
        <p:spPr>
          <a:xfrm>
            <a:off x="2543888" y="2928710"/>
            <a:ext cx="326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8" name="Google Shape;788;p57"/>
          <p:cNvSpPr txBox="1"/>
          <p:nvPr/>
        </p:nvSpPr>
        <p:spPr>
          <a:xfrm>
            <a:off x="5805650" y="1399588"/>
            <a:ext cx="25200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434343"/>
                </a:solidFill>
              </a:rPr>
              <a:t>(authoritative nameserver for </a:t>
            </a:r>
            <a:r>
              <a:rPr lang="en-CA" sz="1200">
                <a:solidFill>
                  <a:srgbClr val="434343"/>
                </a:solidFill>
                <a:latin typeface="Courier"/>
                <a:ea typeface="Courier"/>
                <a:cs typeface="Courier"/>
                <a:sym typeface="Courier"/>
              </a:rPr>
              <a:t>edu</a:t>
            </a:r>
            <a:r>
              <a:rPr lang="en-CA" sz="1200">
                <a:solidFill>
                  <a:srgbClr val="434343"/>
                </a:solidFill>
              </a:rPr>
              <a:t>)</a:t>
            </a:r>
            <a:endParaRPr sz="1200">
              <a:solidFill>
                <a:srgbClr val="434343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789" name="Google Shape;789;p57"/>
          <p:cNvSpPr/>
          <p:nvPr/>
        </p:nvSpPr>
        <p:spPr>
          <a:xfrm>
            <a:off x="6661096" y="202350"/>
            <a:ext cx="809100" cy="81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Root DNS Server</a:t>
            </a:r>
            <a:endParaRPr/>
          </a:p>
        </p:txBody>
      </p:sp>
      <p:cxnSp>
        <p:nvCxnSpPr>
          <p:cNvPr id="790" name="Google Shape;790;p57"/>
          <p:cNvCxnSpPr>
            <a:stCxn id="789" idx="1"/>
            <a:endCxn id="785" idx="0"/>
          </p:cNvCxnSpPr>
          <p:nvPr/>
        </p:nvCxnSpPr>
        <p:spPr>
          <a:xfrm flipH="1">
            <a:off x="1913896" y="607350"/>
            <a:ext cx="4747200" cy="175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1" name="Google Shape;791;p57"/>
          <p:cNvSpPr/>
          <p:nvPr/>
        </p:nvSpPr>
        <p:spPr>
          <a:xfrm>
            <a:off x="2627000" y="1357350"/>
            <a:ext cx="3095700" cy="251100"/>
          </a:xfrm>
          <a:prstGeom prst="rect">
            <a:avLst/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latin typeface="Courier"/>
                <a:ea typeface="Courier"/>
                <a:cs typeface="Courier"/>
                <a:sym typeface="Courier"/>
              </a:rPr>
              <a:t>(edu, NS, a.edu-servers.net, TTL)</a:t>
            </a:r>
            <a:endParaRPr sz="11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792" name="Google Shape;792;p57"/>
          <p:cNvSpPr/>
          <p:nvPr/>
        </p:nvSpPr>
        <p:spPr>
          <a:xfrm>
            <a:off x="2627000" y="1608450"/>
            <a:ext cx="3095700" cy="251100"/>
          </a:xfrm>
          <a:prstGeom prst="rect">
            <a:avLst/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latin typeface="Courier"/>
                <a:ea typeface="Courier"/>
                <a:cs typeface="Courier"/>
                <a:sym typeface="Courier"/>
              </a:rPr>
              <a:t>(</a:t>
            </a:r>
            <a:r>
              <a:rPr lang="en-CA" sz="11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a.edu-s...</a:t>
            </a:r>
            <a:r>
              <a:rPr lang="en-CA" sz="1100">
                <a:latin typeface="Courier"/>
                <a:ea typeface="Courier"/>
                <a:cs typeface="Courier"/>
                <a:sym typeface="Courier"/>
              </a:rPr>
              <a:t>,  A, 192.5.6.30, TTL)</a:t>
            </a:r>
            <a:endParaRPr sz="11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793" name="Google Shape;793;p57"/>
          <p:cNvSpPr/>
          <p:nvPr/>
        </p:nvSpPr>
        <p:spPr>
          <a:xfrm>
            <a:off x="5865550" y="1788250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aaaaa.edu</a:t>
            </a:r>
            <a:endParaRPr/>
          </a:p>
        </p:txBody>
      </p:sp>
      <p:sp>
        <p:nvSpPr>
          <p:cNvPr id="794" name="Google Shape;794;p57"/>
          <p:cNvSpPr/>
          <p:nvPr/>
        </p:nvSpPr>
        <p:spPr>
          <a:xfrm>
            <a:off x="5865550" y="2187315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bbbbb.edu</a:t>
            </a:r>
            <a:endParaRPr/>
          </a:p>
        </p:txBody>
      </p:sp>
      <p:sp>
        <p:nvSpPr>
          <p:cNvPr id="795" name="Google Shape;795;p57"/>
          <p:cNvSpPr/>
          <p:nvPr/>
        </p:nvSpPr>
        <p:spPr>
          <a:xfrm>
            <a:off x="5865550" y="2586379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ccccc.edu</a:t>
            </a:r>
            <a:endParaRPr/>
          </a:p>
        </p:txBody>
      </p:sp>
      <p:sp>
        <p:nvSpPr>
          <p:cNvPr id="796" name="Google Shape;796;p57"/>
          <p:cNvSpPr/>
          <p:nvPr/>
        </p:nvSpPr>
        <p:spPr>
          <a:xfrm>
            <a:off x="5865550" y="2987125"/>
            <a:ext cx="2400300" cy="339300"/>
          </a:xfrm>
          <a:prstGeom prst="rect">
            <a:avLst/>
          </a:prstGeom>
          <a:solidFill>
            <a:srgbClr val="D9EAD3"/>
          </a:solidFill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umass.edu</a:t>
            </a:r>
            <a:endParaRPr/>
          </a:p>
        </p:txBody>
      </p:sp>
      <p:sp>
        <p:nvSpPr>
          <p:cNvPr id="797" name="Google Shape;797;p57"/>
          <p:cNvSpPr/>
          <p:nvPr/>
        </p:nvSpPr>
        <p:spPr>
          <a:xfrm>
            <a:off x="5865500" y="3386190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xxxxx.edu</a:t>
            </a:r>
            <a:endParaRPr/>
          </a:p>
        </p:txBody>
      </p:sp>
      <p:sp>
        <p:nvSpPr>
          <p:cNvPr id="798" name="Google Shape;798;p57"/>
          <p:cNvSpPr/>
          <p:nvPr/>
        </p:nvSpPr>
        <p:spPr>
          <a:xfrm>
            <a:off x="5865500" y="3785259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zzzzz.edu</a:t>
            </a:r>
            <a:endParaRPr/>
          </a:p>
        </p:txBody>
      </p:sp>
      <p:sp>
        <p:nvSpPr>
          <p:cNvPr id="799" name="Google Shape;799;p57"/>
          <p:cNvSpPr/>
          <p:nvPr/>
        </p:nvSpPr>
        <p:spPr>
          <a:xfrm>
            <a:off x="4724721" y="4248950"/>
            <a:ext cx="809100" cy="81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Next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DNS Server</a:t>
            </a:r>
            <a:endParaRPr/>
          </a:p>
        </p:txBody>
      </p:sp>
      <p:cxnSp>
        <p:nvCxnSpPr>
          <p:cNvPr id="800" name="Google Shape;800;p57"/>
          <p:cNvCxnSpPr>
            <a:endCxn id="799" idx="1"/>
          </p:cNvCxnSpPr>
          <p:nvPr/>
        </p:nvCxnSpPr>
        <p:spPr>
          <a:xfrm>
            <a:off x="2533821" y="3466250"/>
            <a:ext cx="2190900" cy="118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1" name="Google Shape;801;p57"/>
          <p:cNvSpPr txBox="1"/>
          <p:nvPr/>
        </p:nvSpPr>
        <p:spPr>
          <a:xfrm>
            <a:off x="2991350" y="2557513"/>
            <a:ext cx="259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Q: </a:t>
            </a:r>
            <a:r>
              <a:rPr lang="en-CA" u="sng">
                <a:solidFill>
                  <a:schemeClr val="accent5"/>
                </a:solidFill>
                <a:latin typeface="Courier"/>
                <a:ea typeface="Courier"/>
                <a:cs typeface="Courier"/>
                <a:sym typeface="Couri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gaia.cs.umass.edu</a:t>
            </a: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? </a:t>
            </a:r>
            <a:endParaRPr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802" name="Google Shape;802;p57"/>
          <p:cNvSpPr txBox="1"/>
          <p:nvPr/>
        </p:nvSpPr>
        <p:spPr>
          <a:xfrm>
            <a:off x="5805700" y="1147211"/>
            <a:ext cx="25200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192.5.6.30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803" name="Google Shape;803;p57"/>
          <p:cNvSpPr txBox="1"/>
          <p:nvPr/>
        </p:nvSpPr>
        <p:spPr>
          <a:xfrm rot="1730216">
            <a:off x="2418648" y="3714289"/>
            <a:ext cx="2592478" cy="35406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Q: </a:t>
            </a:r>
            <a:r>
              <a:rPr lang="en-CA" sz="1100" u="sng">
                <a:solidFill>
                  <a:schemeClr val="accent5"/>
                </a:solidFill>
                <a:latin typeface="Courier"/>
                <a:ea typeface="Courier"/>
                <a:cs typeface="Courier"/>
                <a:sym typeface="Couri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gaia.cs.umass.edu</a:t>
            </a:r>
            <a:r>
              <a:rPr lang="en-CA" sz="11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? </a:t>
            </a:r>
            <a:endParaRPr sz="11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804" name="Google Shape;804;p57"/>
          <p:cNvCxnSpPr>
            <a:stCxn id="796" idx="1"/>
          </p:cNvCxnSpPr>
          <p:nvPr/>
        </p:nvCxnSpPr>
        <p:spPr>
          <a:xfrm flipH="1">
            <a:off x="2543950" y="3156775"/>
            <a:ext cx="3321600" cy="11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58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DNS Review: Iterative Queries</a:t>
            </a:r>
            <a:endParaRPr/>
          </a:p>
        </p:txBody>
      </p:sp>
      <p:sp>
        <p:nvSpPr>
          <p:cNvPr id="810" name="Google Shape;810;p58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Local DNS Server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(Resolver)</a:t>
            </a:r>
            <a:endParaRPr/>
          </a:p>
        </p:txBody>
      </p:sp>
      <p:sp>
        <p:nvSpPr>
          <p:cNvPr id="811" name="Google Shape;811;p58"/>
          <p:cNvSpPr/>
          <p:nvPr/>
        </p:nvSpPr>
        <p:spPr>
          <a:xfrm>
            <a:off x="5805650" y="1728464"/>
            <a:ext cx="2520000" cy="24558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12" name="Google Shape;812;p58"/>
          <p:cNvCxnSpPr/>
          <p:nvPr/>
        </p:nvCxnSpPr>
        <p:spPr>
          <a:xfrm>
            <a:off x="2543888" y="2928710"/>
            <a:ext cx="326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3" name="Google Shape;813;p58"/>
          <p:cNvSpPr txBox="1"/>
          <p:nvPr/>
        </p:nvSpPr>
        <p:spPr>
          <a:xfrm>
            <a:off x="5805650" y="1399588"/>
            <a:ext cx="25200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434343"/>
                </a:solidFill>
              </a:rPr>
              <a:t>(authoritative nameserver for </a:t>
            </a:r>
            <a:r>
              <a:rPr lang="en-CA" sz="1200">
                <a:solidFill>
                  <a:srgbClr val="434343"/>
                </a:solidFill>
                <a:latin typeface="Courier"/>
                <a:ea typeface="Courier"/>
                <a:cs typeface="Courier"/>
                <a:sym typeface="Courier"/>
              </a:rPr>
              <a:t>edu</a:t>
            </a:r>
            <a:r>
              <a:rPr lang="en-CA" sz="1200">
                <a:solidFill>
                  <a:srgbClr val="434343"/>
                </a:solidFill>
              </a:rPr>
              <a:t>)</a:t>
            </a:r>
            <a:endParaRPr sz="1200">
              <a:solidFill>
                <a:srgbClr val="434343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814" name="Google Shape;814;p58"/>
          <p:cNvSpPr/>
          <p:nvPr/>
        </p:nvSpPr>
        <p:spPr>
          <a:xfrm>
            <a:off x="6661096" y="202350"/>
            <a:ext cx="809100" cy="81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Root DNS Server</a:t>
            </a:r>
            <a:endParaRPr/>
          </a:p>
        </p:txBody>
      </p:sp>
      <p:cxnSp>
        <p:nvCxnSpPr>
          <p:cNvPr id="815" name="Google Shape;815;p58"/>
          <p:cNvCxnSpPr>
            <a:stCxn id="814" idx="1"/>
            <a:endCxn id="810" idx="0"/>
          </p:cNvCxnSpPr>
          <p:nvPr/>
        </p:nvCxnSpPr>
        <p:spPr>
          <a:xfrm flipH="1">
            <a:off x="1913896" y="607350"/>
            <a:ext cx="4747200" cy="175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6" name="Google Shape;816;p58"/>
          <p:cNvSpPr/>
          <p:nvPr/>
        </p:nvSpPr>
        <p:spPr>
          <a:xfrm>
            <a:off x="2627000" y="1357350"/>
            <a:ext cx="3095700" cy="251100"/>
          </a:xfrm>
          <a:prstGeom prst="rect">
            <a:avLst/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latin typeface="Courier"/>
                <a:ea typeface="Courier"/>
                <a:cs typeface="Courier"/>
                <a:sym typeface="Courier"/>
              </a:rPr>
              <a:t>(edu, NS, a.edu-servers.net, TTL)</a:t>
            </a:r>
            <a:endParaRPr sz="11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817" name="Google Shape;817;p58"/>
          <p:cNvSpPr/>
          <p:nvPr/>
        </p:nvSpPr>
        <p:spPr>
          <a:xfrm>
            <a:off x="2627000" y="1608450"/>
            <a:ext cx="3095700" cy="251100"/>
          </a:xfrm>
          <a:prstGeom prst="rect">
            <a:avLst/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latin typeface="Courier"/>
                <a:ea typeface="Courier"/>
                <a:cs typeface="Courier"/>
                <a:sym typeface="Courier"/>
              </a:rPr>
              <a:t>(</a:t>
            </a:r>
            <a:r>
              <a:rPr lang="en-CA" sz="11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a.edu-s...</a:t>
            </a:r>
            <a:r>
              <a:rPr lang="en-CA" sz="1100">
                <a:latin typeface="Courier"/>
                <a:ea typeface="Courier"/>
                <a:cs typeface="Courier"/>
                <a:sym typeface="Courier"/>
              </a:rPr>
              <a:t>,  A, 192.5.6.30, TTL)</a:t>
            </a:r>
            <a:endParaRPr sz="11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818" name="Google Shape;818;p58"/>
          <p:cNvSpPr/>
          <p:nvPr/>
        </p:nvSpPr>
        <p:spPr>
          <a:xfrm>
            <a:off x="5865550" y="1788250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aaaaa.edu</a:t>
            </a:r>
            <a:endParaRPr/>
          </a:p>
        </p:txBody>
      </p:sp>
      <p:sp>
        <p:nvSpPr>
          <p:cNvPr id="819" name="Google Shape;819;p58"/>
          <p:cNvSpPr/>
          <p:nvPr/>
        </p:nvSpPr>
        <p:spPr>
          <a:xfrm>
            <a:off x="5865550" y="2187315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bbbbb.edu</a:t>
            </a:r>
            <a:endParaRPr/>
          </a:p>
        </p:txBody>
      </p:sp>
      <p:sp>
        <p:nvSpPr>
          <p:cNvPr id="820" name="Google Shape;820;p58"/>
          <p:cNvSpPr/>
          <p:nvPr/>
        </p:nvSpPr>
        <p:spPr>
          <a:xfrm>
            <a:off x="5865550" y="2586379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ccccc.edu</a:t>
            </a:r>
            <a:endParaRPr/>
          </a:p>
        </p:txBody>
      </p:sp>
      <p:sp>
        <p:nvSpPr>
          <p:cNvPr id="821" name="Google Shape;821;p58"/>
          <p:cNvSpPr/>
          <p:nvPr/>
        </p:nvSpPr>
        <p:spPr>
          <a:xfrm>
            <a:off x="5865550" y="2987125"/>
            <a:ext cx="2400300" cy="339300"/>
          </a:xfrm>
          <a:prstGeom prst="rect">
            <a:avLst/>
          </a:prstGeom>
          <a:solidFill>
            <a:srgbClr val="D9EAD3"/>
          </a:solidFill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umass.edu</a:t>
            </a:r>
            <a:endParaRPr/>
          </a:p>
        </p:txBody>
      </p:sp>
      <p:sp>
        <p:nvSpPr>
          <p:cNvPr id="822" name="Google Shape;822;p58"/>
          <p:cNvSpPr/>
          <p:nvPr/>
        </p:nvSpPr>
        <p:spPr>
          <a:xfrm>
            <a:off x="5865500" y="3386190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xxxxx.edu</a:t>
            </a:r>
            <a:endParaRPr/>
          </a:p>
        </p:txBody>
      </p:sp>
      <p:sp>
        <p:nvSpPr>
          <p:cNvPr id="823" name="Google Shape;823;p58"/>
          <p:cNvSpPr/>
          <p:nvPr/>
        </p:nvSpPr>
        <p:spPr>
          <a:xfrm>
            <a:off x="5865500" y="3785259"/>
            <a:ext cx="2400300" cy="3393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zzzzz.edu</a:t>
            </a:r>
            <a:endParaRPr/>
          </a:p>
        </p:txBody>
      </p:sp>
      <p:sp>
        <p:nvSpPr>
          <p:cNvPr id="824" name="Google Shape;824;p58"/>
          <p:cNvSpPr/>
          <p:nvPr/>
        </p:nvSpPr>
        <p:spPr>
          <a:xfrm>
            <a:off x="4724721" y="4248950"/>
            <a:ext cx="809100" cy="81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Next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DNS Server</a:t>
            </a:r>
            <a:endParaRPr/>
          </a:p>
        </p:txBody>
      </p:sp>
      <p:cxnSp>
        <p:nvCxnSpPr>
          <p:cNvPr id="825" name="Google Shape;825;p58"/>
          <p:cNvCxnSpPr>
            <a:endCxn id="824" idx="1"/>
          </p:cNvCxnSpPr>
          <p:nvPr/>
        </p:nvCxnSpPr>
        <p:spPr>
          <a:xfrm>
            <a:off x="2533821" y="3466250"/>
            <a:ext cx="2190900" cy="118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6" name="Google Shape;826;p58"/>
          <p:cNvSpPr txBox="1"/>
          <p:nvPr/>
        </p:nvSpPr>
        <p:spPr>
          <a:xfrm>
            <a:off x="2991350" y="2557513"/>
            <a:ext cx="259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Q: </a:t>
            </a:r>
            <a:r>
              <a:rPr lang="en-CA" u="sng">
                <a:solidFill>
                  <a:schemeClr val="accent5"/>
                </a:solidFill>
                <a:latin typeface="Courier"/>
                <a:ea typeface="Courier"/>
                <a:cs typeface="Courier"/>
                <a:sym typeface="Couri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gaia.cs.umass.edu</a:t>
            </a: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? </a:t>
            </a:r>
            <a:endParaRPr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827" name="Google Shape;827;p58"/>
          <p:cNvSpPr txBox="1"/>
          <p:nvPr/>
        </p:nvSpPr>
        <p:spPr>
          <a:xfrm>
            <a:off x="5805700" y="1147211"/>
            <a:ext cx="25200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192.5.6.30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828" name="Google Shape;828;p58"/>
          <p:cNvSpPr txBox="1"/>
          <p:nvPr/>
        </p:nvSpPr>
        <p:spPr>
          <a:xfrm rot="1730216">
            <a:off x="2418648" y="3714289"/>
            <a:ext cx="2592478" cy="35406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Q: </a:t>
            </a:r>
            <a:r>
              <a:rPr lang="en-CA" sz="1100" u="sng">
                <a:solidFill>
                  <a:schemeClr val="accent5"/>
                </a:solidFill>
                <a:latin typeface="Courier"/>
                <a:ea typeface="Courier"/>
                <a:cs typeface="Courier"/>
                <a:sym typeface="Couri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gaia.cs.umass.edu</a:t>
            </a:r>
            <a:r>
              <a:rPr lang="en-CA" sz="11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? </a:t>
            </a:r>
            <a:endParaRPr sz="11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829" name="Google Shape;829;p58"/>
          <p:cNvSpPr/>
          <p:nvPr/>
        </p:nvSpPr>
        <p:spPr>
          <a:xfrm>
            <a:off x="836450" y="3618475"/>
            <a:ext cx="5968800" cy="1338000"/>
          </a:xfrm>
          <a:prstGeom prst="wedgeRoundRectCallout">
            <a:avLst>
              <a:gd fmla="val 21736" name="adj1"/>
              <a:gd fmla="val -72567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CA" sz="1800">
                <a:latin typeface="Courier"/>
                <a:ea typeface="Courier"/>
                <a:cs typeface="Courier"/>
                <a:sym typeface="Courier"/>
              </a:rPr>
              <a:t>umass.edu</a:t>
            </a:r>
            <a:r>
              <a:rPr lang="en-CA" sz="1800"/>
              <a:t>, which contains the domain we are looking up, will be one of them</a:t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/>
              <a:t>This record will tells us which DNS server to query next</a:t>
            </a:r>
            <a:endParaRPr sz="1800"/>
          </a:p>
        </p:txBody>
      </p:sp>
      <p:cxnSp>
        <p:nvCxnSpPr>
          <p:cNvPr id="830" name="Google Shape;830;p58"/>
          <p:cNvCxnSpPr>
            <a:stCxn id="821" idx="1"/>
          </p:cNvCxnSpPr>
          <p:nvPr/>
        </p:nvCxnSpPr>
        <p:spPr>
          <a:xfrm flipH="1">
            <a:off x="2543950" y="3156775"/>
            <a:ext cx="3321600" cy="11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59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CA"/>
              <a:t>Query the root server (a.root-servers.net)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Returns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edu</a:t>
            </a:r>
            <a:r>
              <a:rPr lang="en-CA"/>
              <a:t> nameservers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CA"/>
              <a:t>Query the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edu</a:t>
            </a:r>
            <a:r>
              <a:rPr lang="en-CA"/>
              <a:t> nameserver (a.edu-servers.net)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Returns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umass.edu</a:t>
            </a:r>
            <a:r>
              <a:rPr lang="en-CA"/>
              <a:t> nameservers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CA"/>
              <a:t>Query the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umass.edu</a:t>
            </a:r>
            <a:r>
              <a:rPr lang="en-CA"/>
              <a:t> nameserver (ns1.umass.edu)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Returns the answer: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836" name="Google Shape;836;p59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DNS Review: Iterative Queries - Activity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60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CA"/>
              <a:t>Query the root server (a.root-servers.net)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Returns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edu</a:t>
            </a:r>
            <a:r>
              <a:rPr lang="en-CA"/>
              <a:t> nameservers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4A86E8"/>
                </a:solidFill>
                <a:latin typeface="Courier"/>
                <a:ea typeface="Courier"/>
                <a:cs typeface="Courier"/>
                <a:sym typeface="Courier"/>
              </a:rPr>
              <a:t>dig @198.41.0.4 gaia.cs.umass.edu A</a:t>
            </a:r>
            <a:endParaRPr>
              <a:solidFill>
                <a:srgbClr val="4A86E8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CA"/>
              <a:t>Query the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edu</a:t>
            </a:r>
            <a:r>
              <a:rPr lang="en-CA"/>
              <a:t> nameserver (a.edu-servers.net)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Returns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umass.edu</a:t>
            </a:r>
            <a:r>
              <a:rPr lang="en-CA"/>
              <a:t> nameservers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4A86E8"/>
                </a:solidFill>
                <a:latin typeface="Courier"/>
                <a:ea typeface="Courier"/>
                <a:cs typeface="Courier"/>
                <a:sym typeface="Courier"/>
              </a:rPr>
              <a:t>dig @192.5.6.30 gaia.cs.umass.edu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CA"/>
              <a:t>Query the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umass.edu</a:t>
            </a:r>
            <a:r>
              <a:rPr lang="en-CA"/>
              <a:t> nameserver (ns1.umass.edu)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Returns the answer: </a:t>
            </a:r>
            <a:r>
              <a:rPr b="1" lang="en-CA">
                <a:solidFill>
                  <a:srgbClr val="0000FF"/>
                </a:solidFill>
              </a:rPr>
              <a:t>128.119.245.12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4A86E8"/>
                </a:solidFill>
                <a:latin typeface="Courier"/>
                <a:ea typeface="Courier"/>
                <a:cs typeface="Courier"/>
                <a:sym typeface="Courier"/>
              </a:rPr>
              <a:t>dig @128.119.10.27 gaia.cs.umass.edu A</a:t>
            </a:r>
            <a:endParaRPr>
              <a:solidFill>
                <a:srgbClr val="4A86E8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842" name="Google Shape;842;p60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DNS Review: Iterative Queries - Activity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61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UDP Sockets in Java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848" name="Google Shape;848;p61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PA2 uses UDP as the main transport protocol, and in Java: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TCP uses Socket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UDP uses DatagramSocket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Basic DatagramSocket flow: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Refer to the </a:t>
            </a:r>
            <a:r>
              <a:rPr lang="en-CA" u="sng">
                <a:solidFill>
                  <a:schemeClr val="hlink"/>
                </a:solidFill>
                <a:hlinkClick r:id="rId3"/>
              </a:rPr>
              <a:t>DatagramSocket documentation</a:t>
            </a:r>
            <a:r>
              <a:rPr lang="en-CA"/>
              <a:t> for more details</a:t>
            </a:r>
            <a:endParaRPr/>
          </a:p>
        </p:txBody>
      </p:sp>
      <p:sp>
        <p:nvSpPr>
          <p:cNvPr id="849" name="Google Shape;849;p61"/>
          <p:cNvSpPr txBox="1"/>
          <p:nvPr/>
        </p:nvSpPr>
        <p:spPr>
          <a:xfrm>
            <a:off x="1038000" y="2479950"/>
            <a:ext cx="4958100" cy="18234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7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1. Create a socket</a:t>
            </a:r>
            <a:endParaRPr sz="7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7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DatagramSocket socket </a:t>
            </a:r>
            <a:r>
              <a:rPr lang="en-CA" sz="7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-CA" sz="7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DatagramSocket</a:t>
            </a:r>
            <a:r>
              <a:rPr lang="en-CA" sz="7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7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7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2. Create a packet</a:t>
            </a:r>
            <a:endParaRPr sz="7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7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DatagramPacket packet </a:t>
            </a:r>
            <a:r>
              <a:rPr lang="en-CA" sz="7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-CA" sz="7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DatagramPacket</a:t>
            </a:r>
            <a:r>
              <a:rPr lang="en-CA" sz="7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(data, data.length, address, port);</a:t>
            </a:r>
            <a:endParaRPr sz="7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7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3. Send the packet</a:t>
            </a:r>
            <a:endParaRPr sz="7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7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socket.</a:t>
            </a:r>
            <a:r>
              <a:rPr lang="en-CA" sz="7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send</a:t>
            </a:r>
            <a:r>
              <a:rPr lang="en-CA" sz="7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(packet);</a:t>
            </a:r>
            <a:endParaRPr sz="7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7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4. Receive a packet</a:t>
            </a:r>
            <a:endParaRPr sz="7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7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socket.</a:t>
            </a:r>
            <a:r>
              <a:rPr lang="en-CA" sz="7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receive</a:t>
            </a:r>
            <a:r>
              <a:rPr lang="en-CA" sz="7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(responsePacket);</a:t>
            </a:r>
            <a:endParaRPr sz="7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62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UDP Sockets in Java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855" name="Google Shape;855;p62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Activity: Implement the ping method in EchoClient.java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63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UDP Sockets in Java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861" name="Google Shape;861;p63"/>
          <p:cNvSpPr txBox="1"/>
          <p:nvPr/>
        </p:nvSpPr>
        <p:spPr>
          <a:xfrm>
            <a:off x="438950" y="1012350"/>
            <a:ext cx="7886700" cy="39678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7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String </a:t>
            </a:r>
            <a:r>
              <a:rPr lang="en-CA" sz="7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ping</a:t>
            </a:r>
            <a:r>
              <a:rPr lang="en-CA" sz="7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(String hostname, </a:t>
            </a:r>
            <a:r>
              <a:rPr lang="en-CA" sz="7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CA" sz="7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port, String msg) throws UnknownHostException, IOException {</a:t>
            </a:r>
            <a:endParaRPr sz="7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7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// Resolve hostname to IP address</a:t>
            </a:r>
            <a:endParaRPr sz="7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7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InetAddress address </a:t>
            </a:r>
            <a:r>
              <a:rPr lang="en-CA" sz="7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7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InetAddress.</a:t>
            </a:r>
            <a:r>
              <a:rPr lang="en-CA" sz="7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getByName</a:t>
            </a:r>
            <a:r>
              <a:rPr lang="en-CA" sz="7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(hostname);</a:t>
            </a:r>
            <a:endParaRPr sz="7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7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// Convert message to bytes</a:t>
            </a:r>
            <a:endParaRPr sz="7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7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byte</a:t>
            </a:r>
            <a:r>
              <a:rPr lang="en-CA" sz="7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[] sendBuffer </a:t>
            </a:r>
            <a:r>
              <a:rPr lang="en-CA" sz="7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7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msg.</a:t>
            </a:r>
            <a:r>
              <a:rPr lang="en-CA" sz="7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getBytes</a:t>
            </a:r>
            <a:r>
              <a:rPr lang="en-CA" sz="7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7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7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// Create packet to send to server</a:t>
            </a:r>
            <a:endParaRPr sz="7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7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DatagramPacket sendPacket </a:t>
            </a:r>
            <a:r>
              <a:rPr lang="en-CA" sz="7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-CA" sz="7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DatagramPacket</a:t>
            </a:r>
            <a:r>
              <a:rPr lang="en-CA" sz="7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(sendBuffer, sendBuffer.length, address, port);</a:t>
            </a:r>
            <a:endParaRPr sz="7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7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// Send packet</a:t>
            </a:r>
            <a:endParaRPr sz="7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7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socket.</a:t>
            </a:r>
            <a:r>
              <a:rPr lang="en-CA" sz="7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send</a:t>
            </a:r>
            <a:r>
              <a:rPr lang="en-CA" sz="7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(sendPacket);</a:t>
            </a:r>
            <a:endParaRPr sz="7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7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// Prepare buffer for response</a:t>
            </a:r>
            <a:endParaRPr sz="7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7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byte</a:t>
            </a:r>
            <a:r>
              <a:rPr lang="en-CA" sz="7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[] receiveBuffer </a:t>
            </a:r>
            <a:r>
              <a:rPr lang="en-CA" sz="7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 new byte</a:t>
            </a:r>
            <a:r>
              <a:rPr lang="en-CA" sz="7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en-CA" sz="7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256</a:t>
            </a:r>
            <a:r>
              <a:rPr lang="en-CA" sz="7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];</a:t>
            </a:r>
            <a:endParaRPr sz="7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7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// Receive echoed packet</a:t>
            </a:r>
            <a:endParaRPr sz="7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7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DatagramPacket receivePacket </a:t>
            </a:r>
            <a:r>
              <a:rPr lang="en-CA" sz="7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-CA" sz="7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DatagramPacket</a:t>
            </a:r>
            <a:r>
              <a:rPr lang="en-CA" sz="7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(receiveBuffer, receiveBuffer.length);</a:t>
            </a:r>
            <a:endParaRPr sz="7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7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socket.</a:t>
            </a:r>
            <a:r>
              <a:rPr lang="en-CA" sz="7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receive</a:t>
            </a:r>
            <a:r>
              <a:rPr lang="en-CA" sz="7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(receivePacket);</a:t>
            </a:r>
            <a:endParaRPr sz="7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7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// Convert received bytes to string</a:t>
            </a:r>
            <a:endParaRPr sz="7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7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return new</a:t>
            </a:r>
            <a:r>
              <a:rPr lang="en-CA" sz="7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String</a:t>
            </a:r>
            <a:r>
              <a:rPr lang="en-CA" sz="7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(receivePacket.</a:t>
            </a:r>
            <a:r>
              <a:rPr lang="en-CA" sz="7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getData</a:t>
            </a:r>
            <a:r>
              <a:rPr lang="en-CA" sz="7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(), </a:t>
            </a:r>
            <a:r>
              <a:rPr lang="en-CA" sz="7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CA" sz="7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receivePacket.</a:t>
            </a:r>
            <a:r>
              <a:rPr lang="en-CA" sz="7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getLength</a:t>
            </a:r>
            <a:r>
              <a:rPr lang="en-CA" sz="7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());</a:t>
            </a:r>
            <a:endParaRPr sz="700">
              <a:solidFill>
                <a:schemeClr val="dk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7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