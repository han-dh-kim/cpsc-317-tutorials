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E8954D-27A6-4D48-97B5-2764A9A821FE}">
  <a:tblStyle styleId="{34E8954D-27A6-4D48-97B5-2764A9A821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00"/>
    <p:restoredTop sz="82192"/>
  </p:normalViewPr>
  <p:slideViewPr>
    <p:cSldViewPr snapToGrid="0">
      <p:cViewPr varScale="1">
        <p:scale>
          <a:sx n="138" d="100"/>
          <a:sy n="138" d="100"/>
        </p:scale>
        <p:origin x="139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ca8ee70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" name="Google Shape;63;g3eca8ee70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3eca8ee700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ca8ee700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3eca8ee700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ca8ee700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Previous PAs focused on implementing a client or server..</a:t>
            </a:r>
            <a:endParaRPr dirty="0"/>
          </a:p>
        </p:txBody>
      </p:sp>
      <p:sp>
        <p:nvSpPr>
          <p:cNvPr id="77" name="Google Shape;77;g3eca8ee700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ca8ee700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eca8ee700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ca8ee700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…but PA4 focuses on implementing the actual transport-layer protocol </a:t>
            </a:r>
            <a:endParaRPr/>
          </a:p>
        </p:txBody>
      </p:sp>
      <p:sp>
        <p:nvSpPr>
          <p:cNvPr id="135" name="Google Shape;135;g3eca8ee700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ca8ee7000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eca8ee7000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ca8ee7000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Instead of full version of TCP, we will implement simplified version of TCP. This version doesn’t have congestion control or bidirectional data transfer. We’ll also use a fixed timeout.</a:t>
            </a:r>
            <a:endParaRPr dirty="0"/>
          </a:p>
        </p:txBody>
      </p:sp>
      <p:sp>
        <p:nvSpPr>
          <p:cNvPr id="187" name="Google Shape;187;g3eca8ee7000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ca8ee700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eca8ee700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ca8ee7000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This is our starting point. A sender and a receiver, with the protocol still to be implemented</a:t>
            </a:r>
            <a:endParaRPr dirty="0"/>
          </a:p>
        </p:txBody>
      </p:sp>
      <p:sp>
        <p:nvSpPr>
          <p:cNvPr id="241" name="Google Shape;241;g3eca8ee7000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ca8ee7000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eca8ee7000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ca8ee7000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sz="1100" dirty="0"/>
              <a:t>The protocol logic lives inside the sender, so the actual implementation happens here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3eca8ee7000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ca8ee7000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eca8ee7000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ca8ee7000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We’ll use UDP </a:t>
            </a:r>
            <a:r>
              <a:rPr lang="en-CA" sz="1100" dirty="0"/>
              <a:t>as the base for building STCP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3" name="Google Shape;313;g3eca8ee7000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ca8ee7000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g3eca8ee7000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ca8ee7000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First, we add connection setup using SYN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" name="Google Shape;372;g3eca8ee7000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ca8ee7000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Next, we add sequence numbers to track the data and its order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3" name="Google Shape;403;g3eca8ee7000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ca8ee7000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We also add retransmission to recover lost packets</a:t>
            </a:r>
            <a:endParaRPr dirty="0"/>
          </a:p>
        </p:txBody>
      </p:sp>
      <p:sp>
        <p:nvSpPr>
          <p:cNvPr id="438" name="Google Shape;438;g3eca8ee7000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ca8ee7000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So, when we put all these together, we get reliable and ordered delivery over UDP.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Now it starts to look like TCP</a:t>
            </a:r>
            <a:endParaRPr dirty="0"/>
          </a:p>
        </p:txBody>
      </p:sp>
      <p:sp>
        <p:nvSpPr>
          <p:cNvPr id="477" name="Google Shape;477;g3eca8ee7000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ca8ee7000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g3eca8ee7000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ca8ee7000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1. Let’s review how TCP sets up a connection. What information do we send along with SYN and ACK flags?</a:t>
            </a:r>
          </a:p>
        </p:txBody>
      </p:sp>
      <p:sp>
        <p:nvSpPr>
          <p:cNvPr id="540" name="Google Shape;540;g3eca8ee7000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ca8ee7000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We send an initial sequence number. This tells the other side where our byte number starts</a:t>
            </a:r>
            <a:br>
              <a:rPr lang="en-CA" dirty="0"/>
            </a:b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Second question. Why do we need three steps?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7" name="Google Shape;547;g3eca8ee7000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eca8ee7000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First the clients sends ISN. The server acknowledges it and send its own ISN. Then the client acknowledges the server’s ISN</a:t>
            </a:r>
            <a:endParaRPr dirty="0"/>
          </a:p>
        </p:txBody>
      </p:sp>
      <p:sp>
        <p:nvSpPr>
          <p:cNvPr id="554" name="Google Shape;554;g3eca8ee7000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ca8ee7000_0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Now, let’s look at the connection termination. Why are the four steps necessary here?</a:t>
            </a:r>
            <a:endParaRPr dirty="0"/>
          </a:p>
        </p:txBody>
      </p:sp>
      <p:sp>
        <p:nvSpPr>
          <p:cNvPr id="561" name="Google Shape;561;g3eca8ee7000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eca8ee7000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TCP lets both sides send data independently. So even if one side is done sending, the other side might still have data to send.</a:t>
            </a:r>
            <a:endParaRPr dirty="0"/>
          </a:p>
        </p:txBody>
      </p:sp>
      <p:sp>
        <p:nvSpPr>
          <p:cNvPr id="568" name="Google Shape;568;g3eca8ee7000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eca8ee7000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client sends FIN, and the server acknowledges it. When the server is also done sending, it sends its own FIN, and the client acknowledges that</a:t>
            </a:r>
            <a:endParaRPr dirty="0"/>
          </a:p>
        </p:txBody>
      </p:sp>
      <p:sp>
        <p:nvSpPr>
          <p:cNvPr id="575" name="Google Shape;575;g3eca8ee7000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eca8ee7000_0_4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3eca8ee7000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eca8ee7000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Now let’s look at retransmission. TCP keeps a timer for the oldest unacknowledged segment</a:t>
            </a:r>
            <a:endParaRPr dirty="0"/>
          </a:p>
        </p:txBody>
      </p:sp>
      <p:sp>
        <p:nvSpPr>
          <p:cNvPr id="590" name="Google Shape;590;g3eca8ee7000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ca8ee7000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Here, the data segment sent by Host A gets lost. When the timer expires, the sender sends that segment again.</a:t>
            </a:r>
            <a:endParaRPr dirty="0"/>
          </a:p>
        </p:txBody>
      </p:sp>
      <p:sp>
        <p:nvSpPr>
          <p:cNvPr id="596" name="Google Shape;596;g3eca8ee7000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eca8ee7000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In this scenario, the data sent by Host A successfully arrives, but the ACK gets lost. The sender doesn’t know the data arrived, so it sends the segment again after the timeout</a:t>
            </a:r>
            <a:endParaRPr dirty="0"/>
          </a:p>
        </p:txBody>
      </p:sp>
      <p:sp>
        <p:nvSpPr>
          <p:cNvPr id="603" name="Google Shape;603;g3eca8ee7000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eca8ee7000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Here the timeout happens before the ACK arrives. Notice that the sender retransmits just the first unacknowledged segment</a:t>
            </a:r>
            <a:endParaRPr dirty="0"/>
          </a:p>
        </p:txBody>
      </p:sp>
      <p:sp>
        <p:nvSpPr>
          <p:cNvPr id="610" name="Google Shape;610;g3eca8ee7000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eca8ee7000_0_5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In this case, the ACK gets lost, but ACK 120 still arrives. Since ACKs are cumulative, ACK 120 confirms that all bytes up to 119 have arrived.</a:t>
            </a:r>
            <a:endParaRPr dirty="0"/>
          </a:p>
        </p:txBody>
      </p:sp>
      <p:sp>
        <p:nvSpPr>
          <p:cNvPr id="617" name="Google Shape;617;g3eca8ee7000_0_5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eca8ee7000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Here, the receiver keeps asking for byte 100. After three duplicate ACKS the sender retransmits the missing segment without waiting for a timeout. This is fast transmission</a:t>
            </a:r>
          </a:p>
        </p:txBody>
      </p:sp>
      <p:sp>
        <p:nvSpPr>
          <p:cNvPr id="624" name="Google Shape;624;g3eca8ee7000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ca8ee7000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receiver might not keep up with the sender, so it advertises how many bytes it has room for. The sender uses that window to limit the data it sends.</a:t>
            </a:r>
            <a:endParaRPr dirty="0"/>
          </a:p>
        </p:txBody>
      </p:sp>
      <p:sp>
        <p:nvSpPr>
          <p:cNvPr id="631" name="Google Shape;631;g3eca8ee7000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eca8ee7000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Let’s look at the TCP header. Which fields are important to establish a connection?</a:t>
            </a:r>
            <a:endParaRPr dirty="0"/>
          </a:p>
        </p:txBody>
      </p:sp>
      <p:sp>
        <p:nvSpPr>
          <p:cNvPr id="637" name="Google Shape;637;g3eca8ee7000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ca8ee7000_0_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SYN starts the connection. The sequence number carries the ISN, and ACK confirms it using the acknowledgement number</a:t>
            </a:r>
            <a:endParaRPr dirty="0"/>
          </a:p>
        </p:txBody>
      </p:sp>
      <p:sp>
        <p:nvSpPr>
          <p:cNvPr id="644" name="Google Shape;644;g3eca8ee7000_0_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eca8ee7000_0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What about connection termination?</a:t>
            </a:r>
            <a:endParaRPr dirty="0"/>
          </a:p>
        </p:txBody>
      </p:sp>
      <p:sp>
        <p:nvSpPr>
          <p:cNvPr id="655" name="Google Shape;655;g3eca8ee7000_0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eca8ee7000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We use FIN, ACK, and Acknowledgement Number. FIN indicates that the sender has finished sending data. The other side acknowledges it using the ACK flag and acknowledgement number</a:t>
            </a:r>
            <a:endParaRPr dirty="0"/>
          </a:p>
        </p:txBody>
      </p:sp>
      <p:sp>
        <p:nvSpPr>
          <p:cNvPr id="662" name="Google Shape;662;g3eca8ee7000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eca8ee7000_0_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Which fields help deliver all the data in the right order?</a:t>
            </a:r>
            <a:endParaRPr dirty="0"/>
          </a:p>
        </p:txBody>
      </p:sp>
      <p:sp>
        <p:nvSpPr>
          <p:cNvPr id="672" name="Google Shape;672;g3eca8ee7000_0_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eca8ee7000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9" name="Google Shape;679;g3eca8ee7000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e74fae1b3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Which field do we used for flow control?</a:t>
            </a:r>
            <a:endParaRPr dirty="0"/>
          </a:p>
        </p:txBody>
      </p:sp>
      <p:sp>
        <p:nvSpPr>
          <p:cNvPr id="689" name="Google Shape;689;g3e74fae1b3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eca8ee7000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Receiver window tells the sender how much buffer space the receiver has available in bytes.</a:t>
            </a:r>
            <a:endParaRPr dirty="0"/>
          </a:p>
        </p:txBody>
      </p:sp>
      <p:sp>
        <p:nvSpPr>
          <p:cNvPr id="696" name="Google Shape;696;g3eca8ee7000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eca8ee7000_0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We’ll show you a demo of using Wireshark to follow the TCP connection for this request. We request generate_204 and The server returns 204, with no response body</a:t>
            </a:r>
            <a:endParaRPr dirty="0"/>
          </a:p>
        </p:txBody>
      </p:sp>
      <p:sp>
        <p:nvSpPr>
          <p:cNvPr id="704" name="Google Shape;704;g3eca8ee7000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e75bf1bc3d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sequence number identifies the first byte in a segment. The ACK number tells us which byte the receiver expects next.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ACKs are cumulative. If data arrives out of order, the receiver buffers it and keeps acknowledging the first missing byte.</a:t>
            </a:r>
            <a:endParaRPr dirty="0"/>
          </a:p>
        </p:txBody>
      </p:sp>
      <p:sp>
        <p:nvSpPr>
          <p:cNvPr id="711" name="Google Shape;711;g3e75bf1bc3d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eca8ee7000_0_6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Now let’s do some practice. For each packet, work out the sequence and acknowledgement numbers using the action and data size. we’ll go through them one row at a time</a:t>
            </a:r>
            <a:endParaRPr dirty="0"/>
          </a:p>
        </p:txBody>
      </p:sp>
      <p:sp>
        <p:nvSpPr>
          <p:cNvPr id="718" name="Google Shape;718;g3eca8ee7000_0_6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eca8ee7000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g3eca8ee7000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eca8ee7000_0_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g3eca8ee7000_0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eca8ee7000_0_6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g3eca8ee7000_0_6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eca8ee7000_0_6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g3eca8ee7000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eca8ee7000_0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g3eca8ee7000_0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eca8ee7000_0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g3eca8ee7000_0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eca8ee7000_0_6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g3eca8ee7000_0_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eca8ee7000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g3eca8ee7000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1">
  <p:cSld name="Title Slide - 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243888" y="1131888"/>
            <a:ext cx="900000" cy="113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3" descr="2014_logo_only_revers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85188" y="1419225"/>
            <a:ext cx="407987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spcBef>
                <a:spcPts val="200"/>
              </a:spcBef>
              <a:spcAft>
                <a:spcPts val="0"/>
              </a:spcAft>
              <a:buClr>
                <a:srgbClr val="0C2344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0C234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365587" y="1141558"/>
            <a:ext cx="54387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400" b="1" i="0" u="none" strike="noStrike" cap="non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py Slide - 1">
  <p:cSld name="Copy Slide - 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 descr="s4b282c2015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 flipH="1">
            <a:off x="8588375" y="4732338"/>
            <a:ext cx="3048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CA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100" b="1" i="0" u="none" strike="noStrike" cap="non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iazza.com/class/motaz7biau73cg/post/41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google.com/generate_204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CA"/>
              <a:t>TCP Review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C2344"/>
              </a:buClr>
              <a:buSzPts val="1000"/>
              <a:buNone/>
            </a:pPr>
            <a:r>
              <a:rPr lang="en-CA"/>
              <a:t>Slides by Han Kim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65573" y="1141550"/>
            <a:ext cx="47004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CA" sz="3500">
                <a:solidFill>
                  <a:srgbClr val="0077C9"/>
                </a:solidFill>
              </a:rPr>
              <a:t>Tutorial 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 tutorial to help with PA4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Start early! PA4 is </a:t>
            </a:r>
            <a:r>
              <a:rPr lang="en-CA" b="1">
                <a:solidFill>
                  <a:srgbClr val="FF0000"/>
                </a:solidFill>
              </a:rPr>
              <a:t>HARD</a:t>
            </a:r>
            <a:r>
              <a:rPr lang="en-CA"/>
              <a:t>!!!</a:t>
            </a:r>
            <a:endParaRPr/>
          </a:p>
          <a:p>
            <a:pPr marL="9144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You have to implement a transport protocol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Topics for today:</a:t>
            </a:r>
            <a:endParaRPr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Introduction to PA4</a:t>
            </a:r>
            <a:endParaRPr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TCP review</a:t>
            </a:r>
            <a:endParaRPr/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TCP connection setup and shutdown</a:t>
            </a:r>
            <a:endParaRPr/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Sequence and ACK numbers</a:t>
            </a:r>
            <a:endParaRPr/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Retransmission</a:t>
            </a:r>
            <a:endParaRPr/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TCP segments</a:t>
            </a:r>
            <a:endParaRPr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CA"/>
              <a:t>TCP with Wireshark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 rot="10800000" flipH="1">
            <a:off x="3175775" y="2868003"/>
            <a:ext cx="2628000" cy="239700"/>
          </a:xfrm>
          <a:prstGeom prst="frame">
            <a:avLst>
              <a:gd name="adj1" fmla="val 12500"/>
            </a:avLst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85" name="Google Shape;85;p17"/>
          <p:cNvCxnSpPr>
            <a:stCxn id="83" idx="1"/>
            <a:endCxn id="86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" name="Google Shape;87;p17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88" name="Google Shape;88;p17"/>
          <p:cNvCxnSpPr>
            <a:stCxn id="81" idx="3"/>
            <a:endCxn id="89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17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91" name="Google Shape;91;p17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92" name="Google Shape;92;p17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93" name="Google Shape;93;p17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94" name="Google Shape;94;p17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95" name="Google Shape;95;p17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96" name="Google Shape;96;p17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97" name="Google Shape;97;p17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Previous PAs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1" name="Google Shape;101;p17"/>
          <p:cNvSpPr/>
          <p:nvPr/>
        </p:nvSpPr>
        <p:spPr>
          <a:xfrm rot="-964725">
            <a:off x="2715139" y="1910193"/>
            <a:ext cx="920717" cy="820828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7"/>
          <p:cNvSpPr/>
          <p:nvPr/>
        </p:nvSpPr>
        <p:spPr>
          <a:xfrm rot="964725" flipH="1">
            <a:off x="5346809" y="1888093"/>
            <a:ext cx="920717" cy="820828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 rot="10800000" flipH="1">
            <a:off x="3175775" y="2868003"/>
            <a:ext cx="2628000" cy="239700"/>
          </a:xfrm>
          <a:prstGeom prst="frame">
            <a:avLst>
              <a:gd name="adj1" fmla="val 12500"/>
            </a:avLst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13" name="Google Shape;113;p18"/>
          <p:cNvCxnSpPr>
            <a:stCxn id="111" idx="1"/>
            <a:endCxn id="114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" name="Google Shape;115;p18"/>
          <p:cNvSpPr txBox="1"/>
          <p:nvPr/>
        </p:nvSpPr>
        <p:spPr>
          <a:xfrm>
            <a:off x="973850" y="1327875"/>
            <a:ext cx="18801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16" name="Google Shape;116;p18"/>
          <p:cNvCxnSpPr>
            <a:stCxn id="109" idx="3"/>
            <a:endCxn id="117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" name="Google Shape;118;p18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19" name="Google Shape;119;p18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20" name="Google Shape;120;p18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21" name="Google Shape;121;p18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22" name="Google Shape;122;p18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23" name="Google Shape;123;p18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24" name="Google Shape;124;p18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25" name="Google Shape;125;p18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Previous PAs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29" name="Google Shape;129;p18"/>
          <p:cNvSpPr/>
          <p:nvPr/>
        </p:nvSpPr>
        <p:spPr>
          <a:xfrm rot="-964725">
            <a:off x="2715139" y="1910193"/>
            <a:ext cx="920717" cy="820828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30" name="Google Shape;130;p18"/>
          <p:cNvSpPr/>
          <p:nvPr/>
        </p:nvSpPr>
        <p:spPr>
          <a:xfrm rot="964725" flipH="1">
            <a:off x="5346809" y="1888093"/>
            <a:ext cx="920717" cy="820828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235125" y="1012350"/>
            <a:ext cx="4115100" cy="774600"/>
          </a:xfrm>
          <a:prstGeom prst="wedgeRoundRectCallout">
            <a:avLst>
              <a:gd name="adj1" fmla="val -36200"/>
              <a:gd name="adj2" fmla="val 85325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In previous PAs, we focused on implementing the client…</a:t>
            </a:r>
            <a:endParaRPr sz="1800"/>
          </a:p>
        </p:txBody>
      </p:sp>
      <p:sp>
        <p:nvSpPr>
          <p:cNvPr id="132" name="Google Shape;132;p18"/>
          <p:cNvSpPr/>
          <p:nvPr/>
        </p:nvSpPr>
        <p:spPr>
          <a:xfrm>
            <a:off x="4125750" y="2571750"/>
            <a:ext cx="2106000" cy="774600"/>
          </a:xfrm>
          <a:prstGeom prst="wedgeRoundRectCallout">
            <a:avLst>
              <a:gd name="adj1" fmla="val -1174"/>
              <a:gd name="adj2" fmla="val -88591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…or </a:t>
            </a:r>
            <a:r>
              <a:rPr lang="en-CA" sz="1800">
                <a:solidFill>
                  <a:schemeClr val="dk1"/>
                </a:solidFill>
              </a:rPr>
              <a:t>the </a:t>
            </a:r>
            <a:r>
              <a:rPr lang="en-CA" sz="1800"/>
              <a:t>server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 rot="10800000" flipH="1">
            <a:off x="3175775" y="2868003"/>
            <a:ext cx="2628000" cy="239700"/>
          </a:xfrm>
          <a:prstGeom prst="frame">
            <a:avLst>
              <a:gd name="adj1" fmla="val 12500"/>
            </a:avLst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45" name="Google Shape;145;p19"/>
          <p:cNvCxnSpPr>
            <a:stCxn id="142" idx="1"/>
            <a:endCxn id="144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6" name="Google Shape;146;p19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48" name="Google Shape;148;p19"/>
          <p:cNvCxnSpPr>
            <a:stCxn id="140" idx="3"/>
            <a:endCxn id="147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9" name="Google Shape;149;p19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50" name="Google Shape;150;p19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51" name="Google Shape;151;p19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52" name="Google Shape;152;p19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53" name="Google Shape;153;p19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54" name="Google Shape;154;p19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55" name="Google Shape;155;p19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56" name="Google Shape;156;p19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57" name="Google Shape;157;p19"/>
          <p:cNvSpPr/>
          <p:nvPr/>
        </p:nvSpPr>
        <p:spPr>
          <a:xfrm rot="-4358553">
            <a:off x="3900477" y="1276612"/>
            <a:ext cx="1493302" cy="145620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 rot="10800000" flipH="1">
            <a:off x="3175775" y="2868003"/>
            <a:ext cx="2628000" cy="239700"/>
          </a:xfrm>
          <a:prstGeom prst="frame">
            <a:avLst>
              <a:gd name="adj1" fmla="val 12500"/>
            </a:avLst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70" name="Google Shape;170;p20"/>
          <p:cNvCxnSpPr>
            <a:stCxn id="167" idx="1"/>
            <a:endCxn id="169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1" name="Google Shape;171;p20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73" name="Google Shape;173;p20"/>
          <p:cNvCxnSpPr>
            <a:stCxn id="165" idx="3"/>
            <a:endCxn id="172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4" name="Google Shape;174;p20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75" name="Google Shape;175;p20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76" name="Google Shape;176;p20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77" name="Google Shape;177;p20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78" name="Google Shape;178;p20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79" name="Google Shape;179;p20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80" name="Google Shape;180;p20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81" name="Google Shape;181;p20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182" name="Google Shape;182;p20"/>
          <p:cNvSpPr/>
          <p:nvPr/>
        </p:nvSpPr>
        <p:spPr>
          <a:xfrm rot="-4358553">
            <a:off x="3900477" y="1276612"/>
            <a:ext cx="1493302" cy="145620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131725" y="139350"/>
            <a:ext cx="4442100" cy="774600"/>
          </a:xfrm>
          <a:prstGeom prst="wedgeRoundRectCallout">
            <a:avLst>
              <a:gd name="adj1" fmla="val -32888"/>
              <a:gd name="adj2" fmla="val 78721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In PA4, we go one layer deeper and implement a transport protocol…</a:t>
            </a:r>
            <a:endParaRPr sz="1800"/>
          </a:p>
        </p:txBody>
      </p:sp>
      <p:sp>
        <p:nvSpPr>
          <p:cNvPr id="184" name="Google Shape;184;p20"/>
          <p:cNvSpPr/>
          <p:nvPr/>
        </p:nvSpPr>
        <p:spPr>
          <a:xfrm>
            <a:off x="3219325" y="3565525"/>
            <a:ext cx="4442100" cy="774600"/>
          </a:xfrm>
          <a:prstGeom prst="wedgeRoundRectCallout">
            <a:avLst>
              <a:gd name="adj1" fmla="val -25225"/>
              <a:gd name="adj2" fmla="val -89608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…which will resemble TCP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/>
          <p:nvPr/>
        </p:nvSpPr>
        <p:spPr>
          <a:xfrm rot="10800000" flipH="1">
            <a:off x="3175775" y="2868003"/>
            <a:ext cx="2628000" cy="239700"/>
          </a:xfrm>
          <a:prstGeom prst="frame">
            <a:avLst>
              <a:gd name="adj1" fmla="val 12500"/>
            </a:avLst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</a:t>
            </a:r>
            <a:r>
              <a:rPr lang="en-CA">
                <a:solidFill>
                  <a:srgbClr val="FF0000"/>
                </a:solidFill>
              </a:rPr>
              <a:t>Simplified</a:t>
            </a:r>
            <a:r>
              <a:rPr lang="en-CA">
                <a:solidFill>
                  <a:srgbClr val="0077C8"/>
                </a:solidFill>
              </a:rPr>
              <a:t>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97" name="Google Shape;197;p21"/>
          <p:cNvCxnSpPr>
            <a:stCxn id="194" idx="1"/>
            <a:endCxn id="196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p21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00" name="Google Shape;200;p21"/>
          <p:cNvCxnSpPr>
            <a:stCxn id="192" idx="3"/>
            <a:endCxn id="199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01;p21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02" name="Google Shape;202;p21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03" name="Google Shape;203;p21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04" name="Google Shape;204;p21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05" name="Google Shape;205;p21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06" name="Google Shape;206;p21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07" name="Google Shape;207;p21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08" name="Google Shape;208;p21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09" name="Google Shape;209;p21"/>
          <p:cNvSpPr/>
          <p:nvPr/>
        </p:nvSpPr>
        <p:spPr>
          <a:xfrm rot="-4358553">
            <a:off x="3900477" y="1276612"/>
            <a:ext cx="1493302" cy="145620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270450" y="3200175"/>
            <a:ext cx="2603100" cy="15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- Congestion control</a:t>
            </a:r>
            <a:endParaRPr sz="15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- Bidirectional</a:t>
            </a:r>
            <a:endParaRPr sz="15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- Adaptive timeout</a:t>
            </a:r>
            <a:endParaRPr sz="15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- ...</a:t>
            </a:r>
            <a:endParaRPr sz="15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6AA84F"/>
                </a:solidFill>
                <a:latin typeface="Courier"/>
                <a:ea typeface="Courier"/>
                <a:cs typeface="Courier"/>
                <a:sym typeface="Courier"/>
              </a:rPr>
              <a:t>+ Simplicity</a:t>
            </a: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6AA84F"/>
                </a:solidFill>
                <a:latin typeface="Courier"/>
                <a:ea typeface="Courier"/>
                <a:cs typeface="Courier"/>
                <a:sym typeface="Courier"/>
              </a:rPr>
              <a:t>+ Fixed timeout</a:t>
            </a: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/>
          <p:nvPr/>
        </p:nvSpPr>
        <p:spPr>
          <a:xfrm rot="10800000" flipH="1">
            <a:off x="3175775" y="2868003"/>
            <a:ext cx="2628000" cy="239700"/>
          </a:xfrm>
          <a:prstGeom prst="frame">
            <a:avLst>
              <a:gd name="adj1" fmla="val 12500"/>
            </a:avLst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</a:t>
            </a:r>
            <a:r>
              <a:rPr lang="en-CA">
                <a:solidFill>
                  <a:srgbClr val="FF0000"/>
                </a:solidFill>
              </a:rPr>
              <a:t>Simplified</a:t>
            </a:r>
            <a:r>
              <a:rPr lang="en-CA">
                <a:solidFill>
                  <a:srgbClr val="0077C8"/>
                </a:solidFill>
              </a:rPr>
              <a:t>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23" name="Google Shape;223;p22"/>
          <p:cNvCxnSpPr>
            <a:stCxn id="220" idx="1"/>
            <a:endCxn id="222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4" name="Google Shape;224;p22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26" name="Google Shape;226;p22"/>
          <p:cNvCxnSpPr>
            <a:stCxn id="218" idx="3"/>
            <a:endCxn id="225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7" name="Google Shape;227;p22"/>
          <p:cNvSpPr/>
          <p:nvPr/>
        </p:nvSpPr>
        <p:spPr>
          <a:xfrm>
            <a:off x="343217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28" name="Google Shape;228;p22"/>
          <p:cNvSpPr/>
          <p:nvPr/>
        </p:nvSpPr>
        <p:spPr>
          <a:xfrm>
            <a:off x="3707939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29" name="Google Shape;229;p22"/>
          <p:cNvSpPr/>
          <p:nvPr/>
        </p:nvSpPr>
        <p:spPr>
          <a:xfrm>
            <a:off x="3983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30" name="Google Shape;230;p22"/>
          <p:cNvSpPr/>
          <p:nvPr/>
        </p:nvSpPr>
        <p:spPr>
          <a:xfrm>
            <a:off x="4244938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31" name="Google Shape;231;p22"/>
          <p:cNvSpPr/>
          <p:nvPr/>
        </p:nvSpPr>
        <p:spPr>
          <a:xfrm>
            <a:off x="4520702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32" name="Google Shape;232;p22"/>
          <p:cNvSpPr/>
          <p:nvPr/>
        </p:nvSpPr>
        <p:spPr>
          <a:xfrm>
            <a:off x="4796465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33" name="Google Shape;233;p22"/>
          <p:cNvSpPr/>
          <p:nvPr/>
        </p:nvSpPr>
        <p:spPr>
          <a:xfrm>
            <a:off x="5064960" y="29128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34" name="Google Shape;234;p22"/>
          <p:cNvSpPr/>
          <p:nvPr/>
        </p:nvSpPr>
        <p:spPr>
          <a:xfrm>
            <a:off x="5333435" y="2913463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235" name="Google Shape;235;p22"/>
          <p:cNvSpPr/>
          <p:nvPr/>
        </p:nvSpPr>
        <p:spPr>
          <a:xfrm rot="-4358553">
            <a:off x="3900477" y="1276612"/>
            <a:ext cx="1493302" cy="1456202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3270450" y="3200175"/>
            <a:ext cx="2603100" cy="15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- Congestion control</a:t>
            </a:r>
            <a:endParaRPr sz="15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- Bidirectional</a:t>
            </a:r>
            <a:endParaRPr sz="15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- Adaptive timeout</a:t>
            </a:r>
            <a:endParaRPr sz="15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- ...</a:t>
            </a:r>
            <a:endParaRPr sz="15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6AA84F"/>
                </a:solidFill>
                <a:latin typeface="Courier"/>
                <a:ea typeface="Courier"/>
                <a:cs typeface="Courier"/>
                <a:sym typeface="Courier"/>
              </a:rPr>
              <a:t>+ Simplicity</a:t>
            </a: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6AA84F"/>
                </a:solidFill>
                <a:latin typeface="Courier"/>
                <a:ea typeface="Courier"/>
                <a:cs typeface="Courier"/>
                <a:sym typeface="Courier"/>
              </a:rPr>
              <a:t>+ Fixed timeout</a:t>
            </a: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588900" y="-627975"/>
            <a:ext cx="4442100" cy="873000"/>
          </a:xfrm>
          <a:prstGeom prst="wedgeRoundRectCallout">
            <a:avLst>
              <a:gd name="adj1" fmla="val -32888"/>
              <a:gd name="adj2" fmla="val 78721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800"/>
              <a:t>But do not worry too much</a:t>
            </a:r>
            <a:endParaRPr sz="180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It is a simplified version of TCP</a:t>
            </a:r>
            <a:endParaRPr sz="1800"/>
          </a:p>
        </p:txBody>
      </p:sp>
      <p:sp>
        <p:nvSpPr>
          <p:cNvPr id="238" name="Google Shape;238;p22"/>
          <p:cNvSpPr/>
          <p:nvPr/>
        </p:nvSpPr>
        <p:spPr>
          <a:xfrm>
            <a:off x="5333425" y="4138750"/>
            <a:ext cx="3676800" cy="510900"/>
          </a:xfrm>
          <a:prstGeom prst="wedgeRoundRectCallout">
            <a:avLst>
              <a:gd name="adj1" fmla="val -47886"/>
              <a:gd name="adj2" fmla="val -138285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Many TCP features are removed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49" name="Google Shape;249;p23"/>
          <p:cNvCxnSpPr>
            <a:stCxn id="247" idx="1"/>
            <a:endCxn id="248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0" name="Google Shape;250;p23"/>
          <p:cNvCxnSpPr>
            <a:stCxn id="245" idx="3"/>
            <a:endCxn id="251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1" name="Google Shape;251;p23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66" name="Google Shape;266;p24"/>
          <p:cNvCxnSpPr>
            <a:stCxn id="264" idx="1"/>
            <a:endCxn id="265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7" name="Google Shape;267;p24"/>
          <p:cNvCxnSpPr>
            <a:stCxn id="262" idx="3"/>
            <a:endCxn id="268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8" name="Google Shape;268;p24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3642550" y="1797150"/>
            <a:ext cx="4442100" cy="774600"/>
          </a:xfrm>
          <a:prstGeom prst="wedgeRoundRectCallout">
            <a:avLst>
              <a:gd name="adj1" fmla="val -32888"/>
              <a:gd name="adj2" fmla="val 78721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800"/>
              <a:t>This is what we have at the beginning</a:t>
            </a:r>
            <a:endParaRPr sz="180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The protocol is not implemented yet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84" name="Google Shape;284;p25"/>
          <p:cNvCxnSpPr>
            <a:stCxn id="282" idx="1"/>
            <a:endCxn id="283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5" name="Google Shape;285;p25"/>
          <p:cNvCxnSpPr>
            <a:stCxn id="280" idx="3"/>
            <a:endCxn id="286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6" name="Google Shape;286;p25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91" name="Google Shape;291;p25"/>
          <p:cNvSpPr/>
          <p:nvPr/>
        </p:nvSpPr>
        <p:spPr>
          <a:xfrm rot="-964725">
            <a:off x="2715139" y="1910193"/>
            <a:ext cx="920717" cy="820828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02" name="Google Shape;302;p26"/>
          <p:cNvCxnSpPr>
            <a:stCxn id="300" idx="1"/>
            <a:endCxn id="301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3" name="Google Shape;303;p26"/>
          <p:cNvCxnSpPr>
            <a:stCxn id="298" idx="3"/>
            <a:endCxn id="304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4" name="Google Shape;304;p26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8" name="Google Shape;308;p26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09" name="Google Shape;309;p26"/>
          <p:cNvSpPr/>
          <p:nvPr/>
        </p:nvSpPr>
        <p:spPr>
          <a:xfrm rot="-964725">
            <a:off x="2715139" y="1910193"/>
            <a:ext cx="920717" cy="820828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3731550" y="2736000"/>
            <a:ext cx="4680300" cy="760200"/>
          </a:xfrm>
          <a:prstGeom prst="wedgeRoundRectCallout">
            <a:avLst>
              <a:gd name="adj1" fmla="val -49651"/>
              <a:gd name="adj2" fmla="val -104989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dirty="0"/>
              <a:t>The protocol logic lives inside the sender, so the actual implementation happens here</a:t>
            </a:r>
            <a:endParaRPr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318" name="Google Shape;318;p2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7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21" name="Google Shape;321;p27"/>
          <p:cNvCxnSpPr>
            <a:stCxn id="319" idx="1"/>
            <a:endCxn id="320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2" name="Google Shape;322;p27"/>
          <p:cNvCxnSpPr>
            <a:stCxn id="317" idx="3"/>
            <a:endCxn id="323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4" name="Google Shape;324;p27"/>
          <p:cNvSpPr/>
          <p:nvPr/>
        </p:nvSpPr>
        <p:spPr>
          <a:xfrm>
            <a:off x="4396102" y="271122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25" name="Google Shape;325;p27"/>
          <p:cNvCxnSpPr>
            <a:stCxn id="323" idx="6"/>
            <a:endCxn id="324" idx="4"/>
          </p:cNvCxnSpPr>
          <p:nvPr/>
        </p:nvCxnSpPr>
        <p:spPr>
          <a:xfrm rot="10800000" flipH="1">
            <a:off x="3295354" y="2785975"/>
            <a:ext cx="1100700" cy="2025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7"/>
          <p:cNvCxnSpPr>
            <a:endCxn id="324" idx="0"/>
          </p:cNvCxnSpPr>
          <p:nvPr/>
        </p:nvCxnSpPr>
        <p:spPr>
          <a:xfrm rot="5400000">
            <a:off x="3800302" y="844925"/>
            <a:ext cx="2750700" cy="1131300"/>
          </a:xfrm>
          <a:prstGeom prst="curvedConnector2">
            <a:avLst/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23" name="Google Shape;323;p2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4079852" y="3123850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28" name="Google Shape;328;p27"/>
          <p:cNvCxnSpPr>
            <a:stCxn id="323" idx="6"/>
            <a:endCxn id="327" idx="4"/>
          </p:cNvCxnSpPr>
          <p:nvPr/>
        </p:nvCxnSpPr>
        <p:spPr>
          <a:xfrm>
            <a:off x="3295354" y="2988475"/>
            <a:ext cx="784500" cy="2100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29" name="Google Shape;329;p27"/>
          <p:cNvCxnSpPr>
            <a:stCxn id="320" idx="2"/>
            <a:endCxn id="327" idx="0"/>
          </p:cNvCxnSpPr>
          <p:nvPr/>
        </p:nvCxnSpPr>
        <p:spPr>
          <a:xfrm flipH="1">
            <a:off x="4293654" y="2988475"/>
            <a:ext cx="1390500" cy="2100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30" name="Google Shape;330;p27"/>
          <p:cNvSpPr/>
          <p:nvPr/>
        </p:nvSpPr>
        <p:spPr>
          <a:xfrm>
            <a:off x="4636077" y="377377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31" name="Google Shape;331;p27"/>
          <p:cNvCxnSpPr>
            <a:stCxn id="332" idx="6"/>
            <a:endCxn id="330" idx="4"/>
          </p:cNvCxnSpPr>
          <p:nvPr/>
        </p:nvCxnSpPr>
        <p:spPr>
          <a:xfrm>
            <a:off x="3295354" y="2988475"/>
            <a:ext cx="1340700" cy="8601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33" name="Google Shape;333;p27"/>
          <p:cNvCxnSpPr>
            <a:stCxn id="334" idx="2"/>
            <a:endCxn id="330" idx="0"/>
          </p:cNvCxnSpPr>
          <p:nvPr/>
        </p:nvCxnSpPr>
        <p:spPr>
          <a:xfrm flipH="1">
            <a:off x="4849854" y="2988475"/>
            <a:ext cx="834300" cy="860100"/>
          </a:xfrm>
          <a:prstGeom prst="curvedConnector3">
            <a:avLst>
              <a:gd name="adj1" fmla="val 49993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35" name="Google Shape;335;p27"/>
          <p:cNvSpPr/>
          <p:nvPr/>
        </p:nvSpPr>
        <p:spPr>
          <a:xfrm>
            <a:off x="3864777" y="20596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36" name="Google Shape;336;p27"/>
          <p:cNvCxnSpPr>
            <a:stCxn id="332" idx="6"/>
            <a:endCxn id="335" idx="4"/>
          </p:cNvCxnSpPr>
          <p:nvPr/>
        </p:nvCxnSpPr>
        <p:spPr>
          <a:xfrm rot="10800000" flipH="1">
            <a:off x="3295354" y="2134375"/>
            <a:ext cx="569400" cy="8541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27"/>
          <p:cNvCxnSpPr>
            <a:stCxn id="334" idx="2"/>
            <a:endCxn id="335" idx="0"/>
          </p:cNvCxnSpPr>
          <p:nvPr/>
        </p:nvCxnSpPr>
        <p:spPr>
          <a:xfrm rot="10800000">
            <a:off x="4078554" y="2134375"/>
            <a:ext cx="1605600" cy="8541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34" name="Google Shape;334;p2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38" name="Google Shape;338;p27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39" name="Google Shape;339;p27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347" name="Google Shape;347;p28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8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50" name="Google Shape;350;p28"/>
          <p:cNvCxnSpPr>
            <a:stCxn id="348" idx="1"/>
            <a:endCxn id="349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1" name="Google Shape;351;p28"/>
          <p:cNvCxnSpPr>
            <a:stCxn id="346" idx="3"/>
            <a:endCxn id="352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3" name="Google Shape;353;p28"/>
          <p:cNvSpPr/>
          <p:nvPr/>
        </p:nvSpPr>
        <p:spPr>
          <a:xfrm>
            <a:off x="4396102" y="271122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54" name="Google Shape;354;p28"/>
          <p:cNvCxnSpPr>
            <a:stCxn id="352" idx="6"/>
            <a:endCxn id="353" idx="4"/>
          </p:cNvCxnSpPr>
          <p:nvPr/>
        </p:nvCxnSpPr>
        <p:spPr>
          <a:xfrm rot="10800000" flipH="1">
            <a:off x="3295354" y="2785975"/>
            <a:ext cx="1100700" cy="2025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28"/>
          <p:cNvCxnSpPr>
            <a:endCxn id="353" idx="0"/>
          </p:cNvCxnSpPr>
          <p:nvPr/>
        </p:nvCxnSpPr>
        <p:spPr>
          <a:xfrm rot="5400000">
            <a:off x="3800302" y="844925"/>
            <a:ext cx="2750700" cy="1131300"/>
          </a:xfrm>
          <a:prstGeom prst="curvedConnector2">
            <a:avLst/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52" name="Google Shape;352;p2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4079852" y="3123850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57" name="Google Shape;357;p28"/>
          <p:cNvCxnSpPr>
            <a:stCxn id="352" idx="6"/>
            <a:endCxn id="356" idx="4"/>
          </p:cNvCxnSpPr>
          <p:nvPr/>
        </p:nvCxnSpPr>
        <p:spPr>
          <a:xfrm>
            <a:off x="3295354" y="2988475"/>
            <a:ext cx="784500" cy="2100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58" name="Google Shape;358;p28"/>
          <p:cNvCxnSpPr>
            <a:stCxn id="349" idx="2"/>
            <a:endCxn id="356" idx="0"/>
          </p:cNvCxnSpPr>
          <p:nvPr/>
        </p:nvCxnSpPr>
        <p:spPr>
          <a:xfrm flipH="1">
            <a:off x="4293654" y="2988475"/>
            <a:ext cx="1390500" cy="2100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59" name="Google Shape;359;p28"/>
          <p:cNvSpPr/>
          <p:nvPr/>
        </p:nvSpPr>
        <p:spPr>
          <a:xfrm>
            <a:off x="4636077" y="377377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60" name="Google Shape;360;p28"/>
          <p:cNvCxnSpPr>
            <a:stCxn id="361" idx="6"/>
            <a:endCxn id="359" idx="4"/>
          </p:cNvCxnSpPr>
          <p:nvPr/>
        </p:nvCxnSpPr>
        <p:spPr>
          <a:xfrm>
            <a:off x="3295354" y="2988475"/>
            <a:ext cx="1340700" cy="8601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28"/>
          <p:cNvCxnSpPr>
            <a:stCxn id="363" idx="2"/>
            <a:endCxn id="359" idx="0"/>
          </p:cNvCxnSpPr>
          <p:nvPr/>
        </p:nvCxnSpPr>
        <p:spPr>
          <a:xfrm flipH="1">
            <a:off x="4849854" y="2988475"/>
            <a:ext cx="834300" cy="860100"/>
          </a:xfrm>
          <a:prstGeom prst="curvedConnector3">
            <a:avLst>
              <a:gd name="adj1" fmla="val 49993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64" name="Google Shape;364;p28"/>
          <p:cNvSpPr/>
          <p:nvPr/>
        </p:nvSpPr>
        <p:spPr>
          <a:xfrm>
            <a:off x="3864777" y="20596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65" name="Google Shape;365;p28"/>
          <p:cNvCxnSpPr>
            <a:stCxn id="361" idx="6"/>
            <a:endCxn id="364" idx="4"/>
          </p:cNvCxnSpPr>
          <p:nvPr/>
        </p:nvCxnSpPr>
        <p:spPr>
          <a:xfrm rot="10800000" flipH="1">
            <a:off x="3295354" y="2134375"/>
            <a:ext cx="569400" cy="8541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28"/>
          <p:cNvCxnSpPr>
            <a:stCxn id="363" idx="2"/>
            <a:endCxn id="364" idx="0"/>
          </p:cNvCxnSpPr>
          <p:nvPr/>
        </p:nvCxnSpPr>
        <p:spPr>
          <a:xfrm rot="10800000">
            <a:off x="4078554" y="2134375"/>
            <a:ext cx="1605600" cy="8541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63" name="Google Shape;363;p2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67" name="Google Shape;367;p28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68" name="Google Shape;368;p28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2086775" y="4300500"/>
            <a:ext cx="4680300" cy="531000"/>
          </a:xfrm>
          <a:prstGeom prst="wedgeRoundRectCallout">
            <a:avLst>
              <a:gd name="adj1" fmla="val -9362"/>
              <a:gd name="adj2" fmla="val -144143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dirty="0"/>
              <a:t>UDP is used as the base for building STCP</a:t>
            </a:r>
            <a:endParaRPr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9"/>
          <p:cNvSpPr/>
          <p:nvPr/>
        </p:nvSpPr>
        <p:spPr>
          <a:xfrm>
            <a:off x="3188425" y="1871400"/>
            <a:ext cx="2605200" cy="2232900"/>
          </a:xfrm>
          <a:prstGeom prst="hexagon">
            <a:avLst>
              <a:gd name="adj" fmla="val 22963"/>
              <a:gd name="vf" fmla="val 115470"/>
            </a:avLst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9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9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378" name="Google Shape;378;p29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9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81" name="Google Shape;381;p29"/>
          <p:cNvCxnSpPr>
            <a:stCxn id="379" idx="1"/>
            <a:endCxn id="380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" name="Google Shape;382;p29"/>
          <p:cNvCxnSpPr>
            <a:stCxn id="377" idx="3"/>
            <a:endCxn id="383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4" name="Google Shape;384;p29"/>
          <p:cNvSpPr/>
          <p:nvPr/>
        </p:nvSpPr>
        <p:spPr>
          <a:xfrm>
            <a:off x="4396102" y="271122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85" name="Google Shape;385;p29"/>
          <p:cNvCxnSpPr>
            <a:stCxn id="383" idx="6"/>
            <a:endCxn id="384" idx="4"/>
          </p:cNvCxnSpPr>
          <p:nvPr/>
        </p:nvCxnSpPr>
        <p:spPr>
          <a:xfrm rot="10800000" flipH="1">
            <a:off x="3295354" y="2785975"/>
            <a:ext cx="1100700" cy="2025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86" name="Google Shape;386;p29"/>
          <p:cNvCxnSpPr>
            <a:endCxn id="384" idx="0"/>
          </p:cNvCxnSpPr>
          <p:nvPr/>
        </p:nvCxnSpPr>
        <p:spPr>
          <a:xfrm rot="5400000">
            <a:off x="3800302" y="844925"/>
            <a:ext cx="2750700" cy="1131300"/>
          </a:xfrm>
          <a:prstGeom prst="curvedConnector2">
            <a:avLst/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83" name="Google Shape;383;p29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4079852" y="3123850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88" name="Google Shape;388;p29"/>
          <p:cNvCxnSpPr>
            <a:stCxn id="383" idx="6"/>
            <a:endCxn id="387" idx="4"/>
          </p:cNvCxnSpPr>
          <p:nvPr/>
        </p:nvCxnSpPr>
        <p:spPr>
          <a:xfrm>
            <a:off x="3295354" y="2988475"/>
            <a:ext cx="784500" cy="2100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29"/>
          <p:cNvCxnSpPr>
            <a:stCxn id="380" idx="2"/>
            <a:endCxn id="387" idx="0"/>
          </p:cNvCxnSpPr>
          <p:nvPr/>
        </p:nvCxnSpPr>
        <p:spPr>
          <a:xfrm flipH="1">
            <a:off x="4293654" y="2988475"/>
            <a:ext cx="1390500" cy="2100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90" name="Google Shape;390;p29"/>
          <p:cNvSpPr/>
          <p:nvPr/>
        </p:nvSpPr>
        <p:spPr>
          <a:xfrm>
            <a:off x="4636077" y="377377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91" name="Google Shape;391;p29"/>
          <p:cNvCxnSpPr>
            <a:stCxn id="392" idx="6"/>
            <a:endCxn id="390" idx="4"/>
          </p:cNvCxnSpPr>
          <p:nvPr/>
        </p:nvCxnSpPr>
        <p:spPr>
          <a:xfrm>
            <a:off x="3295354" y="2988475"/>
            <a:ext cx="1340700" cy="8601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93" name="Google Shape;393;p29"/>
          <p:cNvCxnSpPr>
            <a:stCxn id="394" idx="2"/>
            <a:endCxn id="390" idx="0"/>
          </p:cNvCxnSpPr>
          <p:nvPr/>
        </p:nvCxnSpPr>
        <p:spPr>
          <a:xfrm flipH="1">
            <a:off x="4849854" y="2988475"/>
            <a:ext cx="834300" cy="860100"/>
          </a:xfrm>
          <a:prstGeom prst="curvedConnector3">
            <a:avLst>
              <a:gd name="adj1" fmla="val 49993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95" name="Google Shape;395;p29"/>
          <p:cNvSpPr/>
          <p:nvPr/>
        </p:nvSpPr>
        <p:spPr>
          <a:xfrm>
            <a:off x="3864777" y="20596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396" name="Google Shape;396;p29"/>
          <p:cNvCxnSpPr>
            <a:stCxn id="392" idx="6"/>
            <a:endCxn id="395" idx="4"/>
          </p:cNvCxnSpPr>
          <p:nvPr/>
        </p:nvCxnSpPr>
        <p:spPr>
          <a:xfrm rot="10800000" flipH="1">
            <a:off x="3295354" y="2134375"/>
            <a:ext cx="569400" cy="8541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29"/>
          <p:cNvCxnSpPr>
            <a:stCxn id="394" idx="2"/>
            <a:endCxn id="395" idx="0"/>
          </p:cNvCxnSpPr>
          <p:nvPr/>
        </p:nvCxnSpPr>
        <p:spPr>
          <a:xfrm rot="10800000">
            <a:off x="4078554" y="2134375"/>
            <a:ext cx="1605600" cy="8541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394" name="Google Shape;394;p2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8" name="Google Shape;398;p29"/>
          <p:cNvSpPr txBox="1"/>
          <p:nvPr/>
        </p:nvSpPr>
        <p:spPr>
          <a:xfrm>
            <a:off x="3270450" y="4175032"/>
            <a:ext cx="297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6AA84F"/>
                </a:solidFill>
                <a:latin typeface="Courier"/>
                <a:ea typeface="Courier"/>
                <a:cs typeface="Courier"/>
                <a:sym typeface="Courier"/>
              </a:rPr>
              <a:t>+ Connection setup (SYN)</a:t>
            </a:r>
            <a:endParaRPr sz="1500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"/>
          <p:cNvSpPr/>
          <p:nvPr/>
        </p:nvSpPr>
        <p:spPr>
          <a:xfrm>
            <a:off x="3188425" y="1871400"/>
            <a:ext cx="2605200" cy="2232900"/>
          </a:xfrm>
          <a:prstGeom prst="hexagon">
            <a:avLst>
              <a:gd name="adj" fmla="val 22963"/>
              <a:gd name="vf" fmla="val 115470"/>
            </a:avLst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0"/>
          <p:cNvSpPr txBox="1"/>
          <p:nvPr/>
        </p:nvSpPr>
        <p:spPr>
          <a:xfrm>
            <a:off x="3646650" y="2068350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1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407" name="Google Shape;407;p30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410" name="Google Shape;410;p30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13" name="Google Shape;413;p30"/>
          <p:cNvCxnSpPr>
            <a:stCxn id="411" idx="1"/>
            <a:endCxn id="412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4" name="Google Shape;414;p30"/>
          <p:cNvCxnSpPr>
            <a:stCxn id="409" idx="3"/>
            <a:endCxn id="415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6" name="Google Shape;416;p30"/>
          <p:cNvCxnSpPr>
            <a:stCxn id="415" idx="6"/>
            <a:endCxn id="417" idx="4"/>
          </p:cNvCxnSpPr>
          <p:nvPr/>
        </p:nvCxnSpPr>
        <p:spPr>
          <a:xfrm rot="10800000" flipH="1">
            <a:off x="3295354" y="2785975"/>
            <a:ext cx="1100700" cy="2025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18" name="Google Shape;418;p30"/>
          <p:cNvCxnSpPr>
            <a:endCxn id="417" idx="0"/>
          </p:cNvCxnSpPr>
          <p:nvPr/>
        </p:nvCxnSpPr>
        <p:spPr>
          <a:xfrm rot="5400000">
            <a:off x="3800302" y="844925"/>
            <a:ext cx="2750700" cy="1131300"/>
          </a:xfrm>
          <a:prstGeom prst="curvedConnector2">
            <a:avLst/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415" name="Google Shape;415;p3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19" name="Google Shape;419;p30"/>
          <p:cNvCxnSpPr>
            <a:stCxn id="415" idx="6"/>
            <a:endCxn id="420" idx="4"/>
          </p:cNvCxnSpPr>
          <p:nvPr/>
        </p:nvCxnSpPr>
        <p:spPr>
          <a:xfrm>
            <a:off x="3295354" y="2988475"/>
            <a:ext cx="784500" cy="2100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21" name="Google Shape;421;p30"/>
          <p:cNvCxnSpPr>
            <a:stCxn id="412" idx="2"/>
            <a:endCxn id="420" idx="0"/>
          </p:cNvCxnSpPr>
          <p:nvPr/>
        </p:nvCxnSpPr>
        <p:spPr>
          <a:xfrm flipH="1">
            <a:off x="4293654" y="2988475"/>
            <a:ext cx="1390500" cy="2100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30"/>
          <p:cNvCxnSpPr>
            <a:stCxn id="423" idx="6"/>
            <a:endCxn id="424" idx="4"/>
          </p:cNvCxnSpPr>
          <p:nvPr/>
        </p:nvCxnSpPr>
        <p:spPr>
          <a:xfrm>
            <a:off x="3295354" y="2988475"/>
            <a:ext cx="1340700" cy="8601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25" name="Google Shape;425;p30"/>
          <p:cNvCxnSpPr>
            <a:stCxn id="426" idx="2"/>
            <a:endCxn id="424" idx="0"/>
          </p:cNvCxnSpPr>
          <p:nvPr/>
        </p:nvCxnSpPr>
        <p:spPr>
          <a:xfrm flipH="1">
            <a:off x="4849854" y="2988475"/>
            <a:ext cx="834300" cy="860100"/>
          </a:xfrm>
          <a:prstGeom prst="curvedConnector3">
            <a:avLst>
              <a:gd name="adj1" fmla="val 49993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427" name="Google Shape;427;p30"/>
          <p:cNvSpPr/>
          <p:nvPr/>
        </p:nvSpPr>
        <p:spPr>
          <a:xfrm>
            <a:off x="3864777" y="20596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428" name="Google Shape;428;p30"/>
          <p:cNvCxnSpPr>
            <a:stCxn id="423" idx="6"/>
            <a:endCxn id="427" idx="4"/>
          </p:cNvCxnSpPr>
          <p:nvPr/>
        </p:nvCxnSpPr>
        <p:spPr>
          <a:xfrm rot="10800000" flipH="1">
            <a:off x="3295354" y="2134375"/>
            <a:ext cx="569400" cy="8541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29" name="Google Shape;429;p30"/>
          <p:cNvCxnSpPr>
            <a:stCxn id="426" idx="2"/>
            <a:endCxn id="427" idx="0"/>
          </p:cNvCxnSpPr>
          <p:nvPr/>
        </p:nvCxnSpPr>
        <p:spPr>
          <a:xfrm rot="10800000">
            <a:off x="4078554" y="2134375"/>
            <a:ext cx="1605600" cy="8541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417" name="Google Shape;417;p30"/>
          <p:cNvSpPr/>
          <p:nvPr/>
        </p:nvSpPr>
        <p:spPr>
          <a:xfrm>
            <a:off x="4396102" y="271122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420" name="Google Shape;420;p30"/>
          <p:cNvSpPr/>
          <p:nvPr/>
        </p:nvSpPr>
        <p:spPr>
          <a:xfrm>
            <a:off x="4079852" y="3123850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424" name="Google Shape;424;p30"/>
          <p:cNvSpPr/>
          <p:nvPr/>
        </p:nvSpPr>
        <p:spPr>
          <a:xfrm>
            <a:off x="4636077" y="377377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430" name="Google Shape;430;p30"/>
          <p:cNvSpPr txBox="1"/>
          <p:nvPr/>
        </p:nvSpPr>
        <p:spPr>
          <a:xfrm>
            <a:off x="3867750" y="3128658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2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431" name="Google Shape;431;p30"/>
          <p:cNvSpPr txBox="1"/>
          <p:nvPr/>
        </p:nvSpPr>
        <p:spPr>
          <a:xfrm>
            <a:off x="4184000" y="2716033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3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432" name="Google Shape;432;p30"/>
          <p:cNvSpPr txBox="1"/>
          <p:nvPr/>
        </p:nvSpPr>
        <p:spPr>
          <a:xfrm>
            <a:off x="4423975" y="3778583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4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426" name="Google Shape;426;p3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23" name="Google Shape;423;p30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33" name="Google Shape;433;p30"/>
          <p:cNvSpPr txBox="1"/>
          <p:nvPr/>
        </p:nvSpPr>
        <p:spPr>
          <a:xfrm>
            <a:off x="3270450" y="4175020"/>
            <a:ext cx="2970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6AA84F"/>
                </a:solidFill>
                <a:latin typeface="Courier"/>
                <a:ea typeface="Courier"/>
                <a:cs typeface="Courier"/>
                <a:sym typeface="Courier"/>
              </a:rPr>
              <a:t>+ Connection setup (SYN)</a:t>
            </a: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6AA84F"/>
                </a:solidFill>
                <a:latin typeface="Courier"/>
                <a:ea typeface="Courier"/>
                <a:cs typeface="Courier"/>
                <a:sym typeface="Courier"/>
              </a:rPr>
              <a:t>+ Sequence number</a:t>
            </a: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34" name="Google Shape;434;p30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35" name="Google Shape;435;p30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1"/>
          <p:cNvSpPr/>
          <p:nvPr/>
        </p:nvSpPr>
        <p:spPr>
          <a:xfrm>
            <a:off x="3188425" y="1871400"/>
            <a:ext cx="2605200" cy="2232900"/>
          </a:xfrm>
          <a:prstGeom prst="hexagon">
            <a:avLst>
              <a:gd name="adj" fmla="val 22963"/>
              <a:gd name="vf" fmla="val 115470"/>
            </a:avLst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31"/>
          <p:cNvSpPr txBox="1"/>
          <p:nvPr/>
        </p:nvSpPr>
        <p:spPr>
          <a:xfrm>
            <a:off x="3646650" y="2068350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1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442" name="Google Shape;442;p31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445" name="Google Shape;445;p31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1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48" name="Google Shape;448;p31"/>
          <p:cNvCxnSpPr>
            <a:stCxn id="446" idx="1"/>
            <a:endCxn id="447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9" name="Google Shape;449;p31"/>
          <p:cNvCxnSpPr>
            <a:stCxn id="444" idx="3"/>
            <a:endCxn id="450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" name="Google Shape;451;p31"/>
          <p:cNvCxnSpPr>
            <a:stCxn id="450" idx="6"/>
            <a:endCxn id="452" idx="4"/>
          </p:cNvCxnSpPr>
          <p:nvPr/>
        </p:nvCxnSpPr>
        <p:spPr>
          <a:xfrm rot="10800000" flipH="1">
            <a:off x="3295354" y="2785975"/>
            <a:ext cx="1100700" cy="2025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31"/>
          <p:cNvCxnSpPr>
            <a:endCxn id="452" idx="0"/>
          </p:cNvCxnSpPr>
          <p:nvPr/>
        </p:nvCxnSpPr>
        <p:spPr>
          <a:xfrm rot="5400000">
            <a:off x="3800302" y="844925"/>
            <a:ext cx="2750700" cy="1131300"/>
          </a:xfrm>
          <a:prstGeom prst="curvedConnector2">
            <a:avLst/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450" name="Google Shape;450;p31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54" name="Google Shape;454;p31"/>
          <p:cNvCxnSpPr>
            <a:stCxn id="450" idx="6"/>
            <a:endCxn id="455" idx="4"/>
          </p:cNvCxnSpPr>
          <p:nvPr/>
        </p:nvCxnSpPr>
        <p:spPr>
          <a:xfrm>
            <a:off x="3295354" y="2988475"/>
            <a:ext cx="784500" cy="2100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31"/>
          <p:cNvCxnSpPr>
            <a:stCxn id="447" idx="2"/>
            <a:endCxn id="455" idx="0"/>
          </p:cNvCxnSpPr>
          <p:nvPr/>
        </p:nvCxnSpPr>
        <p:spPr>
          <a:xfrm flipH="1">
            <a:off x="4293654" y="2988475"/>
            <a:ext cx="1390500" cy="2100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31"/>
          <p:cNvCxnSpPr>
            <a:stCxn id="458" idx="6"/>
            <a:endCxn id="459" idx="4"/>
          </p:cNvCxnSpPr>
          <p:nvPr/>
        </p:nvCxnSpPr>
        <p:spPr>
          <a:xfrm>
            <a:off x="3295354" y="2988475"/>
            <a:ext cx="1340700" cy="8601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460" name="Google Shape;460;p31"/>
          <p:cNvSpPr txBox="1"/>
          <p:nvPr/>
        </p:nvSpPr>
        <p:spPr>
          <a:xfrm>
            <a:off x="4184000" y="2716033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3</a:t>
            </a:r>
            <a:endParaRPr sz="100" b="1">
              <a:solidFill>
                <a:srgbClr val="FF9900"/>
              </a:solidFill>
            </a:endParaRPr>
          </a:p>
        </p:txBody>
      </p:sp>
      <p:cxnSp>
        <p:nvCxnSpPr>
          <p:cNvPr id="461" name="Google Shape;461;p31"/>
          <p:cNvCxnSpPr>
            <a:stCxn id="462" idx="2"/>
            <a:endCxn id="459" idx="0"/>
          </p:cNvCxnSpPr>
          <p:nvPr/>
        </p:nvCxnSpPr>
        <p:spPr>
          <a:xfrm flipH="1">
            <a:off x="4849854" y="2988475"/>
            <a:ext cx="834300" cy="860100"/>
          </a:xfrm>
          <a:prstGeom prst="curvedConnector3">
            <a:avLst>
              <a:gd name="adj1" fmla="val 49993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463" name="Google Shape;463;p31"/>
          <p:cNvSpPr/>
          <p:nvPr/>
        </p:nvSpPr>
        <p:spPr>
          <a:xfrm>
            <a:off x="3864777" y="2059638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cxnSp>
        <p:nvCxnSpPr>
          <p:cNvPr id="464" name="Google Shape;464;p31"/>
          <p:cNvCxnSpPr>
            <a:stCxn id="458" idx="6"/>
            <a:endCxn id="463" idx="4"/>
          </p:cNvCxnSpPr>
          <p:nvPr/>
        </p:nvCxnSpPr>
        <p:spPr>
          <a:xfrm rot="10800000" flipH="1">
            <a:off x="3295354" y="2134375"/>
            <a:ext cx="569400" cy="8541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31"/>
          <p:cNvCxnSpPr>
            <a:stCxn id="462" idx="2"/>
            <a:endCxn id="463" idx="0"/>
          </p:cNvCxnSpPr>
          <p:nvPr/>
        </p:nvCxnSpPr>
        <p:spPr>
          <a:xfrm rot="10800000">
            <a:off x="4078554" y="2134375"/>
            <a:ext cx="1605600" cy="8541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6FA8DC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452" name="Google Shape;452;p31"/>
          <p:cNvSpPr/>
          <p:nvPr/>
        </p:nvSpPr>
        <p:spPr>
          <a:xfrm>
            <a:off x="4396102" y="271122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455" name="Google Shape;455;p31"/>
          <p:cNvSpPr/>
          <p:nvPr/>
        </p:nvSpPr>
        <p:spPr>
          <a:xfrm>
            <a:off x="4079852" y="3123850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459" name="Google Shape;459;p31"/>
          <p:cNvSpPr/>
          <p:nvPr/>
        </p:nvSpPr>
        <p:spPr>
          <a:xfrm>
            <a:off x="4636077" y="377377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466" name="Google Shape;466;p31"/>
          <p:cNvSpPr txBox="1"/>
          <p:nvPr/>
        </p:nvSpPr>
        <p:spPr>
          <a:xfrm>
            <a:off x="3867750" y="3128658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2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467" name="Google Shape;467;p31"/>
          <p:cNvSpPr txBox="1"/>
          <p:nvPr/>
        </p:nvSpPr>
        <p:spPr>
          <a:xfrm>
            <a:off x="4423975" y="3778583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4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462" name="Google Shape;462;p31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58" name="Google Shape;458;p31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68" name="Google Shape;468;p31"/>
          <p:cNvSpPr txBox="1"/>
          <p:nvPr/>
        </p:nvSpPr>
        <p:spPr>
          <a:xfrm>
            <a:off x="3270450" y="4175020"/>
            <a:ext cx="2970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6AA84F"/>
                </a:solidFill>
                <a:latin typeface="Courier"/>
                <a:ea typeface="Courier"/>
                <a:cs typeface="Courier"/>
                <a:sym typeface="Courier"/>
              </a:rPr>
              <a:t>+ Connection setup (SYN)</a:t>
            </a: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6AA84F"/>
                </a:solidFill>
                <a:latin typeface="Courier"/>
                <a:ea typeface="Courier"/>
                <a:cs typeface="Courier"/>
                <a:sym typeface="Courier"/>
              </a:rPr>
              <a:t>+ Sequence number</a:t>
            </a: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6AA84F"/>
                </a:solidFill>
                <a:latin typeface="Courier"/>
                <a:ea typeface="Courier"/>
                <a:cs typeface="Courier"/>
                <a:sym typeface="Courier"/>
              </a:rPr>
              <a:t>+ Retransmission</a:t>
            </a:r>
            <a:endParaRPr sz="1500">
              <a:solidFill>
                <a:srgbClr val="6AA84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69" name="Google Shape;469;p31"/>
          <p:cNvCxnSpPr>
            <a:stCxn id="458" idx="6"/>
            <a:endCxn id="470" idx="4"/>
          </p:cNvCxnSpPr>
          <p:nvPr/>
        </p:nvCxnSpPr>
        <p:spPr>
          <a:xfrm>
            <a:off x="3295354" y="2988475"/>
            <a:ext cx="569400" cy="7065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FF00FF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31"/>
          <p:cNvCxnSpPr>
            <a:stCxn id="462" idx="2"/>
            <a:endCxn id="470" idx="0"/>
          </p:cNvCxnSpPr>
          <p:nvPr/>
        </p:nvCxnSpPr>
        <p:spPr>
          <a:xfrm flipH="1">
            <a:off x="4078554" y="2988475"/>
            <a:ext cx="1605600" cy="706500"/>
          </a:xfrm>
          <a:prstGeom prst="curvedConnector3">
            <a:avLst>
              <a:gd name="adj1" fmla="val 49996"/>
            </a:avLst>
          </a:prstGeom>
          <a:noFill/>
          <a:ln w="19050" cap="flat" cmpd="sng">
            <a:solidFill>
              <a:srgbClr val="FF00FF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472" name="Google Shape;472;p31"/>
          <p:cNvSpPr txBox="1"/>
          <p:nvPr/>
        </p:nvSpPr>
        <p:spPr>
          <a:xfrm>
            <a:off x="3652675" y="3624983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00FF"/>
                </a:solidFill>
              </a:rPr>
              <a:t>3</a:t>
            </a:r>
            <a:endParaRPr sz="100" b="1">
              <a:solidFill>
                <a:srgbClr val="FF00FF"/>
              </a:solidFill>
            </a:endParaRPr>
          </a:p>
        </p:txBody>
      </p:sp>
      <p:sp>
        <p:nvSpPr>
          <p:cNvPr id="470" name="Google Shape;470;p31"/>
          <p:cNvSpPr/>
          <p:nvPr/>
        </p:nvSpPr>
        <p:spPr>
          <a:xfrm>
            <a:off x="3864777" y="3620175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473" name="Google Shape;473;p31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74" name="Google Shape;474;p31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2"/>
          <p:cNvSpPr/>
          <p:nvPr/>
        </p:nvSpPr>
        <p:spPr>
          <a:xfrm>
            <a:off x="3188425" y="2761924"/>
            <a:ext cx="2605200" cy="451800"/>
          </a:xfrm>
          <a:prstGeom prst="hexagon">
            <a:avLst>
              <a:gd name="adj" fmla="val 22963"/>
              <a:gd name="vf" fmla="val 115470"/>
            </a:avLst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32"/>
          <p:cNvSpPr txBox="1"/>
          <p:nvPr/>
        </p:nvSpPr>
        <p:spPr>
          <a:xfrm>
            <a:off x="3484900" y="2865537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1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481" name="Google Shape;481;p32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82" name="Google Shape;482;p32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2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484" name="Google Shape;484;p32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2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86" name="Google Shape;486;p32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87" name="Google Shape;487;p32"/>
          <p:cNvCxnSpPr>
            <a:stCxn id="485" idx="1"/>
            <a:endCxn id="486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8" name="Google Shape;488;p32"/>
          <p:cNvCxnSpPr>
            <a:stCxn id="483" idx="3"/>
            <a:endCxn id="489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9" name="Google Shape;489;p32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90" name="Google Shape;490;p32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91" name="Google Shape;491;p32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92" name="Google Shape;492;p32"/>
          <p:cNvSpPr txBox="1"/>
          <p:nvPr/>
        </p:nvSpPr>
        <p:spPr>
          <a:xfrm>
            <a:off x="3942100" y="2865537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2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493" name="Google Shape;493;p32"/>
          <p:cNvSpPr txBox="1"/>
          <p:nvPr/>
        </p:nvSpPr>
        <p:spPr>
          <a:xfrm>
            <a:off x="4399300" y="2865537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3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494" name="Google Shape;494;p32"/>
          <p:cNvSpPr txBox="1"/>
          <p:nvPr/>
        </p:nvSpPr>
        <p:spPr>
          <a:xfrm>
            <a:off x="4856500" y="2865537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4</a:t>
            </a:r>
            <a:endParaRPr sz="100" b="1">
              <a:solidFill>
                <a:srgbClr val="FF9900"/>
              </a:solidFill>
            </a:endParaRPr>
          </a:p>
        </p:txBody>
      </p:sp>
      <p:cxnSp>
        <p:nvCxnSpPr>
          <p:cNvPr id="495" name="Google Shape;495;p32"/>
          <p:cNvCxnSpPr>
            <a:endCxn id="496" idx="4"/>
          </p:cNvCxnSpPr>
          <p:nvPr/>
        </p:nvCxnSpPr>
        <p:spPr>
          <a:xfrm rot="10800000" flipH="1">
            <a:off x="3295327" y="2931524"/>
            <a:ext cx="407700" cy="564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32"/>
          <p:cNvCxnSpPr>
            <a:stCxn id="498" idx="0"/>
            <a:endCxn id="490" idx="2"/>
          </p:cNvCxnSpPr>
          <p:nvPr/>
        </p:nvCxnSpPr>
        <p:spPr>
          <a:xfrm>
            <a:off x="5288527" y="2931524"/>
            <a:ext cx="395700" cy="57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499" name="Google Shape;499;p32"/>
          <p:cNvCxnSpPr>
            <a:stCxn id="496" idx="0"/>
            <a:endCxn id="500" idx="4"/>
          </p:cNvCxnSpPr>
          <p:nvPr/>
        </p:nvCxnSpPr>
        <p:spPr>
          <a:xfrm>
            <a:off x="3916927" y="2931524"/>
            <a:ext cx="2433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501" name="Google Shape;501;p32"/>
          <p:cNvCxnSpPr>
            <a:stCxn id="500" idx="0"/>
            <a:endCxn id="502" idx="4"/>
          </p:cNvCxnSpPr>
          <p:nvPr/>
        </p:nvCxnSpPr>
        <p:spPr>
          <a:xfrm>
            <a:off x="4374127" y="2931524"/>
            <a:ext cx="2433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503" name="Google Shape;503;p32"/>
          <p:cNvCxnSpPr>
            <a:stCxn id="502" idx="0"/>
            <a:endCxn id="498" idx="4"/>
          </p:cNvCxnSpPr>
          <p:nvPr/>
        </p:nvCxnSpPr>
        <p:spPr>
          <a:xfrm>
            <a:off x="4831327" y="2931524"/>
            <a:ext cx="2433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496" name="Google Shape;496;p32"/>
          <p:cNvSpPr/>
          <p:nvPr/>
        </p:nvSpPr>
        <p:spPr>
          <a:xfrm>
            <a:off x="3703027" y="2856824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500" name="Google Shape;500;p32"/>
          <p:cNvSpPr/>
          <p:nvPr/>
        </p:nvSpPr>
        <p:spPr>
          <a:xfrm>
            <a:off x="4160227" y="2856824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502" name="Google Shape;502;p32"/>
          <p:cNvSpPr/>
          <p:nvPr/>
        </p:nvSpPr>
        <p:spPr>
          <a:xfrm>
            <a:off x="4617427" y="2856824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498" name="Google Shape;498;p32"/>
          <p:cNvSpPr/>
          <p:nvPr/>
        </p:nvSpPr>
        <p:spPr>
          <a:xfrm>
            <a:off x="5074627" y="2856824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504" name="Google Shape;504;p32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05" name="Google Shape;505;p32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3"/>
          <p:cNvSpPr/>
          <p:nvPr/>
        </p:nvSpPr>
        <p:spPr>
          <a:xfrm>
            <a:off x="3188425" y="2761924"/>
            <a:ext cx="2605200" cy="451800"/>
          </a:xfrm>
          <a:prstGeom prst="hexagon">
            <a:avLst>
              <a:gd name="adj" fmla="val 22963"/>
              <a:gd name="vf" fmla="val 115470"/>
            </a:avLst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3"/>
          <p:cNvSpPr txBox="1"/>
          <p:nvPr/>
        </p:nvSpPr>
        <p:spPr>
          <a:xfrm>
            <a:off x="3484900" y="2865537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1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512" name="Google Shape;512;p33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PA4: Implement (Simplified) TCP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13" name="Google Shape;513;p33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3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sender</a:t>
            </a:r>
            <a:endParaRPr/>
          </a:p>
        </p:txBody>
      </p:sp>
      <p:sp>
        <p:nvSpPr>
          <p:cNvPr id="515" name="Google Shape;515;p33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3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receiver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17" name="Google Shape;517;p33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18" name="Google Shape;518;p33"/>
          <p:cNvCxnSpPr>
            <a:stCxn id="516" idx="1"/>
            <a:endCxn id="517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9" name="Google Shape;519;p33"/>
          <p:cNvCxnSpPr>
            <a:stCxn id="514" idx="3"/>
            <a:endCxn id="520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0" name="Google Shape;520;p33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21" name="Google Shape;521;p33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22" name="Google Shape;522;p33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CC0000"/>
          </a:solidFill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23" name="Google Shape;523;p33"/>
          <p:cNvSpPr txBox="1"/>
          <p:nvPr/>
        </p:nvSpPr>
        <p:spPr>
          <a:xfrm>
            <a:off x="3942100" y="2865537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2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524" name="Google Shape;524;p33"/>
          <p:cNvSpPr txBox="1"/>
          <p:nvPr/>
        </p:nvSpPr>
        <p:spPr>
          <a:xfrm>
            <a:off x="4399300" y="2865537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3</a:t>
            </a:r>
            <a:endParaRPr sz="100" b="1">
              <a:solidFill>
                <a:srgbClr val="FF9900"/>
              </a:solidFill>
            </a:endParaRPr>
          </a:p>
        </p:txBody>
      </p:sp>
      <p:sp>
        <p:nvSpPr>
          <p:cNvPr id="525" name="Google Shape;525;p33"/>
          <p:cNvSpPr txBox="1"/>
          <p:nvPr/>
        </p:nvSpPr>
        <p:spPr>
          <a:xfrm>
            <a:off x="4856500" y="2865537"/>
            <a:ext cx="6381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1">
                <a:solidFill>
                  <a:srgbClr val="FF9900"/>
                </a:solidFill>
              </a:rPr>
              <a:t>4</a:t>
            </a:r>
            <a:endParaRPr sz="100" b="1">
              <a:solidFill>
                <a:srgbClr val="FF9900"/>
              </a:solidFill>
            </a:endParaRPr>
          </a:p>
        </p:txBody>
      </p:sp>
      <p:cxnSp>
        <p:nvCxnSpPr>
          <p:cNvPr id="526" name="Google Shape;526;p33"/>
          <p:cNvCxnSpPr>
            <a:endCxn id="527" idx="4"/>
          </p:cNvCxnSpPr>
          <p:nvPr/>
        </p:nvCxnSpPr>
        <p:spPr>
          <a:xfrm rot="10800000" flipH="1">
            <a:off x="3295327" y="2931524"/>
            <a:ext cx="407700" cy="564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528" name="Google Shape;528;p33"/>
          <p:cNvCxnSpPr>
            <a:stCxn id="529" idx="0"/>
            <a:endCxn id="521" idx="2"/>
          </p:cNvCxnSpPr>
          <p:nvPr/>
        </p:nvCxnSpPr>
        <p:spPr>
          <a:xfrm>
            <a:off x="5288527" y="2931524"/>
            <a:ext cx="395700" cy="57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530" name="Google Shape;530;p33"/>
          <p:cNvCxnSpPr>
            <a:stCxn id="527" idx="0"/>
            <a:endCxn id="531" idx="4"/>
          </p:cNvCxnSpPr>
          <p:nvPr/>
        </p:nvCxnSpPr>
        <p:spPr>
          <a:xfrm>
            <a:off x="3916927" y="2931524"/>
            <a:ext cx="2433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33"/>
          <p:cNvCxnSpPr>
            <a:stCxn id="531" idx="0"/>
            <a:endCxn id="533" idx="4"/>
          </p:cNvCxnSpPr>
          <p:nvPr/>
        </p:nvCxnSpPr>
        <p:spPr>
          <a:xfrm>
            <a:off x="4374127" y="2931524"/>
            <a:ext cx="2433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534" name="Google Shape;534;p33"/>
          <p:cNvCxnSpPr>
            <a:stCxn id="533" idx="0"/>
            <a:endCxn id="529" idx="4"/>
          </p:cNvCxnSpPr>
          <p:nvPr/>
        </p:nvCxnSpPr>
        <p:spPr>
          <a:xfrm>
            <a:off x="4831327" y="2931524"/>
            <a:ext cx="2433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6D9EEB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527" name="Google Shape;527;p33"/>
          <p:cNvSpPr/>
          <p:nvPr/>
        </p:nvSpPr>
        <p:spPr>
          <a:xfrm>
            <a:off x="3703027" y="2856824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531" name="Google Shape;531;p33"/>
          <p:cNvSpPr/>
          <p:nvPr/>
        </p:nvSpPr>
        <p:spPr>
          <a:xfrm>
            <a:off x="4160227" y="2856824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533" name="Google Shape;533;p33"/>
          <p:cNvSpPr/>
          <p:nvPr/>
        </p:nvSpPr>
        <p:spPr>
          <a:xfrm>
            <a:off x="4617427" y="2856824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529" name="Google Shape;529;p33"/>
          <p:cNvSpPr/>
          <p:nvPr/>
        </p:nvSpPr>
        <p:spPr>
          <a:xfrm>
            <a:off x="5074627" y="2856824"/>
            <a:ext cx="213900" cy="1494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50" tIns="81550" rIns="81550" bIns="81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9"/>
          </a:p>
        </p:txBody>
      </p:sp>
      <p:sp>
        <p:nvSpPr>
          <p:cNvPr id="535" name="Google Shape;535;p33"/>
          <p:cNvSpPr txBox="1"/>
          <p:nvPr/>
        </p:nvSpPr>
        <p:spPr>
          <a:xfrm>
            <a:off x="5871200" y="1327875"/>
            <a:ext cx="2388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36" name="Google Shape;536;p33"/>
          <p:cNvSpPr txBox="1"/>
          <p:nvPr/>
        </p:nvSpPr>
        <p:spPr>
          <a:xfrm>
            <a:off x="1092650" y="1327875"/>
            <a:ext cx="16425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827350" y="2132525"/>
            <a:ext cx="5953200" cy="451800"/>
          </a:xfrm>
          <a:prstGeom prst="wedgeRoundRectCallout">
            <a:avLst>
              <a:gd name="adj1" fmla="val -5366"/>
              <a:gd name="adj2" fmla="val 114315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 dirty="0"/>
              <a:t>At the end, we will have something that resembles TCP</a:t>
            </a:r>
            <a:endParaRPr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4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additional information is sent with the SYN/ACK flags set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FF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Why are the three steps necessary?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43" name="Google Shape;543;p34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Connection Establishment</a:t>
            </a:r>
            <a:endParaRPr sz="1000">
              <a:solidFill>
                <a:srgbClr val="0077C8"/>
              </a:solidFill>
            </a:endParaRPr>
          </a:p>
        </p:txBody>
      </p:sp>
      <p:pic>
        <p:nvPicPr>
          <p:cNvPr id="544" name="Google Shape;54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48" y="1131900"/>
            <a:ext cx="3145046" cy="36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5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additional information is sent with the SYN/ACK flags set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Initial sequence number (ISN)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Why are the three steps necessary?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50" name="Google Shape;550;p35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Connection Establishment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551" name="Google Shape;55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48" y="1131900"/>
            <a:ext cx="3145046" cy="36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What additional information is sent with the SYN/ACK flags set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Initial sequence number (ISN)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Why are the three steps necessary?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Server (SYN)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Send client ISN to server</a:t>
            </a:r>
            <a:endParaRPr>
              <a:solidFill>
                <a:srgbClr val="0000FF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Client (SYN/ACK)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Server confirms client ISN</a:t>
            </a:r>
            <a:endParaRPr>
              <a:solidFill>
                <a:srgbClr val="0000FF"/>
              </a:solidFill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Send server ISN to client</a:t>
            </a:r>
            <a:endParaRPr>
              <a:solidFill>
                <a:srgbClr val="0000FF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Server (ACK)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Client confirms server ISN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57" name="Google Shape;557;p36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Connection Establishment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558" name="Google Shape;55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48" y="1131900"/>
            <a:ext cx="3145046" cy="36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7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Why are the four steps necessary?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64" name="Google Shape;564;p37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Connection Termination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565" name="Google Shape;565;p37" title="image.png"/>
          <p:cNvPicPr preferRelativeResize="0"/>
          <p:nvPr/>
        </p:nvPicPr>
        <p:blipFill rotWithShape="1">
          <a:blip r:embed="rId3">
            <a:alphaModFix/>
          </a:blip>
          <a:srcRect l="417" r="416"/>
          <a:stretch/>
        </p:blipFill>
        <p:spPr>
          <a:xfrm>
            <a:off x="438948" y="1131900"/>
            <a:ext cx="3145046" cy="369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8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Why are the four steps necessary?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TCP is </a:t>
            </a:r>
            <a:r>
              <a:rPr lang="en-CA" b="1">
                <a:solidFill>
                  <a:srgbClr val="FF0000"/>
                </a:solidFill>
              </a:rPr>
              <a:t>Full duplex</a:t>
            </a:r>
            <a:r>
              <a:rPr lang="en-CA">
                <a:solidFill>
                  <a:srgbClr val="0000FF"/>
                </a:solidFill>
              </a:rPr>
              <a:t>: both sides can send data independently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71" name="Google Shape;571;p38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Connection Termination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572" name="Google Shape;572;p38" title="image.png"/>
          <p:cNvPicPr preferRelativeResize="0"/>
          <p:nvPr/>
        </p:nvPicPr>
        <p:blipFill rotWithShape="1">
          <a:blip r:embed="rId3">
            <a:alphaModFix/>
          </a:blip>
          <a:srcRect l="417" r="416"/>
          <a:stretch/>
        </p:blipFill>
        <p:spPr>
          <a:xfrm>
            <a:off x="438948" y="1131900"/>
            <a:ext cx="3145046" cy="369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9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Why are the four steps necessary?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TCP is </a:t>
            </a:r>
            <a:r>
              <a:rPr lang="en-CA" b="1">
                <a:solidFill>
                  <a:srgbClr val="FF0000"/>
                </a:solidFill>
              </a:rPr>
              <a:t>Full duplex</a:t>
            </a:r>
            <a:r>
              <a:rPr lang="en-CA">
                <a:solidFill>
                  <a:srgbClr val="0000FF"/>
                </a:solidFill>
              </a:rPr>
              <a:t>: both sides can send data independently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Server (FIN)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Client has nothing more to send</a:t>
            </a:r>
            <a:endParaRPr>
              <a:solidFill>
                <a:srgbClr val="0000FF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Client (ACK)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Server confirms client FIN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Client (FIN)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Server has nothing more to send</a:t>
            </a:r>
            <a:endParaRPr>
              <a:solidFill>
                <a:srgbClr val="0000FF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Server (ACK)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Client confirms server FIN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78" name="Google Shape;578;p39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Connection Termination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579" name="Google Shape;579;p39" title="image.png"/>
          <p:cNvPicPr preferRelativeResize="0"/>
          <p:nvPr/>
        </p:nvPicPr>
        <p:blipFill rotWithShape="1">
          <a:blip r:embed="rId3">
            <a:alphaModFix/>
          </a:blip>
          <a:srcRect l="417" r="416"/>
          <a:stretch/>
        </p:blipFill>
        <p:spPr>
          <a:xfrm>
            <a:off x="438948" y="1131900"/>
            <a:ext cx="3145046" cy="369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0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Why are the four steps necessary?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TCP is </a:t>
            </a:r>
            <a:r>
              <a:rPr lang="en-CA" b="1">
                <a:solidFill>
                  <a:srgbClr val="FF0000"/>
                </a:solidFill>
              </a:rPr>
              <a:t>Full duplex</a:t>
            </a:r>
            <a:r>
              <a:rPr lang="en-CA">
                <a:solidFill>
                  <a:srgbClr val="0000FF"/>
                </a:solidFill>
              </a:rPr>
              <a:t>: both sides can send data independently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Server (FIN)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Client has nothing more to send</a:t>
            </a:r>
            <a:endParaRPr>
              <a:solidFill>
                <a:srgbClr val="0000FF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Client (ACK)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Server confirms client FIN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Client (FIN)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Server has nothing more to send</a:t>
            </a:r>
            <a:endParaRPr>
              <a:solidFill>
                <a:srgbClr val="0000FF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Font typeface="Courier"/>
              <a:buAutoNum type="arabicPeriod"/>
            </a:pP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 </a:t>
            </a:r>
            <a:r>
              <a:rPr lang="en-CA">
                <a:solidFill>
                  <a:srgbClr val="0000FF"/>
                </a:solidFill>
              </a:rPr>
              <a:t>⇒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 Server (ACK)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13716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Client confirms server FIN</a:t>
            </a:r>
            <a:endParaRPr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85" name="Google Shape;585;p40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Connection Termination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586" name="Google Shape;586;p40" title="image.png"/>
          <p:cNvPicPr preferRelativeResize="0"/>
          <p:nvPr/>
        </p:nvPicPr>
        <p:blipFill rotWithShape="1">
          <a:blip r:embed="rId3">
            <a:alphaModFix/>
          </a:blip>
          <a:srcRect l="417" r="416"/>
          <a:stretch/>
        </p:blipFill>
        <p:spPr>
          <a:xfrm>
            <a:off x="438948" y="1131900"/>
            <a:ext cx="3145046" cy="3697199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0"/>
          <p:cNvSpPr/>
          <p:nvPr/>
        </p:nvSpPr>
        <p:spPr>
          <a:xfrm>
            <a:off x="2095450" y="2261925"/>
            <a:ext cx="4170600" cy="451800"/>
          </a:xfrm>
          <a:prstGeom prst="wedgeRoundRectCallout">
            <a:avLst>
              <a:gd name="adj1" fmla="val -5366"/>
              <a:gd name="adj2" fmla="val 114315"/>
              <a:gd name="adj3" fmla="val 0"/>
            </a:avLst>
          </a:prstGeom>
          <a:solidFill>
            <a:srgbClr val="FFF2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CA" sz="1800"/>
              <a:t>Timing for 2 and 3 might be different</a:t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1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Retransmission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93" name="Google Shape;593;p41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A timer is set for the first unacknowledged segment</a:t>
            </a:r>
            <a:endParaRPr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When the timer expires we retransmit</a:t>
            </a:r>
            <a:endParaRPr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Retransmit just one segment </a:t>
            </a:r>
            <a:endParaRPr>
              <a:solidFill>
                <a:srgbClr val="000000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-CA">
                <a:solidFill>
                  <a:srgbClr val="000000"/>
                </a:solidFill>
              </a:rPr>
              <a:t>Like Selective-Repeat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Cumulative ACKs</a:t>
            </a:r>
            <a:endParaRPr>
              <a:solidFill>
                <a:srgbClr val="000000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-CA">
                <a:solidFill>
                  <a:srgbClr val="000000"/>
                </a:solidFill>
              </a:rPr>
              <a:t>Like Go-Back-N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Four or more ACKs with the same number trigger retransmission without a timeout </a:t>
            </a:r>
            <a:endParaRPr>
              <a:solidFill>
                <a:srgbClr val="000000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-CA">
                <a:solidFill>
                  <a:srgbClr val="000000"/>
                </a:solidFill>
              </a:rPr>
              <a:t>Fast retransmission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2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Retransmission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599" name="Google Shape;599;p42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336" y="1012348"/>
            <a:ext cx="2558122" cy="381675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2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●"/>
            </a:pPr>
            <a:r>
              <a:rPr lang="en-CA">
                <a:solidFill>
                  <a:srgbClr val="0000FF"/>
                </a:solidFill>
              </a:rPr>
              <a:t>A timer is set for the first unacknowledged segment</a:t>
            </a:r>
            <a:endParaRPr>
              <a:solidFill>
                <a:srgbClr val="0000F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FF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●"/>
            </a:pPr>
            <a:r>
              <a:rPr lang="en-CA">
                <a:solidFill>
                  <a:srgbClr val="0000FF"/>
                </a:solidFill>
              </a:rPr>
              <a:t>When the timer expires we retransmit</a:t>
            </a:r>
            <a:endParaRPr>
              <a:solidFill>
                <a:srgbClr val="0000F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Retransmit just one segment </a:t>
            </a:r>
            <a:endParaRPr>
              <a:solidFill>
                <a:srgbClr val="000000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-CA">
                <a:solidFill>
                  <a:srgbClr val="000000"/>
                </a:solidFill>
              </a:rPr>
              <a:t>Like Selective-Repeat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Cumulative ACKs</a:t>
            </a:r>
            <a:endParaRPr>
              <a:solidFill>
                <a:srgbClr val="000000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-CA">
                <a:solidFill>
                  <a:srgbClr val="000000"/>
                </a:solidFill>
              </a:rPr>
              <a:t>Like Go-Back-N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Four or more ACKs with the same number trigger retransmission without a timeout </a:t>
            </a:r>
            <a:endParaRPr>
              <a:solidFill>
                <a:srgbClr val="000000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-CA">
                <a:solidFill>
                  <a:srgbClr val="000000"/>
                </a:solidFill>
              </a:rPr>
              <a:t>Fast retransmission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3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Retransmission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606" name="Google Shape;606;p43" title="image.png"/>
          <p:cNvPicPr preferRelativeResize="0"/>
          <p:nvPr/>
        </p:nvPicPr>
        <p:blipFill rotWithShape="1">
          <a:blip r:embed="rId3">
            <a:alphaModFix/>
          </a:blip>
          <a:srcRect l="1220" r="1210"/>
          <a:stretch/>
        </p:blipFill>
        <p:spPr>
          <a:xfrm>
            <a:off x="770102" y="1013079"/>
            <a:ext cx="2609875" cy="389394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●"/>
            </a:pPr>
            <a:r>
              <a:rPr lang="en-CA">
                <a:solidFill>
                  <a:srgbClr val="0000FF"/>
                </a:solidFill>
              </a:rPr>
              <a:t>A timer is set for the first unacknowledged segment</a:t>
            </a:r>
            <a:endParaRPr>
              <a:solidFill>
                <a:srgbClr val="0000F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FF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●"/>
            </a:pPr>
            <a:r>
              <a:rPr lang="en-CA">
                <a:solidFill>
                  <a:srgbClr val="0000FF"/>
                </a:solidFill>
              </a:rPr>
              <a:t>When the timer expires we retransmit</a:t>
            </a:r>
            <a:endParaRPr>
              <a:solidFill>
                <a:srgbClr val="0000F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Retransmit just one segment </a:t>
            </a:r>
            <a:endParaRPr>
              <a:solidFill>
                <a:srgbClr val="000000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-CA">
                <a:solidFill>
                  <a:srgbClr val="000000"/>
                </a:solidFill>
              </a:rPr>
              <a:t>Like Selective-Repeat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Cumulative ACKs</a:t>
            </a:r>
            <a:endParaRPr>
              <a:solidFill>
                <a:srgbClr val="000000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-CA">
                <a:solidFill>
                  <a:srgbClr val="000000"/>
                </a:solidFill>
              </a:rPr>
              <a:t>Like Go-Back-N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CA">
                <a:solidFill>
                  <a:srgbClr val="000000"/>
                </a:solidFill>
              </a:rPr>
              <a:t>Four or more ACKs with the same number trigger retransmission without a timeout </a:t>
            </a:r>
            <a:endParaRPr>
              <a:solidFill>
                <a:srgbClr val="000000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-"/>
            </a:pPr>
            <a:r>
              <a:rPr lang="en-CA">
                <a:solidFill>
                  <a:srgbClr val="000000"/>
                </a:solidFill>
              </a:rPr>
              <a:t>Fast retransmission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 timer is set for the first unacknowledged segment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When the timer expires we retransmit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●"/>
            </a:pPr>
            <a:r>
              <a:rPr lang="en-CA">
                <a:solidFill>
                  <a:srgbClr val="0000FF"/>
                </a:solidFill>
              </a:rPr>
              <a:t>Retransmit just one segment </a:t>
            </a:r>
            <a:endParaRPr>
              <a:solidFill>
                <a:srgbClr val="0000FF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Like Selective-Repeat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Cumulative ACKs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Like Go-Back-N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Four or more ACKs with the same number trigger retransmission without a timeout 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Fast retransmission</a:t>
            </a:r>
            <a:endParaRPr/>
          </a:p>
        </p:txBody>
      </p:sp>
      <p:sp>
        <p:nvSpPr>
          <p:cNvPr id="613" name="Google Shape;613;p44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Retransmission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614" name="Google Shape;614;p44" title="image.png"/>
          <p:cNvPicPr preferRelativeResize="0"/>
          <p:nvPr/>
        </p:nvPicPr>
        <p:blipFill rotWithShape="1">
          <a:blip r:embed="rId3">
            <a:alphaModFix/>
          </a:blip>
          <a:srcRect l="5125" r="5125"/>
          <a:stretch/>
        </p:blipFill>
        <p:spPr>
          <a:xfrm>
            <a:off x="720920" y="944982"/>
            <a:ext cx="2549575" cy="38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5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 timer is set for the first unacknowledged segment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When the timer expires we retransmit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Retransmit just one segment 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Like Selective-Repeat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FF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●"/>
            </a:pPr>
            <a:r>
              <a:rPr lang="en-CA">
                <a:solidFill>
                  <a:srgbClr val="0000FF"/>
                </a:solidFill>
              </a:rPr>
              <a:t>Cumulative ACKs</a:t>
            </a:r>
            <a:endParaRPr>
              <a:solidFill>
                <a:srgbClr val="0000FF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Like Go-Back-N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Four or more ACKs with the same number trigger retransmission without a timeout 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Fast retransmission</a:t>
            </a:r>
            <a:endParaRPr/>
          </a:p>
        </p:txBody>
      </p:sp>
      <p:sp>
        <p:nvSpPr>
          <p:cNvPr id="620" name="Google Shape;620;p45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Retransmission </a:t>
            </a:r>
            <a:r>
              <a:rPr lang="en-CA" sz="1000">
                <a:solidFill>
                  <a:srgbClr val="0077C8"/>
                </a:solidFill>
              </a:rPr>
              <a:t>(Module 4.7 p.6-15)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621" name="Google Shape;621;p45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163" y="960506"/>
            <a:ext cx="3239100" cy="40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6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 timer is set for the first unacknowledged segment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When the timer expires we retransmit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Retransmit just one segment 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Like Selective-Repeat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FF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Cumulative ACKs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Like Go-Back-N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●"/>
            </a:pPr>
            <a:r>
              <a:rPr lang="en-CA">
                <a:solidFill>
                  <a:srgbClr val="0000FF"/>
                </a:solidFill>
              </a:rPr>
              <a:t>Four or more ACKs with the same number trigger retransmission without a timeout </a:t>
            </a:r>
            <a:endParaRPr>
              <a:solidFill>
                <a:srgbClr val="0000FF"/>
              </a:solidFill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500"/>
              <a:buChar char="-"/>
            </a:pPr>
            <a:r>
              <a:rPr lang="en-CA">
                <a:solidFill>
                  <a:srgbClr val="0000FF"/>
                </a:solidFill>
              </a:rPr>
              <a:t>Fast retransmission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27" name="Google Shape;627;p46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Retransmission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628" name="Google Shape;628;p46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50" y="1346550"/>
            <a:ext cx="3487850" cy="32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7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Flow Control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634" name="Google Shape;634;p47"/>
          <p:cNvSpPr txBox="1">
            <a:spLocks noGrp="1"/>
          </p:cNvSpPr>
          <p:nvPr>
            <p:ph type="body" idx="1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The receiver may be slower at receiving data than the sender is at sending data. 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The receiver has a flow control window measured in bytes that will be advertised by the receiver.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PA4: Helpful slide decks 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2023W tutorial 8 p.30-32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https://piazza.com/class/motaz7biau73cg/post/41</a:t>
            </a:r>
            <a:r>
              <a:rPr lang="en-CA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8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TCP Segments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640" name="Google Shape;640;p48"/>
          <p:cNvSpPr txBox="1">
            <a:spLocks noGrp="1"/>
          </p:cNvSpPr>
          <p:nvPr>
            <p:ph type="body" idx="1"/>
          </p:nvPr>
        </p:nvSpPr>
        <p:spPr>
          <a:xfrm>
            <a:off x="438950" y="4087165"/>
            <a:ext cx="76614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 Which fields are important for the following aspects of TCP?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Connection establishment</a:t>
            </a:r>
            <a:endParaRPr/>
          </a:p>
        </p:txBody>
      </p:sp>
      <p:pic>
        <p:nvPicPr>
          <p:cNvPr id="641" name="Google Shape;641;p48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288" y="1072125"/>
            <a:ext cx="5676724" cy="29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9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TCP Segments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647" name="Google Shape;647;p49"/>
          <p:cNvSpPr txBox="1">
            <a:spLocks noGrp="1"/>
          </p:cNvSpPr>
          <p:nvPr>
            <p:ph type="body" idx="1"/>
          </p:nvPr>
        </p:nvSpPr>
        <p:spPr>
          <a:xfrm>
            <a:off x="438950" y="4087165"/>
            <a:ext cx="76614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 Which fields are important for the following aspects of TCP?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Connection establishment</a:t>
            </a:r>
            <a:endParaRPr/>
          </a:p>
        </p:txBody>
      </p:sp>
      <p:pic>
        <p:nvPicPr>
          <p:cNvPr id="648" name="Google Shape;648;p49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288" y="1072125"/>
            <a:ext cx="5676724" cy="29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9"/>
          <p:cNvSpPr/>
          <p:nvPr/>
        </p:nvSpPr>
        <p:spPr>
          <a:xfrm>
            <a:off x="3431450" y="1651825"/>
            <a:ext cx="1622400" cy="265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9"/>
          <p:cNvSpPr/>
          <p:nvPr/>
        </p:nvSpPr>
        <p:spPr>
          <a:xfrm>
            <a:off x="3951872" y="2207350"/>
            <a:ext cx="211500" cy="487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9"/>
          <p:cNvSpPr/>
          <p:nvPr/>
        </p:nvSpPr>
        <p:spPr>
          <a:xfrm>
            <a:off x="3392229" y="2207350"/>
            <a:ext cx="211500" cy="487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9"/>
          <p:cNvSpPr/>
          <p:nvPr/>
        </p:nvSpPr>
        <p:spPr>
          <a:xfrm>
            <a:off x="3023500" y="1917327"/>
            <a:ext cx="2438400" cy="287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0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TCP Segments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658" name="Google Shape;658;p50"/>
          <p:cNvSpPr txBox="1">
            <a:spLocks noGrp="1"/>
          </p:cNvSpPr>
          <p:nvPr>
            <p:ph type="body" idx="1"/>
          </p:nvPr>
        </p:nvSpPr>
        <p:spPr>
          <a:xfrm>
            <a:off x="438950" y="4087165"/>
            <a:ext cx="76614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 Which fields are important for the following aspects of TCP?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Connection termination</a:t>
            </a:r>
            <a:endParaRPr/>
          </a:p>
        </p:txBody>
      </p:sp>
      <p:pic>
        <p:nvPicPr>
          <p:cNvPr id="659" name="Google Shape;659;p50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288" y="1072125"/>
            <a:ext cx="5676724" cy="29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1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TCP Segments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665" name="Google Shape;665;p51"/>
          <p:cNvSpPr txBox="1">
            <a:spLocks noGrp="1"/>
          </p:cNvSpPr>
          <p:nvPr>
            <p:ph type="body" idx="1"/>
          </p:nvPr>
        </p:nvSpPr>
        <p:spPr>
          <a:xfrm>
            <a:off x="438950" y="4087165"/>
            <a:ext cx="76614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 Which fields are important for the following aspects of TCP?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Connection termination</a:t>
            </a:r>
            <a:endParaRPr/>
          </a:p>
        </p:txBody>
      </p:sp>
      <p:pic>
        <p:nvPicPr>
          <p:cNvPr id="666" name="Google Shape;666;p51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288" y="1072125"/>
            <a:ext cx="5676724" cy="29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1"/>
          <p:cNvSpPr/>
          <p:nvPr/>
        </p:nvSpPr>
        <p:spPr>
          <a:xfrm>
            <a:off x="4142372" y="2207350"/>
            <a:ext cx="211500" cy="487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51"/>
          <p:cNvSpPr/>
          <p:nvPr/>
        </p:nvSpPr>
        <p:spPr>
          <a:xfrm>
            <a:off x="3392229" y="2207350"/>
            <a:ext cx="211500" cy="487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51"/>
          <p:cNvSpPr/>
          <p:nvPr/>
        </p:nvSpPr>
        <p:spPr>
          <a:xfrm>
            <a:off x="3023500" y="1917327"/>
            <a:ext cx="2438400" cy="287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2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TCP Segments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675" name="Google Shape;675;p52"/>
          <p:cNvSpPr txBox="1">
            <a:spLocks noGrp="1"/>
          </p:cNvSpPr>
          <p:nvPr>
            <p:ph type="body" idx="1"/>
          </p:nvPr>
        </p:nvSpPr>
        <p:spPr>
          <a:xfrm>
            <a:off x="438950" y="4087165"/>
            <a:ext cx="76614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 dirty="0"/>
              <a:t> Which fields are important for the following aspects of TCP?</a:t>
            </a:r>
            <a:endParaRPr dirty="0"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 dirty="0"/>
              <a:t>In-order delivery and complete delivery</a:t>
            </a:r>
            <a:endParaRPr dirty="0"/>
          </a:p>
        </p:txBody>
      </p:sp>
      <p:pic>
        <p:nvPicPr>
          <p:cNvPr id="676" name="Google Shape;676;p52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288" y="1072125"/>
            <a:ext cx="5676724" cy="29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3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TCP Segments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682" name="Google Shape;682;p53"/>
          <p:cNvSpPr txBox="1">
            <a:spLocks noGrp="1"/>
          </p:cNvSpPr>
          <p:nvPr>
            <p:ph type="body" idx="1"/>
          </p:nvPr>
        </p:nvSpPr>
        <p:spPr>
          <a:xfrm>
            <a:off x="438950" y="4087165"/>
            <a:ext cx="76614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 Which fields are important for the following aspects of TCP?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In-order delivery and complete delivery</a:t>
            </a:r>
            <a:endParaRPr/>
          </a:p>
        </p:txBody>
      </p:sp>
      <p:pic>
        <p:nvPicPr>
          <p:cNvPr id="683" name="Google Shape;683;p53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288" y="1072125"/>
            <a:ext cx="5676724" cy="29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53"/>
          <p:cNvSpPr/>
          <p:nvPr/>
        </p:nvSpPr>
        <p:spPr>
          <a:xfrm>
            <a:off x="3392229" y="2207350"/>
            <a:ext cx="211500" cy="487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53"/>
          <p:cNvSpPr/>
          <p:nvPr/>
        </p:nvSpPr>
        <p:spPr>
          <a:xfrm>
            <a:off x="3431450" y="1651825"/>
            <a:ext cx="1622400" cy="265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53"/>
          <p:cNvSpPr/>
          <p:nvPr/>
        </p:nvSpPr>
        <p:spPr>
          <a:xfrm>
            <a:off x="3023500" y="1917327"/>
            <a:ext cx="2438400" cy="287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4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TCP Segments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692" name="Google Shape;692;p54"/>
          <p:cNvSpPr txBox="1">
            <a:spLocks noGrp="1"/>
          </p:cNvSpPr>
          <p:nvPr>
            <p:ph type="body" idx="1"/>
          </p:nvPr>
        </p:nvSpPr>
        <p:spPr>
          <a:xfrm>
            <a:off x="438950" y="4087165"/>
            <a:ext cx="76614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 Which fields are important for the following aspects of TCP?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Flow control</a:t>
            </a:r>
            <a:endParaRPr/>
          </a:p>
        </p:txBody>
      </p:sp>
      <p:pic>
        <p:nvPicPr>
          <p:cNvPr id="693" name="Google Shape;693;p54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288" y="1072125"/>
            <a:ext cx="5676724" cy="29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5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TCP Segments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699" name="Google Shape;699;p55"/>
          <p:cNvSpPr txBox="1">
            <a:spLocks noGrp="1"/>
          </p:cNvSpPr>
          <p:nvPr>
            <p:ph type="body" idx="1"/>
          </p:nvPr>
        </p:nvSpPr>
        <p:spPr>
          <a:xfrm>
            <a:off x="438950" y="4087165"/>
            <a:ext cx="76614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 Which fields are important for the following aspects of TCP?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Flow control</a:t>
            </a:r>
            <a:endParaRPr/>
          </a:p>
        </p:txBody>
      </p:sp>
      <p:pic>
        <p:nvPicPr>
          <p:cNvPr id="700" name="Google Shape;700;p55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288" y="1072125"/>
            <a:ext cx="5676724" cy="29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55"/>
          <p:cNvSpPr/>
          <p:nvPr/>
        </p:nvSpPr>
        <p:spPr>
          <a:xfrm>
            <a:off x="4804175" y="2207350"/>
            <a:ext cx="1622400" cy="265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6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Demo: Using Wireshark to Following a TCP Conversation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707" name="Google Shape;707;p56" title="Screenshot 2026-03-05 at 3.31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50" y="2034899"/>
            <a:ext cx="7543376" cy="28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56"/>
          <p:cNvSpPr txBox="1">
            <a:spLocks noGrp="1"/>
          </p:cNvSpPr>
          <p:nvPr>
            <p:ph type="body" idx="1"/>
          </p:nvPr>
        </p:nvSpPr>
        <p:spPr>
          <a:xfrm>
            <a:off x="438950" y="1131891"/>
            <a:ext cx="7661400" cy="9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u="sng">
                <a:solidFill>
                  <a:schemeClr val="hlink"/>
                </a:solidFill>
                <a:hlinkClick r:id="rId4"/>
              </a:rPr>
              <a:t>http://google.com/generate_204</a:t>
            </a:r>
            <a:r>
              <a:rPr lang="en-CA"/>
              <a:t>:</a:t>
            </a:r>
            <a:endParaRPr/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client: request /generate_204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server: 204 (no content)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7"/>
          <p:cNvSpPr txBox="1">
            <a:spLocks noGrp="1"/>
          </p:cNvSpPr>
          <p:nvPr>
            <p:ph type="body" idx="1"/>
          </p:nvPr>
        </p:nvSpPr>
        <p:spPr>
          <a:xfrm>
            <a:off x="3584002" y="1131900"/>
            <a:ext cx="4516500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The sequence number of a segment is the sequence number of its first byte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ACKs correspond to the first sequence number not yet received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I.e., next expected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Seq</a:t>
            </a:r>
            <a:endParaRPr/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ACK = Seq + len(data)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The receiver stores out-of-order packets in its own window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ACKs are cumulative</a:t>
            </a:r>
            <a:endParaRPr/>
          </a:p>
        </p:txBody>
      </p:sp>
      <p:sp>
        <p:nvSpPr>
          <p:cNvPr id="714" name="Google Shape;714;p57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Seq #s &amp; ACK #s</a:t>
            </a:r>
            <a:endParaRPr>
              <a:solidFill>
                <a:srgbClr val="0077C8"/>
              </a:solidFill>
            </a:endParaRPr>
          </a:p>
        </p:txBody>
      </p:sp>
      <p:pic>
        <p:nvPicPr>
          <p:cNvPr id="715" name="Google Shape;715;p57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335041"/>
            <a:ext cx="3279202" cy="329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8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Seq #s &amp; ACK #s Practice</a:t>
            </a:r>
            <a:endParaRPr>
              <a:solidFill>
                <a:srgbClr val="0077C8"/>
              </a:solidFill>
            </a:endParaRPr>
          </a:p>
        </p:txBody>
      </p:sp>
      <p:graphicFrame>
        <p:nvGraphicFramePr>
          <p:cNvPr id="721" name="Google Shape;721;p58"/>
          <p:cNvGraphicFramePr/>
          <p:nvPr/>
        </p:nvGraphicFramePr>
        <p:xfrm>
          <a:off x="952500" y="1131900"/>
          <a:ext cx="7239000" cy="3779250"/>
        </p:xfrm>
        <a:graphic>
          <a:graphicData uri="http://schemas.openxmlformats.org/drawingml/2006/table">
            <a:tbl>
              <a:tblPr>
                <a:noFill/>
                <a:tableStyleId>{34E8954D-27A6-4D48-97B5-2764A9A821FE}</a:tableStyleId>
              </a:tblPr>
              <a:tblGrid>
                <a:gridCol w="7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Packet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Action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Seq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ACK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Data Size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 and ACKs packet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B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G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 and ACKs packet E	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ACKs packet 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9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Seq #s &amp; ACK #s Practice</a:t>
            </a:r>
            <a:endParaRPr>
              <a:solidFill>
                <a:srgbClr val="0077C8"/>
              </a:solidFill>
            </a:endParaRPr>
          </a:p>
        </p:txBody>
      </p:sp>
      <p:graphicFrame>
        <p:nvGraphicFramePr>
          <p:cNvPr id="727" name="Google Shape;727;p59"/>
          <p:cNvGraphicFramePr/>
          <p:nvPr/>
        </p:nvGraphicFramePr>
        <p:xfrm>
          <a:off x="952500" y="1131900"/>
          <a:ext cx="7239000" cy="3779250"/>
        </p:xfrm>
        <a:graphic>
          <a:graphicData uri="http://schemas.openxmlformats.org/drawingml/2006/table">
            <a:tbl>
              <a:tblPr>
                <a:noFill/>
                <a:tableStyleId>{34E8954D-27A6-4D48-97B5-2764A9A821FE}</a:tableStyleId>
              </a:tblPr>
              <a:tblGrid>
                <a:gridCol w="7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Packet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Action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Seq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ACK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Data Size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 and ACKs packet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B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G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 and ACKs packet E	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ACKs packet 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0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Seq #s &amp; ACK #s Practice</a:t>
            </a:r>
            <a:endParaRPr>
              <a:solidFill>
                <a:srgbClr val="0077C8"/>
              </a:solidFill>
            </a:endParaRPr>
          </a:p>
        </p:txBody>
      </p:sp>
      <p:graphicFrame>
        <p:nvGraphicFramePr>
          <p:cNvPr id="733" name="Google Shape;733;p60"/>
          <p:cNvGraphicFramePr/>
          <p:nvPr/>
        </p:nvGraphicFramePr>
        <p:xfrm>
          <a:off x="952500" y="1131900"/>
          <a:ext cx="7239000" cy="3779250"/>
        </p:xfrm>
        <a:graphic>
          <a:graphicData uri="http://schemas.openxmlformats.org/drawingml/2006/table">
            <a:tbl>
              <a:tblPr>
                <a:noFill/>
                <a:tableStyleId>{34E8954D-27A6-4D48-97B5-2764A9A821FE}</a:tableStyleId>
              </a:tblPr>
              <a:tblGrid>
                <a:gridCol w="7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Packet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Action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Seq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ACK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Data Size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 and ACKs packet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B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G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 and ACKs packet E	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ACKs packet 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1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Seq #s &amp; ACK #s Practice</a:t>
            </a:r>
            <a:endParaRPr>
              <a:solidFill>
                <a:srgbClr val="0077C8"/>
              </a:solidFill>
            </a:endParaRPr>
          </a:p>
        </p:txBody>
      </p:sp>
      <p:graphicFrame>
        <p:nvGraphicFramePr>
          <p:cNvPr id="739" name="Google Shape;739;p61"/>
          <p:cNvGraphicFramePr/>
          <p:nvPr/>
        </p:nvGraphicFramePr>
        <p:xfrm>
          <a:off x="952500" y="11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{34E8954D-27A6-4D48-97B5-2764A9A821FE}</a:tableStyleId>
              </a:tblPr>
              <a:tblGrid>
                <a:gridCol w="7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Packet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Action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Seq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ACK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Data Size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 and ACKs packet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B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G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 and ACKs packet E	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ACKs packet 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Seq #s &amp; ACK #s Practice</a:t>
            </a:r>
            <a:endParaRPr>
              <a:solidFill>
                <a:srgbClr val="0077C8"/>
              </a:solidFill>
            </a:endParaRPr>
          </a:p>
        </p:txBody>
      </p:sp>
      <p:graphicFrame>
        <p:nvGraphicFramePr>
          <p:cNvPr id="745" name="Google Shape;745;p62"/>
          <p:cNvGraphicFramePr/>
          <p:nvPr/>
        </p:nvGraphicFramePr>
        <p:xfrm>
          <a:off x="952500" y="11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{34E8954D-27A6-4D48-97B5-2764A9A821FE}</a:tableStyleId>
              </a:tblPr>
              <a:tblGrid>
                <a:gridCol w="7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Packet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Action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Seq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ACK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Data Size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 and ACKs packet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B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G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 and ACKs packet E	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ACKs packet 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3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Seq #s &amp; ACK #s Practice</a:t>
            </a:r>
            <a:endParaRPr>
              <a:solidFill>
                <a:srgbClr val="0077C8"/>
              </a:solidFill>
            </a:endParaRPr>
          </a:p>
        </p:txBody>
      </p:sp>
      <p:graphicFrame>
        <p:nvGraphicFramePr>
          <p:cNvPr id="751" name="Google Shape;751;p63"/>
          <p:cNvGraphicFramePr/>
          <p:nvPr/>
        </p:nvGraphicFramePr>
        <p:xfrm>
          <a:off x="952500" y="11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{34E8954D-27A6-4D48-97B5-2764A9A821FE}</a:tableStyleId>
              </a:tblPr>
              <a:tblGrid>
                <a:gridCol w="7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Packet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Action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Seq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ACK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Data Size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 and ACKs packet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B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224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G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 and ACKs packet E	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ACKs packet 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4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Seq #s &amp; ACK #s Practice</a:t>
            </a:r>
            <a:endParaRPr>
              <a:solidFill>
                <a:srgbClr val="0077C8"/>
              </a:solidFill>
            </a:endParaRPr>
          </a:p>
        </p:txBody>
      </p:sp>
      <p:graphicFrame>
        <p:nvGraphicFramePr>
          <p:cNvPr id="757" name="Google Shape;757;p64"/>
          <p:cNvGraphicFramePr/>
          <p:nvPr/>
        </p:nvGraphicFramePr>
        <p:xfrm>
          <a:off x="952500" y="11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{34E8954D-27A6-4D48-97B5-2764A9A821FE}</a:tableStyleId>
              </a:tblPr>
              <a:tblGrid>
                <a:gridCol w="7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Packet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Action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Seq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ACK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Data Size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 and ACKs packet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B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224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224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G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 and ACKs packet E	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ACKs packet 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Seq #s &amp; ACK #s Practice</a:t>
            </a:r>
            <a:endParaRPr>
              <a:solidFill>
                <a:srgbClr val="0077C8"/>
              </a:solidFill>
            </a:endParaRPr>
          </a:p>
        </p:txBody>
      </p:sp>
      <p:graphicFrame>
        <p:nvGraphicFramePr>
          <p:cNvPr id="763" name="Google Shape;763;p65"/>
          <p:cNvGraphicFramePr/>
          <p:nvPr/>
        </p:nvGraphicFramePr>
        <p:xfrm>
          <a:off x="952500" y="11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{34E8954D-27A6-4D48-97B5-2764A9A821FE}</a:tableStyleId>
              </a:tblPr>
              <a:tblGrid>
                <a:gridCol w="7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Packet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Action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Seq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ACK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Data Size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 and ACKs packet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B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224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224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G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 and ACKs packet E	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232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ACKs packet 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6"/>
          <p:cNvSpPr txBox="1">
            <a:spLocks noGrp="1"/>
          </p:cNvSpPr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TCP Review: Seq #s &amp; ACK #s Practice</a:t>
            </a:r>
            <a:endParaRPr>
              <a:solidFill>
                <a:srgbClr val="0077C8"/>
              </a:solidFill>
            </a:endParaRPr>
          </a:p>
        </p:txBody>
      </p:sp>
      <p:graphicFrame>
        <p:nvGraphicFramePr>
          <p:cNvPr id="769" name="Google Shape;769;p66"/>
          <p:cNvGraphicFramePr/>
          <p:nvPr/>
        </p:nvGraphicFramePr>
        <p:xfrm>
          <a:off x="952500" y="11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{34E8954D-27A6-4D48-97B5-2764A9A821FE}</a:tableStyleId>
              </a:tblPr>
              <a:tblGrid>
                <a:gridCol w="76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Packet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Action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Seq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ACK #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b="1"/>
                        <a:t>Data Size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 and ACKs packet 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B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216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sends data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224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F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ACKs packet 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224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G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Client sends data and ACKs packet E	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108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232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16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Server ACKs packet G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232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124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2711</Words>
  <Application>Microsoft Macintosh PowerPoint</Application>
  <PresentationFormat>On-screen Show (16:9)</PresentationFormat>
  <Paragraphs>702</Paragraphs>
  <Slides>52</Slides>
  <Notes>52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Courier</vt:lpstr>
      <vt:lpstr>Simple Light</vt:lpstr>
      <vt:lpstr>Tutorial 8</vt:lpstr>
      <vt:lpstr>Overview</vt:lpstr>
      <vt:lpstr>Previous PAs</vt:lpstr>
      <vt:lpstr>Previous PAs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PA4: Implement (Simplified) TCP</vt:lpstr>
      <vt:lpstr>TCP Review: Connection Establishment</vt:lpstr>
      <vt:lpstr>TCP Review: Connection Establishment</vt:lpstr>
      <vt:lpstr>TCP Review: Connection Establishment</vt:lpstr>
      <vt:lpstr>TCP Review: Connection Termination</vt:lpstr>
      <vt:lpstr>TCP Review: Connection Termination</vt:lpstr>
      <vt:lpstr>TCP Review: Connection Termination</vt:lpstr>
      <vt:lpstr>TCP Review: Connection Termination</vt:lpstr>
      <vt:lpstr>TCP Review: Retransmission</vt:lpstr>
      <vt:lpstr>TCP Review: Retransmission</vt:lpstr>
      <vt:lpstr>TCP Review: Retransmission</vt:lpstr>
      <vt:lpstr>TCP Review: Retransmission</vt:lpstr>
      <vt:lpstr>TCP Review: Retransmission (Module 4.7 p.6-15)</vt:lpstr>
      <vt:lpstr>TCP Review: Retransmission</vt:lpstr>
      <vt:lpstr>TCP Review: Flow Control</vt:lpstr>
      <vt:lpstr>TCP Review: TCP Segments</vt:lpstr>
      <vt:lpstr>TCP Review: TCP Segments</vt:lpstr>
      <vt:lpstr>TCP Review: TCP Segments</vt:lpstr>
      <vt:lpstr>TCP Review: TCP Segments</vt:lpstr>
      <vt:lpstr>TCP Review: TCP Segments</vt:lpstr>
      <vt:lpstr>TCP Review: TCP Segments</vt:lpstr>
      <vt:lpstr>TCP Review: TCP Segments</vt:lpstr>
      <vt:lpstr>TCP Review: TCP Segments</vt:lpstr>
      <vt:lpstr>Demo: Using Wireshark to Following a TCP Conversation</vt:lpstr>
      <vt:lpstr>TCP Review: Seq #s &amp; ACK #s</vt:lpstr>
      <vt:lpstr>TCP Review: Seq #s &amp; ACK #s Practice</vt:lpstr>
      <vt:lpstr>TCP Review: Seq #s &amp; ACK #s Practice</vt:lpstr>
      <vt:lpstr>TCP Review: Seq #s &amp; ACK #s Practice</vt:lpstr>
      <vt:lpstr>TCP Review: Seq #s &amp; ACK #s Practice</vt:lpstr>
      <vt:lpstr>TCP Review: Seq #s &amp; ACK #s Practice</vt:lpstr>
      <vt:lpstr>TCP Review: Seq #s &amp; ACK #s Practice</vt:lpstr>
      <vt:lpstr>TCP Review: Seq #s &amp; ACK #s Practice</vt:lpstr>
      <vt:lpstr>TCP Review: Seq #s &amp; ACK #s Practice</vt:lpstr>
      <vt:lpstr>TCP Review: Seq #s &amp; ACK #s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수연 이</cp:lastModifiedBy>
  <cp:revision>4</cp:revision>
  <dcterms:modified xsi:type="dcterms:W3CDTF">2026-10-27T07:50:06Z</dcterms:modified>
</cp:coreProperties>
</file>