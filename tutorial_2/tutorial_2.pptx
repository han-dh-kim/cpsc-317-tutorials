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slide" Target="slides/slide42.xml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55ded83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" name="Google Shape;63;g3b55ded83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b55ded8380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55ded838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55ded8380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b7d1c9cf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b7d1c9cf4_1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b7d1c9cf4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8b7d1c9cf4_1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8497500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84975004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b7d1c9cf4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8b7d1c9cf4_1_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8497500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8497500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b7d1c9cf4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b7d1c9cf4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84975004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84975004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b7d1c9cf4_1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b7d1c9cf4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84975004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b849750049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b7d1c9cf4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8b7d1c9cf4_1_3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b7d1c9cf4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8b7d1c9cf4_1_3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84975004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84975004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b7d1c9cf4_1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b7d1c9cf4_1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84975004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b849750049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90bb128b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90bb128bd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b7d1c9cf4_1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8b7d1c9cf4_1_3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b7d1c9cf4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8b7d1c9cf4_1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b7d1c9cf4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b7d1c9cf4_1_3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5b429b10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b5b429b10f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90bb128b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90bb128bd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90bb128b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90bb128bd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90bb128b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90bb128bd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90bb128b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e90bb128bd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84975004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b849750049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90bb128b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90bb128bd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8b7d1c9cf4_1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8b7d1c9cf4_1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84975004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b849750049_0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849750049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b849750049_0_2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8b7d1c9cf4_1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8b7d1c9cf4_1_4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8b7d1c9cf4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8b7d1c9cf4_1_4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84975004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b849750049_0_2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849750049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b849750049_0_2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8b7d1c9cf4_1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8b7d1c9cf4_1_4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84975004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b849750049_0_2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8b7d1c9cf4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8b7d1c9cf4_1_4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849750049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b849750049_0_2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8b7d1c9cf4_1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8b7d1c9cf4_1_5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90bb128b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e90bb128bd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e90bb128b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e90bb128bd_0_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e90bb128b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e90bb128bd_0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1">
  <p:cSld name="Title Slide -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43888" y="1131888"/>
            <a:ext cx="900000" cy="11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014_logo_only_reverse.png"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0C2344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C23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65587" y="1141558"/>
            <a:ext cx="54387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Slide - 1">
  <p:cSld name="Copy Slide -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4b282c2015.png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 flipH="1">
            <a:off x="8588375" y="4732338"/>
            <a:ext cx="30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b="0" i="0" lang="en-C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1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oracle.com/javase/tutorial/networking/sockets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CA"/>
              <a:t>TCP Sockets in Java</a:t>
            </a:r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2344"/>
              </a:buClr>
              <a:buSzPts val="1000"/>
              <a:buNone/>
            </a:pPr>
            <a:r>
              <a:rPr lang="en-CA"/>
              <a:t>Slides by Han Kim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65573" y="1141550"/>
            <a:ext cx="47004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CA" sz="3500">
                <a:solidFill>
                  <a:srgbClr val="0077C9"/>
                </a:solidFill>
              </a:rPr>
              <a:t>Tutorial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PA1 introduction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HIgh level overview of PA1 </a:t>
            </a:r>
            <a:r>
              <a:rPr lang="en-CA" sz="900"/>
              <a:t>(+ Quick review of last tutorial’s exercise 1)</a:t>
            </a:r>
            <a:endParaRPr sz="9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Sockets </a:t>
            </a:r>
            <a:r>
              <a:rPr lang="en-CA" sz="900"/>
              <a:t>(Quick review of last tutorial’s exercise 5)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Echo Client/Sever Demo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Echo Client Code Reading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Writing Tests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Wireshark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</a:t>
            </a:r>
            <a:r>
              <a:rPr lang="en-CA">
                <a:solidFill>
                  <a:srgbClr val="0077C8"/>
                </a:solidFill>
              </a:rPr>
              <a:t>utorial 1</a:t>
            </a:r>
            <a:r>
              <a:rPr lang="en-CA">
                <a:solidFill>
                  <a:srgbClr val="0077C8"/>
                </a:solidFill>
              </a:rPr>
              <a:t> - 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7"/>
          <p:cNvCxnSpPr>
            <a:stCxn id="84" idx="2"/>
            <a:endCxn id="85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" name="Google Shape;86;p1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8" name="Google Shape;88;p17"/>
          <p:cNvCxnSpPr>
            <a:stCxn id="86" idx="1"/>
            <a:endCxn id="8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7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92" name="Google Shape;92;p17"/>
          <p:cNvCxnSpPr>
            <a:stCxn id="80" idx="3"/>
            <a:endCxn id="8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Tutorial 1 - 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8"/>
          <p:cNvCxnSpPr>
            <a:stCxn id="102" idx="2"/>
            <a:endCxn id="103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" name="Google Shape;104;p1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06" name="Google Shape;106;p18"/>
          <p:cNvCxnSpPr>
            <a:stCxn id="104" idx="1"/>
            <a:endCxn id="10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8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10" name="Google Shape;110;p18"/>
          <p:cNvCxnSpPr>
            <a:stCxn id="98" idx="3"/>
            <a:endCxn id="103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8"/>
          <p:cNvSpPr/>
          <p:nvPr/>
        </p:nvSpPr>
        <p:spPr>
          <a:xfrm>
            <a:off x="2662475" y="1012350"/>
            <a:ext cx="2900100" cy="1260000"/>
          </a:xfrm>
          <a:prstGeom prst="wedgeRoundRectCallout">
            <a:avLst>
              <a:gd fmla="val -49157" name="adj1"/>
              <a:gd fmla="val 6941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In our previous tutorial, we used the dictionary service with netcat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18" name="Google Shape;118;p1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p19"/>
          <p:cNvCxnSpPr>
            <a:stCxn id="121" idx="2"/>
            <a:endCxn id="122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" name="Google Shape;123;p1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25" name="Google Shape;125;p19"/>
          <p:cNvCxnSpPr>
            <a:stCxn id="123" idx="1"/>
            <a:endCxn id="121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9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28" name="Google Shape;128;p19"/>
          <p:cNvCxnSpPr>
            <a:stCxn id="117" idx="3"/>
            <a:endCxn id="122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9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36" name="Google Shape;136;p2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20"/>
          <p:cNvCxnSpPr>
            <a:stCxn id="139" idx="2"/>
            <a:endCxn id="140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" name="Google Shape;141;p2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43" name="Google Shape;143;p20"/>
          <p:cNvCxnSpPr>
            <a:stCxn id="141" idx="1"/>
            <a:endCxn id="139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0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46" name="Google Shape;146;p20"/>
          <p:cNvCxnSpPr>
            <a:stCxn id="135" idx="3"/>
            <a:endCxn id="14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0"/>
          <p:cNvSpPr/>
          <p:nvPr/>
        </p:nvSpPr>
        <p:spPr>
          <a:xfrm>
            <a:off x="2662475" y="1012350"/>
            <a:ext cx="2900100" cy="1260000"/>
          </a:xfrm>
          <a:prstGeom prst="wedgeRoundRectCallout">
            <a:avLst>
              <a:gd fmla="val -49157" name="adj1"/>
              <a:gd fmla="val 6941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PA1 will use the dictionary service as well</a:t>
            </a:r>
            <a:endParaRPr sz="1800"/>
          </a:p>
        </p:txBody>
      </p:sp>
      <p:sp>
        <p:nvSpPr>
          <p:cNvPr id="148" name="Google Shape;148;p20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1" title="Screenshot 2026-01-15 at 2.51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265" y="0"/>
            <a:ext cx="668347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 title="Screenshot 2026-01-15 at 2.51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5975" y="1195375"/>
            <a:ext cx="477202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 title="Screenshot 2026-01-15 at 2.51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265" y="0"/>
            <a:ext cx="668347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 title="Screenshot 2026-01-15 at 2.51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5975" y="1195375"/>
            <a:ext cx="477202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/>
          <p:nvPr/>
        </p:nvSpPr>
        <p:spPr>
          <a:xfrm>
            <a:off x="5837925" y="382350"/>
            <a:ext cx="2594700" cy="1260000"/>
          </a:xfrm>
          <a:prstGeom prst="wedgeRoundRectCallout">
            <a:avLst>
              <a:gd fmla="val -49157" name="adj1"/>
              <a:gd fmla="val 6941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This is what you’ll see when you run PA1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Yay! You have a GUI</a:t>
            </a:r>
            <a:endParaRPr sz="1800"/>
          </a:p>
        </p:txBody>
      </p:sp>
      <p:sp>
        <p:nvSpPr>
          <p:cNvPr id="162" name="Google Shape;162;p22"/>
          <p:cNvSpPr/>
          <p:nvPr/>
        </p:nvSpPr>
        <p:spPr>
          <a:xfrm>
            <a:off x="3643275" y="3143575"/>
            <a:ext cx="3111300" cy="711600"/>
          </a:xfrm>
          <a:prstGeom prst="wedgeRoundRectCallout">
            <a:avLst>
              <a:gd fmla="val -32950" name="adj1"/>
              <a:gd fmla="val -12910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Here, we input the address of the dictionary server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3" title="Screenshot 2026-01-15 at 2.51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265" y="0"/>
            <a:ext cx="668347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 title="Screenshot 2026-01-15 at 2.52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400" y="1195375"/>
            <a:ext cx="635317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 title="Screenshot 2026-01-15 at 2.51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265" y="0"/>
            <a:ext cx="668347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 title="Screenshot 2026-01-15 at 2.52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400" y="1195375"/>
            <a:ext cx="63531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2825525" y="966425"/>
            <a:ext cx="4183800" cy="488400"/>
          </a:xfrm>
          <a:prstGeom prst="wedgeRoundRectCallout">
            <a:avLst>
              <a:gd fmla="val -51028" name="adj1"/>
              <a:gd fmla="val 176152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An error will pop up if you press OK 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182" name="Google Shape;182;p2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25"/>
          <p:cNvCxnSpPr>
            <a:stCxn id="185" idx="2"/>
            <a:endCxn id="186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" name="Google Shape;187;p25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89" name="Google Shape;189;p25"/>
          <p:cNvCxnSpPr>
            <a:stCxn id="187" idx="1"/>
            <a:endCxn id="185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5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93" name="Google Shape;193;p25"/>
          <p:cNvCxnSpPr>
            <a:stCxn id="181" idx="3"/>
            <a:endCxn id="186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200" name="Google Shape;200;p2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05" name="Google Shape;205;p26"/>
          <p:cNvCxnSpPr>
            <a:stCxn id="202" idx="1"/>
            <a:endCxn id="20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6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214" name="Google Shape;214;p2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19" name="Google Shape;219;p27"/>
          <p:cNvCxnSpPr>
            <a:stCxn id="216" idx="1"/>
            <a:endCxn id="218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7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2738725" y="743425"/>
            <a:ext cx="3739500" cy="1417200"/>
          </a:xfrm>
          <a:prstGeom prst="wedgeRoundRectCallout">
            <a:avLst>
              <a:gd fmla="val -1685" name="adj1"/>
              <a:gd fmla="val 104371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Why did the error pop up?</a:t>
            </a:r>
            <a:br>
              <a:rPr lang="en-CA" sz="1800"/>
            </a:br>
            <a:br>
              <a:rPr lang="en-CA" sz="1800"/>
            </a:br>
            <a:r>
              <a:rPr lang="en-CA" sz="1800"/>
              <a:t>This part is not implemented!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It is your task to implement it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 title="Screenshot 2026-01-15 at 2.57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063" y="152400"/>
            <a:ext cx="619788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9" title="Screenshot 2026-01-15 at 2.57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063" y="152400"/>
            <a:ext cx="619788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/>
          <p:nvPr/>
        </p:nvSpPr>
        <p:spPr>
          <a:xfrm>
            <a:off x="2090900" y="3175450"/>
            <a:ext cx="4249500" cy="758700"/>
          </a:xfrm>
          <a:prstGeom prst="wedgeRoundRectCallout">
            <a:avLst>
              <a:gd fmla="val -8733" name="adj1"/>
              <a:gd fmla="val -128391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This is what it would look like if the implementation is complete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240" name="Google Shape;240;p3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30"/>
          <p:cNvCxnSpPr>
            <a:stCxn id="243" idx="2"/>
            <a:endCxn id="244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5" name="Google Shape;245;p3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47" name="Google Shape;247;p30"/>
          <p:cNvCxnSpPr>
            <a:stCxn id="245" idx="1"/>
            <a:endCxn id="243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30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3231025" y="2533300"/>
            <a:ext cx="25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DEFINE * pineapple</a:t>
            </a:r>
            <a:endParaRPr/>
          </a:p>
        </p:txBody>
      </p:sp>
      <p:sp>
        <p:nvSpPr>
          <p:cNvPr id="250" name="Google Shape;250;p30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51" name="Google Shape;251;p30"/>
          <p:cNvCxnSpPr>
            <a:stCxn id="239" idx="3"/>
            <a:endCxn id="244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30"/>
          <p:cNvSpPr txBox="1"/>
          <p:nvPr/>
        </p:nvSpPr>
        <p:spPr>
          <a:xfrm>
            <a:off x="247500" y="1989175"/>
            <a:ext cx="333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getDefinition(“pineapple”)</a:t>
            </a:r>
            <a:endParaRPr sz="1200"/>
          </a:p>
        </p:txBody>
      </p:sp>
      <p:sp>
        <p:nvSpPr>
          <p:cNvPr id="253" name="Google Shape;253;p30"/>
          <p:cNvSpPr txBox="1"/>
          <p:nvPr/>
        </p:nvSpPr>
        <p:spPr>
          <a:xfrm>
            <a:off x="4174375" y="29884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260" name="Google Shape;260;p3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Programming Assignment 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31"/>
          <p:cNvCxnSpPr>
            <a:stCxn id="263" idx="2"/>
            <a:endCxn id="264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5" name="Google Shape;265;p3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67" name="Google Shape;267;p31"/>
          <p:cNvCxnSpPr>
            <a:stCxn id="265" idx="1"/>
            <a:endCxn id="263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31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3231025" y="2533300"/>
            <a:ext cx="25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DEFINE * pineapple</a:t>
            </a:r>
            <a:endParaRPr/>
          </a:p>
        </p:txBody>
      </p:sp>
      <p:sp>
        <p:nvSpPr>
          <p:cNvPr id="270" name="Google Shape;270;p31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4" name="Google Shape;264;p3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71" name="Google Shape;271;p31"/>
          <p:cNvCxnSpPr>
            <a:stCxn id="259" idx="3"/>
            <a:endCxn id="264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31"/>
          <p:cNvSpPr txBox="1"/>
          <p:nvPr/>
        </p:nvSpPr>
        <p:spPr>
          <a:xfrm>
            <a:off x="247500" y="1989175"/>
            <a:ext cx="333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getDefinition(“pineapple”)</a:t>
            </a:r>
            <a:endParaRPr sz="1200"/>
          </a:p>
        </p:txBody>
      </p:sp>
      <p:sp>
        <p:nvSpPr>
          <p:cNvPr id="273" name="Google Shape;273;p31"/>
          <p:cNvSpPr txBox="1"/>
          <p:nvPr/>
        </p:nvSpPr>
        <p:spPr>
          <a:xfrm>
            <a:off x="4174375" y="29884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</a:t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2364950" y="1121425"/>
            <a:ext cx="3848100" cy="758700"/>
          </a:xfrm>
          <a:prstGeom prst="wedgeRoundRectCallout">
            <a:avLst>
              <a:gd fmla="val -45312" name="adj1"/>
              <a:gd fmla="val 71166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If the GUI calls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getDefinition(“pineapple”)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4535325" y="3185575"/>
            <a:ext cx="3848100" cy="1062900"/>
          </a:xfrm>
          <a:prstGeom prst="wedgeRoundRectCallout">
            <a:avLst>
              <a:gd fmla="val -41292" name="adj1"/>
              <a:gd fmla="val -8090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DictionaryConnection.java</a:t>
            </a:r>
            <a:r>
              <a:rPr lang="en-CA" sz="1800"/>
              <a:t> should send a message asking a DICT server to define “pineapple”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Sockets: Endpoint for communication between two programs over a network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Identified by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&lt;IP Address, Port&gt;</a:t>
            </a:r>
            <a:r>
              <a:rPr lang="en-CA"/>
              <a:t> pair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Important Clarification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device is identified by an </a:t>
            </a:r>
            <a:r>
              <a:rPr b="1" lang="en-CA"/>
              <a:t>IP address</a:t>
            </a:r>
            <a:endParaRPr b="1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specific process (program) is identified by a </a:t>
            </a:r>
            <a:r>
              <a:rPr b="1" lang="en-CA"/>
              <a:t>socket</a:t>
            </a:r>
            <a:r>
              <a:rPr lang="en-CA"/>
              <a:t> (IP + Port)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      were sockets!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 programming is available in many languages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This course focuses on </a:t>
            </a:r>
            <a:r>
              <a:rPr b="1" lang="en-CA"/>
              <a:t>Java</a:t>
            </a:r>
            <a:r>
              <a:rPr lang="en-CA"/>
              <a:t> and </a:t>
            </a:r>
            <a:r>
              <a:rPr b="1" lang="en-CA"/>
              <a:t>C</a:t>
            </a:r>
            <a:r>
              <a:rPr lang="en-CA"/>
              <a:t>, starting with Java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 u="sng">
                <a:solidFill>
                  <a:schemeClr val="hlink"/>
                </a:solidFill>
                <a:hlinkClick r:id="rId3"/>
              </a:rPr>
              <a:t>Java Socket Tutorial</a:t>
            </a:r>
            <a:endParaRPr/>
          </a:p>
        </p:txBody>
      </p:sp>
      <p:sp>
        <p:nvSpPr>
          <p:cNvPr id="281" name="Google Shape;281;p3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Tutorial 1 - </a:t>
            </a:r>
            <a:r>
              <a:rPr lang="en-CA">
                <a:solidFill>
                  <a:srgbClr val="0077C8"/>
                </a:solidFill>
              </a:rPr>
              <a:t>Exercise 5: Socket programming in Java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82" name="Google Shape;282;p32"/>
          <p:cNvSpPr/>
          <p:nvPr/>
        </p:nvSpPr>
        <p:spPr>
          <a:xfrm>
            <a:off x="1294394" y="2912416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 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"localhost"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4444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BufferedReader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BufferedReader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InputStreamReader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getInputStream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"Hello"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receive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String response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System.out.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(response);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Tutorial 1 - </a:t>
            </a:r>
            <a:r>
              <a:rPr lang="en-CA">
                <a:solidFill>
                  <a:srgbClr val="0077C8"/>
                </a:solidFill>
              </a:rPr>
              <a:t>Exercise 5: Socket programming in Java (Client)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ServerSocket serverSocket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ServerSocket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4444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 clientSocket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serverSocket.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accept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BufferedReader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BufferedReader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InputStreamReader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getInputStream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receive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String message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"Echo: "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+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message);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serverSocket.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3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Tutorial 1 - </a:t>
            </a:r>
            <a:r>
              <a:rPr lang="en-CA">
                <a:solidFill>
                  <a:srgbClr val="0077C8"/>
                </a:solidFill>
              </a:rPr>
              <a:t>Exercise 5: Socket programming in Java (Server)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Demo: EchoClient &amp; EchoServer </a:t>
            </a:r>
            <a:endParaRPr/>
          </a:p>
        </p:txBody>
      </p:sp>
      <p:sp>
        <p:nvSpPr>
          <p:cNvPr id="300" name="Google Shape;300;p35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5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EchoClient</a:t>
            </a:r>
            <a:endParaRPr/>
          </a:p>
        </p:txBody>
      </p:sp>
      <p:sp>
        <p:nvSpPr>
          <p:cNvPr id="302" name="Google Shape;302;p35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3" name="Google Shape;303;p35"/>
          <p:cNvCxnSpPr>
            <a:stCxn id="304" idx="2"/>
            <a:endCxn id="305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6" name="Google Shape;306;p35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EchoServer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08" name="Google Shape;308;p35"/>
          <p:cNvCxnSpPr>
            <a:stCxn id="306" idx="1"/>
            <a:endCxn id="30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35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3231025" y="2588275"/>
            <a:ext cx="25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311" name="Google Shape;311;p35"/>
          <p:cNvSpPr txBox="1"/>
          <p:nvPr/>
        </p:nvSpPr>
        <p:spPr>
          <a:xfrm>
            <a:off x="1236602" y="1327261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12" name="Google Shape;312;p35"/>
          <p:cNvCxnSpPr>
            <a:stCxn id="301" idx="3"/>
            <a:endCxn id="30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</a:t>
            </a:r>
            <a:r>
              <a:rPr lang="en-CA">
                <a:solidFill>
                  <a:srgbClr val="0077C8"/>
                </a:solidFill>
              </a:rPr>
              <a:t> 1: Read EchoClient’s Code</a:t>
            </a:r>
            <a:endParaRPr/>
          </a:p>
        </p:txBody>
      </p:sp>
      <p:sp>
        <p:nvSpPr>
          <p:cNvPr id="318" name="Google Shape;318;p36"/>
          <p:cNvSpPr txBox="1"/>
          <p:nvPr/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Which line of code is necessary for creating a connection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write a message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read a message from the server?</a:t>
            </a:r>
            <a:endParaRPr sz="12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Read EchoClient’s Code</a:t>
            </a:r>
            <a:endParaRPr/>
          </a:p>
        </p:txBody>
      </p:sp>
      <p:sp>
        <p:nvSpPr>
          <p:cNvPr id="324" name="Google Shape;324;p37"/>
          <p:cNvSpPr txBox="1"/>
          <p:nvPr/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Which line of code is necessary for creating a connection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write a message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read a message from the server?</a:t>
            </a:r>
            <a:endParaRPr sz="12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325" name="Google Shape;325;p37"/>
          <p:cNvSpPr txBox="1"/>
          <p:nvPr>
            <p:ph idx="1" type="body"/>
          </p:nvPr>
        </p:nvSpPr>
        <p:spPr>
          <a:xfrm>
            <a:off x="924500" y="1359500"/>
            <a:ext cx="6024600" cy="405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48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Socket echoSocket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(hostName, portNumber);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Read EchoClient’s Code</a:t>
            </a:r>
            <a:endParaRPr/>
          </a:p>
        </p:txBody>
      </p:sp>
      <p:sp>
        <p:nvSpPr>
          <p:cNvPr id="331" name="Google Shape;331;p38"/>
          <p:cNvSpPr txBox="1"/>
          <p:nvPr/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Which line of code is necessary for creating a connection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write a message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read a message from the server?</a:t>
            </a:r>
            <a:endParaRPr sz="12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332" name="Google Shape;332;p38"/>
          <p:cNvSpPr txBox="1"/>
          <p:nvPr>
            <p:ph idx="1" type="body"/>
          </p:nvPr>
        </p:nvSpPr>
        <p:spPr>
          <a:xfrm>
            <a:off x="924500" y="1359500"/>
            <a:ext cx="6024600" cy="405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48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Socket echoSocket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(hostName, portNumber);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3" name="Google Shape;333;p38"/>
          <p:cNvSpPr txBox="1"/>
          <p:nvPr>
            <p:ph idx="1" type="body"/>
          </p:nvPr>
        </p:nvSpPr>
        <p:spPr>
          <a:xfrm>
            <a:off x="924500" y="2195700"/>
            <a:ext cx="6024600" cy="9804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49	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50	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(echoSocket.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60	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(userInput);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Read EchoClient’s Code</a:t>
            </a:r>
            <a:endParaRPr/>
          </a:p>
        </p:txBody>
      </p:sp>
      <p:sp>
        <p:nvSpPr>
          <p:cNvPr id="339" name="Google Shape;339;p39"/>
          <p:cNvSpPr txBox="1"/>
          <p:nvPr/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Which line of code is necessary for creating a connection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write a message to the server?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CA" sz="1200"/>
              <a:t>After the initial Socket has been created, which 2 lines of code are needed to read a message from the server?</a:t>
            </a:r>
            <a:endParaRPr sz="12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340" name="Google Shape;340;p39"/>
          <p:cNvSpPr txBox="1"/>
          <p:nvPr>
            <p:ph idx="1" type="body"/>
          </p:nvPr>
        </p:nvSpPr>
        <p:spPr>
          <a:xfrm>
            <a:off x="924500" y="1359500"/>
            <a:ext cx="6024600" cy="405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48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Socket echoSocket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(hostName, portNumber);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924500" y="2195700"/>
            <a:ext cx="6024600" cy="9804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49	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50	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(echoSocket.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60	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(userInput);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2" name="Google Shape;342;p39"/>
          <p:cNvSpPr txBox="1"/>
          <p:nvPr>
            <p:ph idx="1" type="body"/>
          </p:nvPr>
        </p:nvSpPr>
        <p:spPr>
          <a:xfrm>
            <a:off x="924500" y="3690125"/>
            <a:ext cx="6024600" cy="1232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51	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BufferedReader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=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52	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BufferedReader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53	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InputStreamReader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(echoSocket.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getInputStream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99999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61	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in.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349" name="Google Shape;349;p40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0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351" name="Google Shape;351;p40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2" name="Google Shape;352;p40"/>
          <p:cNvCxnSpPr>
            <a:stCxn id="353" idx="2"/>
            <a:endCxn id="354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5" name="Google Shape;355;p40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3" name="Google Shape;353;p40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57" name="Google Shape;357;p40"/>
          <p:cNvCxnSpPr>
            <a:stCxn id="355" idx="1"/>
            <a:endCxn id="353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40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59" name="Google Shape;359;p40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360" name="Google Shape;360;p40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61" name="Google Shape;361;p40"/>
          <p:cNvCxnSpPr>
            <a:stCxn id="350" idx="3"/>
            <a:endCxn id="354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368" name="Google Shape;368;p41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1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370" name="Google Shape;370;p41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41"/>
          <p:cNvCxnSpPr>
            <a:stCxn id="372" idx="2"/>
            <a:endCxn id="373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4" name="Google Shape;374;p41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2" name="Google Shape;372;p41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76" name="Google Shape;376;p41"/>
          <p:cNvCxnSpPr>
            <a:stCxn id="374" idx="1"/>
            <a:endCxn id="372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41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379" name="Google Shape;379;p41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3" name="Google Shape;373;p41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80" name="Google Shape;380;p41"/>
          <p:cNvCxnSpPr>
            <a:stCxn id="369" idx="3"/>
            <a:endCxn id="373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41"/>
          <p:cNvSpPr/>
          <p:nvPr/>
        </p:nvSpPr>
        <p:spPr>
          <a:xfrm>
            <a:off x="3366575" y="1898975"/>
            <a:ext cx="1557000" cy="451800"/>
          </a:xfrm>
          <a:prstGeom prst="wedgeRoundRectCallout">
            <a:avLst>
              <a:gd fmla="val -11685" name="adj1"/>
              <a:gd fmla="val -87412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It c</a:t>
            </a:r>
            <a:r>
              <a:rPr lang="en-CA" sz="1800"/>
              <a:t>ould be…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388" name="Google Shape;388;p42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2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390" name="Google Shape;390;p42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1" name="Google Shape;391;p42"/>
          <p:cNvCxnSpPr>
            <a:stCxn id="392" idx="2"/>
            <a:endCxn id="393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4" name="Google Shape;394;p42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5" name="Google Shape;395;p42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2" name="Google Shape;392;p42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96" name="Google Shape;396;p42"/>
          <p:cNvCxnSpPr>
            <a:stCxn id="394" idx="1"/>
            <a:endCxn id="392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42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98" name="Google Shape;398;p42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399" name="Google Shape;399;p42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3" name="Google Shape;393;p42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00" name="Google Shape;400;p42"/>
          <p:cNvCxnSpPr>
            <a:stCxn id="389" idx="3"/>
            <a:endCxn id="393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1" name="Google Shape;4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725" y="2735375"/>
            <a:ext cx="1541900" cy="15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408" name="Google Shape;408;p43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3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410" name="Google Shape;410;p43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p43"/>
          <p:cNvCxnSpPr>
            <a:stCxn id="412" idx="2"/>
            <a:endCxn id="413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4" name="Google Shape;414;p43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15" name="Google Shape;415;p43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12" name="Google Shape;412;p43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16" name="Google Shape;416;p43"/>
          <p:cNvCxnSpPr>
            <a:stCxn id="414" idx="1"/>
            <a:endCxn id="412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43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18" name="Google Shape;418;p43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419" name="Google Shape;419;p43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13" name="Google Shape;413;p43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20" name="Google Shape;420;p43"/>
          <p:cNvCxnSpPr>
            <a:stCxn id="409" idx="3"/>
            <a:endCxn id="413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1" name="Google Shape;4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725" y="2735375"/>
            <a:ext cx="1541900" cy="15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3"/>
          <p:cNvSpPr/>
          <p:nvPr/>
        </p:nvSpPr>
        <p:spPr>
          <a:xfrm>
            <a:off x="2183100" y="2058300"/>
            <a:ext cx="2388900" cy="878400"/>
          </a:xfrm>
          <a:prstGeom prst="wedgeRoundRectCallout">
            <a:avLst>
              <a:gd fmla="val -46742" name="adj1"/>
              <a:gd fmla="val 7388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A bug within the client application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4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429" name="Google Shape;429;p44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4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431" name="Google Shape;431;p44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44"/>
          <p:cNvCxnSpPr>
            <a:stCxn id="433" idx="2"/>
            <a:endCxn id="434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5" name="Google Shape;435;p44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6" name="Google Shape;436;p44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3" name="Google Shape;433;p44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37" name="Google Shape;437;p44"/>
          <p:cNvCxnSpPr>
            <a:stCxn id="435" idx="1"/>
            <a:endCxn id="433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44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39" name="Google Shape;439;p44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440" name="Google Shape;440;p44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4" name="Google Shape;434;p44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41" name="Google Shape;441;p44"/>
          <p:cNvCxnSpPr>
            <a:stCxn id="430" idx="3"/>
            <a:endCxn id="434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2" name="Google Shape;44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825" y="2700500"/>
            <a:ext cx="1541900" cy="15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5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449" name="Google Shape;449;p45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5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451" name="Google Shape;451;p45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2" name="Google Shape;452;p45"/>
          <p:cNvCxnSpPr>
            <a:stCxn id="453" idx="2"/>
            <a:endCxn id="454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55" name="Google Shape;455;p45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56" name="Google Shape;456;p45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53" name="Google Shape;453;p45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57" name="Google Shape;457;p45"/>
          <p:cNvCxnSpPr>
            <a:stCxn id="455" idx="1"/>
            <a:endCxn id="453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45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59" name="Google Shape;459;p45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460" name="Google Shape;460;p45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54" name="Google Shape;454;p45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61" name="Google Shape;461;p45"/>
          <p:cNvCxnSpPr>
            <a:stCxn id="450" idx="3"/>
            <a:endCxn id="454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62" name="Google Shape;46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825" y="2700500"/>
            <a:ext cx="1541900" cy="15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5"/>
          <p:cNvSpPr/>
          <p:nvPr/>
        </p:nvSpPr>
        <p:spPr>
          <a:xfrm>
            <a:off x="3117675" y="2177850"/>
            <a:ext cx="2171100" cy="878400"/>
          </a:xfrm>
          <a:prstGeom prst="wedgeRoundRectCallout">
            <a:avLst>
              <a:gd fmla="val -46742" name="adj1"/>
              <a:gd fmla="val 7388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Network failure 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E.g. Socket closed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470" name="Google Shape;470;p46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6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472" name="Google Shape;472;p46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3" name="Google Shape;473;p46"/>
          <p:cNvCxnSpPr>
            <a:stCxn id="474" idx="2"/>
            <a:endCxn id="475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76" name="Google Shape;476;p46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7" name="Google Shape;477;p46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78" name="Google Shape;478;p46"/>
          <p:cNvCxnSpPr>
            <a:stCxn id="476" idx="1"/>
            <a:endCxn id="474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46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80" name="Google Shape;480;p46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481" name="Google Shape;481;p46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82" name="Google Shape;482;p46"/>
          <p:cNvCxnSpPr>
            <a:stCxn id="471" idx="3"/>
            <a:endCxn id="475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83" name="Google Shape;48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075" y="2535900"/>
            <a:ext cx="1541900" cy="15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7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490" name="Google Shape;490;p47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7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492" name="Google Shape;492;p47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p47"/>
          <p:cNvCxnSpPr>
            <a:stCxn id="494" idx="2"/>
            <a:endCxn id="495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6" name="Google Shape;496;p47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97" name="Google Shape;497;p47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94" name="Google Shape;494;p47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98" name="Google Shape;498;p47"/>
          <p:cNvCxnSpPr>
            <a:stCxn id="496" idx="1"/>
            <a:endCxn id="494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47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00" name="Google Shape;500;p47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501" name="Google Shape;501;p47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95" name="Google Shape;495;p47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02" name="Google Shape;502;p47"/>
          <p:cNvCxnSpPr>
            <a:stCxn id="491" idx="3"/>
            <a:endCxn id="495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03" name="Google Shape;50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075" y="2535900"/>
            <a:ext cx="1541900" cy="15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7"/>
          <p:cNvSpPr/>
          <p:nvPr/>
        </p:nvSpPr>
        <p:spPr>
          <a:xfrm>
            <a:off x="4445200" y="1820450"/>
            <a:ext cx="2171100" cy="878400"/>
          </a:xfrm>
          <a:prstGeom prst="wedgeRoundRectCallout">
            <a:avLst>
              <a:gd fmla="val -46742" name="adj1"/>
              <a:gd fmla="val 7388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Network failure 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E.g. Packet loss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8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511" name="Google Shape;511;p48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8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513" name="Google Shape;513;p48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4" name="Google Shape;514;p48"/>
          <p:cNvCxnSpPr>
            <a:stCxn id="515" idx="2"/>
            <a:endCxn id="516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17" name="Google Shape;517;p48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18" name="Google Shape;518;p48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15" name="Google Shape;515;p48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19" name="Google Shape;519;p48"/>
          <p:cNvCxnSpPr>
            <a:stCxn id="517" idx="1"/>
            <a:endCxn id="515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0" name="Google Shape;520;p48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21" name="Google Shape;521;p48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522" name="Google Shape;522;p48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16" name="Google Shape;516;p48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23" name="Google Shape;523;p48"/>
          <p:cNvCxnSpPr>
            <a:stCxn id="512" idx="3"/>
            <a:endCxn id="516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4" name="Google Shape;52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975" y="3163650"/>
            <a:ext cx="1541900" cy="15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9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531" name="Google Shape;531;p49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9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533" name="Google Shape;533;p49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4" name="Google Shape;534;p49"/>
          <p:cNvCxnSpPr>
            <a:stCxn id="535" idx="2"/>
            <a:endCxn id="536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37" name="Google Shape;537;p49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38" name="Google Shape;538;p49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35" name="Google Shape;535;p49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39" name="Google Shape;539;p49"/>
          <p:cNvCxnSpPr>
            <a:stCxn id="537" idx="1"/>
            <a:endCxn id="535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49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41" name="Google Shape;541;p49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542" name="Google Shape;542;p49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36" name="Google Shape;536;p49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43" name="Google Shape;543;p49"/>
          <p:cNvCxnSpPr>
            <a:stCxn id="532" idx="3"/>
            <a:endCxn id="536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44" name="Google Shape;54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975" y="3163650"/>
            <a:ext cx="1541900" cy="15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9"/>
          <p:cNvSpPr/>
          <p:nvPr/>
        </p:nvSpPr>
        <p:spPr>
          <a:xfrm>
            <a:off x="5415825" y="2891350"/>
            <a:ext cx="1731600" cy="615600"/>
          </a:xfrm>
          <a:prstGeom prst="wedgeRoundRectCallout">
            <a:avLst>
              <a:gd fmla="val -46742" name="adj1"/>
              <a:gd fmla="val 7388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Wrong port #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0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552" name="Google Shape;552;p50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0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554" name="Google Shape;554;p50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5" name="Google Shape;555;p50"/>
          <p:cNvCxnSpPr>
            <a:stCxn id="556" idx="2"/>
            <a:endCxn id="557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8" name="Google Shape;558;p50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59" name="Google Shape;559;p50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56" name="Google Shape;556;p50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60" name="Google Shape;560;p50"/>
          <p:cNvCxnSpPr>
            <a:stCxn id="558" idx="1"/>
            <a:endCxn id="556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50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62" name="Google Shape;562;p50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563" name="Google Shape;563;p50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57" name="Google Shape;557;p50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64" name="Google Shape;564;p50"/>
          <p:cNvCxnSpPr>
            <a:stCxn id="553" idx="3"/>
            <a:endCxn id="557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65" name="Google Shape;56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975" y="1275650"/>
            <a:ext cx="1541900" cy="15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1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572" name="Google Shape;572;p51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1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574" name="Google Shape;574;p51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5" name="Google Shape;575;p51"/>
          <p:cNvCxnSpPr>
            <a:stCxn id="576" idx="2"/>
            <a:endCxn id="577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78" name="Google Shape;578;p51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79" name="Google Shape;579;p51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76" name="Google Shape;576;p51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80" name="Google Shape;580;p51"/>
          <p:cNvCxnSpPr>
            <a:stCxn id="578" idx="1"/>
            <a:endCxn id="576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" name="Google Shape;581;p51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82" name="Google Shape;582;p51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583" name="Google Shape;583;p51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77" name="Google Shape;577;p51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84" name="Google Shape;584;p51"/>
          <p:cNvCxnSpPr>
            <a:stCxn id="573" idx="3"/>
            <a:endCxn id="577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85" name="Google Shape;5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975" y="1275650"/>
            <a:ext cx="1541900" cy="15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1"/>
          <p:cNvSpPr/>
          <p:nvPr/>
        </p:nvSpPr>
        <p:spPr>
          <a:xfrm>
            <a:off x="4572000" y="958475"/>
            <a:ext cx="1912200" cy="615600"/>
          </a:xfrm>
          <a:prstGeom prst="wedgeRoundRectCallout">
            <a:avLst>
              <a:gd fmla="val 53064" name="adj1"/>
              <a:gd fmla="val 9103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Wrong address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2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593" name="Google Shape;593;p52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2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595" name="Google Shape;595;p52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6" name="Google Shape;596;p52"/>
          <p:cNvCxnSpPr>
            <a:stCxn id="597" idx="2"/>
            <a:endCxn id="598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99" name="Google Shape;599;p52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00" name="Google Shape;600;p52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97" name="Google Shape;597;p52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601" name="Google Shape;601;p52"/>
          <p:cNvCxnSpPr>
            <a:stCxn id="599" idx="1"/>
            <a:endCxn id="597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2" name="Google Shape;602;p52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03" name="Google Shape;603;p52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604" name="Google Shape;604;p52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98" name="Google Shape;598;p52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605" name="Google Shape;605;p52"/>
          <p:cNvCxnSpPr>
            <a:stCxn id="594" idx="3"/>
            <a:endCxn id="598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06" name="Google Shape;60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975" y="2735375"/>
            <a:ext cx="1541900" cy="15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3"/>
          <p:cNvSpPr txBox="1"/>
          <p:nvPr>
            <p:ph idx="1" type="body"/>
          </p:nvPr>
        </p:nvSpPr>
        <p:spPr>
          <a:xfrm>
            <a:off x="438950" y="1131902"/>
            <a:ext cx="7661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Debugging is important in network programming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Failures are less intuitive to locate.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</a:t>
            </a:r>
            <a:endParaRPr/>
          </a:p>
        </p:txBody>
      </p:sp>
      <p:sp>
        <p:nvSpPr>
          <p:cNvPr id="613" name="Google Shape;613;p53"/>
          <p:cNvSpPr/>
          <p:nvPr/>
        </p:nvSpPr>
        <p:spPr>
          <a:xfrm>
            <a:off x="547665" y="2246336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3"/>
          <p:cNvSpPr/>
          <p:nvPr/>
        </p:nvSpPr>
        <p:spPr>
          <a:xfrm>
            <a:off x="1175163" y="2876950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PA1</a:t>
            </a:r>
            <a:endParaRPr/>
          </a:p>
        </p:txBody>
      </p:sp>
      <p:sp>
        <p:nvSpPr>
          <p:cNvPr id="615" name="Google Shape;615;p53"/>
          <p:cNvSpPr/>
          <p:nvPr/>
        </p:nvSpPr>
        <p:spPr>
          <a:xfrm>
            <a:off x="5696913" y="2246950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6" name="Google Shape;616;p53"/>
          <p:cNvCxnSpPr>
            <a:stCxn id="617" idx="2"/>
            <a:endCxn id="618" idx="6"/>
          </p:cNvCxnSpPr>
          <p:nvPr/>
        </p:nvCxnSpPr>
        <p:spPr>
          <a:xfrm rot="10800000">
            <a:off x="3186529" y="3506950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19" name="Google Shape;619;p53"/>
          <p:cNvSpPr/>
          <p:nvPr/>
        </p:nvSpPr>
        <p:spPr>
          <a:xfrm>
            <a:off x="6326913" y="287695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20" name="Google Shape;620;p53"/>
          <p:cNvSpPr txBox="1"/>
          <p:nvPr/>
        </p:nvSpPr>
        <p:spPr>
          <a:xfrm>
            <a:off x="6277125" y="1846350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17" name="Google Shape;617;p53"/>
          <p:cNvSpPr/>
          <p:nvPr/>
        </p:nvSpPr>
        <p:spPr>
          <a:xfrm>
            <a:off x="55754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621" name="Google Shape;621;p53"/>
          <p:cNvCxnSpPr>
            <a:stCxn id="619" idx="1"/>
            <a:endCxn id="617" idx="6"/>
          </p:cNvCxnSpPr>
          <p:nvPr/>
        </p:nvCxnSpPr>
        <p:spPr>
          <a:xfrm rot="10800000">
            <a:off x="581511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2" name="Google Shape;622;p53"/>
          <p:cNvSpPr txBox="1"/>
          <p:nvPr/>
        </p:nvSpPr>
        <p:spPr>
          <a:xfrm>
            <a:off x="4804275" y="3626800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23" name="Google Shape;623;p53"/>
          <p:cNvSpPr txBox="1"/>
          <p:nvPr/>
        </p:nvSpPr>
        <p:spPr>
          <a:xfrm>
            <a:off x="3701225" y="3106750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624" name="Google Shape;624;p53"/>
          <p:cNvSpPr txBox="1"/>
          <p:nvPr/>
        </p:nvSpPr>
        <p:spPr>
          <a:xfrm>
            <a:off x="1127877" y="1845736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18" name="Google Shape;618;p53"/>
          <p:cNvSpPr/>
          <p:nvPr/>
        </p:nvSpPr>
        <p:spPr>
          <a:xfrm>
            <a:off x="2946929" y="3387100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625" name="Google Shape;625;p53"/>
          <p:cNvCxnSpPr>
            <a:stCxn id="614" idx="3"/>
            <a:endCxn id="618" idx="2"/>
          </p:cNvCxnSpPr>
          <p:nvPr/>
        </p:nvCxnSpPr>
        <p:spPr>
          <a:xfrm>
            <a:off x="2435163" y="3506950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26" name="Google Shape;62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975" y="2735375"/>
            <a:ext cx="1541900" cy="15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53"/>
          <p:cNvSpPr/>
          <p:nvPr/>
        </p:nvSpPr>
        <p:spPr>
          <a:xfrm>
            <a:off x="4471100" y="2546300"/>
            <a:ext cx="2107200" cy="615600"/>
          </a:xfrm>
          <a:prstGeom prst="wedgeRoundRectCallout">
            <a:avLst>
              <a:gd fmla="val 41432" name="adj1"/>
              <a:gd fmla="val 6846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Server down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4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getDefinitions</a:t>
            </a:r>
            <a:r>
              <a:rPr lang="en-CA"/>
              <a:t> has roughly the following signature: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word</a:t>
            </a:r>
            <a:r>
              <a:rPr lang="en-CA"/>
              <a:t> is the word we want to define.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database</a:t>
            </a:r>
            <a:r>
              <a:rPr lang="en-CA"/>
              <a:t> is the dictionary database we are searching 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we received the following response in tutorial 1:</a:t>
            </a:r>
            <a:endParaRPr/>
          </a:p>
        </p:txBody>
      </p:sp>
      <p:sp>
        <p:nvSpPr>
          <p:cNvPr id="633" name="Google Shape;633;p5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Debugging: Writing Tests -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getDefinitions()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34" name="Google Shape;634;p54"/>
          <p:cNvSpPr txBox="1"/>
          <p:nvPr>
            <p:ph idx="1" type="body"/>
          </p:nvPr>
        </p:nvSpPr>
        <p:spPr>
          <a:xfrm>
            <a:off x="924500" y="1426850"/>
            <a:ext cx="6024600" cy="405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Collection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Definition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getDefinitions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(String word, Database database)</a:t>
            </a:r>
            <a:endParaRPr sz="900">
              <a:solidFill>
                <a:srgbClr val="999999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35" name="Google Shape;635;p54" title="Screenshot 2026-01-08 at 4.06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500" y="3108000"/>
            <a:ext cx="4778801" cy="12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5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From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netcat</a:t>
            </a:r>
            <a:r>
              <a:rPr lang="en-CA"/>
              <a:t> response, we can expect the following 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getDefinitions</a:t>
            </a:r>
            <a:r>
              <a:rPr lang="en-CA"/>
              <a:t> call would return…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A collection including the following definition object: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Debugging: Writing Tests -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getDefinitions()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42" name="Google Shape;642;p55"/>
          <p:cNvSpPr txBox="1"/>
          <p:nvPr>
            <p:ph idx="1" type="body"/>
          </p:nvPr>
        </p:nvSpPr>
        <p:spPr>
          <a:xfrm>
            <a:off x="924500" y="1731225"/>
            <a:ext cx="6024600" cy="5304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 wn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Database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"wn"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"WordNet (r) 3.0 (2006)"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getDefinitions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"pemican"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wn);</a:t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3" name="Google Shape;643;p55"/>
          <p:cNvSpPr txBox="1"/>
          <p:nvPr>
            <p:ph idx="1" type="body"/>
          </p:nvPr>
        </p:nvSpPr>
        <p:spPr>
          <a:xfrm>
            <a:off x="924500" y="2980500"/>
            <a:ext cx="6024600" cy="15759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word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"pemican"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database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"wn"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definition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"pemican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 1: lean dried meat pounded fine and mixed with melted fat;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used especially by North American Indians [syn: {pemmican},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{pemican}]"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6"/>
          <p:cNvSpPr txBox="1"/>
          <p:nvPr>
            <p:ph idx="1" type="body"/>
          </p:nvPr>
        </p:nvSpPr>
        <p:spPr>
          <a:xfrm>
            <a:off x="438950" y="1131900"/>
            <a:ext cx="7661400" cy="21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network analyzer tool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Used to capture and inspect packets on a network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Useful for debugging network programs and protocols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We can use it to see what messages are actually sent and received</a:t>
            </a:r>
            <a:endParaRPr/>
          </a:p>
        </p:txBody>
      </p:sp>
      <p:sp>
        <p:nvSpPr>
          <p:cNvPr id="649" name="Google Shape;649;p5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Demo: Wireshark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