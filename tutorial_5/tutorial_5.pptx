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Roboto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Mono-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RobotoMon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d.root-servers.net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ns2.google.com" TargetMode="Externa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alexa.amazon.com" TargetMode="External"/><Relationship Id="rId3" Type="http://schemas.openxmlformats.org/officeDocument/2006/relationships/hyperlink" Target="http://upassbc.translink.ca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b0d18436f_0_2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3" name="Google Shape;63;g3eb0d18436f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eb0d18436f_0_2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b0d18436f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eb0d18436f_0_2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b0d18436f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Take ~5 min to read through the example on github pages, then discuss with a partner how you would implement this in PA2 (think about the control flow and the </a:t>
            </a:r>
            <a:r>
              <a:rPr lang="en-CA"/>
              <a:t>different</a:t>
            </a:r>
            <a:r>
              <a:rPr lang="en-CA"/>
              <a:t> cases to consider). We’ll walk through it together next.</a:t>
            </a:r>
            <a:endParaRPr/>
          </a:p>
        </p:txBody>
      </p:sp>
      <p:sp>
        <p:nvSpPr>
          <p:cNvPr id="77" name="Google Shape;77;g3eb0d18436f_0_2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b0d18436f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IP corresponds to a root nameserver (</a:t>
            </a:r>
            <a:r>
              <a:rPr lang="en-CA" u="sng">
                <a:solidFill>
                  <a:schemeClr val="hlink"/>
                </a:solidFill>
                <a:hlinkClick r:id="rId2"/>
              </a:rPr>
              <a:t>d.root-servers.net</a:t>
            </a:r>
            <a:r>
              <a:rPr lang="en-CA"/>
              <a:t>). We don’t get a direct answer and are instead redirected to name servers for TLD ca, with an IP address provided.</a:t>
            </a:r>
            <a:endParaRPr/>
          </a:p>
        </p:txBody>
      </p:sp>
      <p:sp>
        <p:nvSpPr>
          <p:cNvPr id="83" name="Google Shape;83;g3eb0d18436f_0_2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b0d18436f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eb0d18436f_0_2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b0d18436f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Ask the TLD server about our original queried domain and we get a google NS, but with no IP.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Are we stuck? What can we do?</a:t>
            </a:r>
            <a:endParaRPr/>
          </a:p>
        </p:txBody>
      </p:sp>
      <p:sp>
        <p:nvSpPr>
          <p:cNvPr id="98" name="Google Shape;98;g3eb0d18436f_0_2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b0d18436f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eb0d18436f_0_2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b0d18436f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Ask the root server! It directs us to TLD NS for com, this time with IP</a:t>
            </a:r>
            <a:endParaRPr/>
          </a:p>
        </p:txBody>
      </p:sp>
      <p:sp>
        <p:nvSpPr>
          <p:cNvPr id="113" name="Google Shape;113;g3eb0d18436f_0_2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b0d18436f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eb0d18436f_0_2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b0d18436f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Query the TLD server and we get IP address this time</a:t>
            </a:r>
            <a:endParaRPr/>
          </a:p>
        </p:txBody>
      </p:sp>
      <p:sp>
        <p:nvSpPr>
          <p:cNvPr id="129" name="Google Shape;129;g3eb0d18436f_0_2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b0d18436f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eb0d18436f_0_2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b0d18436f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Query the original domain through the </a:t>
            </a:r>
            <a:r>
              <a:rPr lang="en-CA" u="sng">
                <a:solidFill>
                  <a:schemeClr val="hlink"/>
                </a:solidFill>
                <a:hlinkClick r:id="rId2"/>
              </a:rPr>
              <a:t>ns2.google.com</a:t>
            </a:r>
            <a:r>
              <a:rPr lang="en-CA"/>
              <a:t> NS (now that we have its IP)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Note CNAME (canonical name) traversal to get from original domain to the IP</a:t>
            </a:r>
            <a:endParaRPr/>
          </a:p>
        </p:txBody>
      </p:sp>
      <p:sp>
        <p:nvSpPr>
          <p:cNvPr id="143" name="Google Shape;143;g3eb0d18436f_0_2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b0d18436f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eb0d18436f_0_3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b0d18436f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Read through the code together and discuss with people next to you what this function is doing…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…then try out CNAME resolution with </a:t>
            </a:r>
            <a:r>
              <a:rPr lang="en-CA" u="sng">
                <a:solidFill>
                  <a:schemeClr val="hlink"/>
                </a:solidFill>
                <a:hlinkClick r:id="rId2"/>
              </a:rPr>
              <a:t>alexa.amazon.com</a:t>
            </a:r>
            <a:r>
              <a:rPr lang="en-CA"/>
              <a:t> and </a:t>
            </a:r>
            <a:r>
              <a:rPr lang="en-CA" u="sng">
                <a:solidFill>
                  <a:schemeClr val="hlink"/>
                </a:solidFill>
                <a:hlinkClick r:id="rId3"/>
              </a:rPr>
              <a:t>upassbc.translink.ca</a:t>
            </a:r>
            <a:r>
              <a:rPr lang="en-CA"/>
              <a:t> using dig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Note CNAMEs are never pointed to IP addresses, only domains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If time: explain why CNAMEs are used in the first place (simplifying </a:t>
            </a:r>
            <a:r>
              <a:rPr lang="en-CA"/>
              <a:t>routing)</a:t>
            </a:r>
            <a:endParaRPr/>
          </a:p>
        </p:txBody>
      </p:sp>
      <p:sp>
        <p:nvSpPr>
          <p:cNvPr id="158" name="Google Shape;158;g3eb0d18436f_0_3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b0d18436f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This is recursive!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Since we’re recursive, what is our base case(s) and what is our recursive case? (in plain English)</a:t>
            </a:r>
            <a:endParaRPr/>
          </a:p>
        </p:txBody>
      </p:sp>
      <p:sp>
        <p:nvSpPr>
          <p:cNvPr id="164" name="Google Shape;164;g3eb0d18436f_0_3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b0d18436f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eb0d18436f_0_3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b0d18436f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eb0d18436f_0_3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b0d18436f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eb0d18436f_0_3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b0d18436f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iterativeQuery() does not follow CNAME chains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getResultsFollowingCNames() does</a:t>
            </a:r>
            <a:endParaRPr/>
          </a:p>
        </p:txBody>
      </p:sp>
      <p:sp>
        <p:nvSpPr>
          <p:cNvPr id="198" name="Google Shape;198;g3eb0d18436f_0_3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b0d18436f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eb0d18436f_0_3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b0d18436f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Take 5 minutes to read the specified section and answer the questions (and understand why the answers are what they are)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First - in plain English, why would we ever want TCP fallback as part of the DNS protocol?</a:t>
            </a:r>
            <a:endParaRPr/>
          </a:p>
        </p:txBody>
      </p:sp>
      <p:sp>
        <p:nvSpPr>
          <p:cNvPr id="212" name="Google Shape;212;g3eb0d18436f_0_3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b0d18436f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eb0d18436f_0_3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eb0d18436f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eb0d18436f_0_3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eb0d18436f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To save you time counting, this is 39 bytes</a:t>
            </a:r>
            <a:endParaRPr/>
          </a:p>
        </p:txBody>
      </p:sp>
      <p:sp>
        <p:nvSpPr>
          <p:cNvPr id="230" name="Google Shape;230;g3eb0d18436f_0_3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b0d18436f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eb0d18436f_0_3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1">
  <p:cSld name="Title Slide - 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8243888" y="1131888"/>
            <a:ext cx="900000" cy="113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2014_logo_only_reverse.png" id="52" name="Google Shape;5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85188" y="1419225"/>
            <a:ext cx="407987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65762" y="3003798"/>
            <a:ext cx="5430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5750" lvl="1" marL="9144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5750" lvl="2" marL="13716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5750" lvl="3" marL="1828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365762" y="3507855"/>
            <a:ext cx="5430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0C2344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C234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5750" lvl="1" marL="9144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5750" lvl="2" marL="13716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5750" lvl="3" marL="1828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365587" y="1141558"/>
            <a:ext cx="5438700" cy="15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400" u="none" cap="none" strike="noStrike">
                <a:solidFill>
                  <a:srgbClr val="1F8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py Slide - 1">
  <p:cSld name="Copy Slide - 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4b282c2015.png" id="57" name="Google Shape;5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13763" y="1439863"/>
            <a:ext cx="363537" cy="49371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/>
        </p:nvSpPr>
        <p:spPr>
          <a:xfrm flipH="1">
            <a:off x="8588375" y="4732338"/>
            <a:ext cx="304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fld id="{00000000-1234-1234-1234-123412341234}" type="slidenum">
              <a:rPr b="0" i="0" lang="en-CA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100" u="none" cap="none" strike="noStrike">
                <a:solidFill>
                  <a:srgbClr val="1F8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atatracker.ietf.org/doc/html/rfc1035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atatracker.ietf.org/doc/html/rfc1035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atatracker.ietf.org/doc/html/rfc1035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65762" y="3003798"/>
            <a:ext cx="5430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CA"/>
              <a:t>DNS - Part 2</a:t>
            </a:r>
            <a:endParaRPr b="1"/>
          </a:p>
        </p:txBody>
      </p:sp>
      <p:sp>
        <p:nvSpPr>
          <p:cNvPr id="67" name="Google Shape;67;p15"/>
          <p:cNvSpPr txBox="1"/>
          <p:nvPr>
            <p:ph idx="2" type="body"/>
          </p:nvPr>
        </p:nvSpPr>
        <p:spPr>
          <a:xfrm>
            <a:off x="365762" y="3507855"/>
            <a:ext cx="5430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Slides by Han Kim</a:t>
            </a:r>
            <a:endParaRPr/>
          </a:p>
        </p:txBody>
      </p:sp>
      <p:sp>
        <p:nvSpPr>
          <p:cNvPr id="68" name="Google Shape;68;p15"/>
          <p:cNvSpPr txBox="1"/>
          <p:nvPr>
            <p:ph type="title"/>
          </p:nvPr>
        </p:nvSpPr>
        <p:spPr>
          <a:xfrm>
            <a:off x="365573" y="1141550"/>
            <a:ext cx="4700400" cy="15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CA" sz="3500">
                <a:solidFill>
                  <a:srgbClr val="0077C9"/>
                </a:solidFill>
              </a:rPr>
              <a:t>Tutorial 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Another tutorial to help with PA2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More DNS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Resolving a nameserver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PA2 - Tracing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getResultsFollowingCNames()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TCP Fallback</a:t>
            </a:r>
            <a:endParaRPr/>
          </a:p>
        </p:txBody>
      </p:sp>
      <p:sp>
        <p:nvSpPr>
          <p:cNvPr id="74" name="Google Shape;74;p16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Overview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/>
              <a:t>DNS resolves </a:t>
            </a:r>
            <a:r>
              <a:rPr b="1" lang="en-CA">
                <a:solidFill>
                  <a:srgbClr val="E06666"/>
                </a:solidFill>
              </a:rPr>
              <a:t>domain names</a:t>
            </a:r>
            <a:r>
              <a:rPr b="1" lang="en-CA"/>
              <a:t> </a:t>
            </a:r>
            <a:r>
              <a:rPr lang="en-CA"/>
              <a:t>to a </a:t>
            </a:r>
            <a:r>
              <a:rPr b="1" lang="en-CA">
                <a:solidFill>
                  <a:srgbClr val="E06666"/>
                </a:solidFill>
              </a:rPr>
              <a:t>IP addresses</a:t>
            </a:r>
            <a:endParaRPr b="1">
              <a:solidFill>
                <a:srgbClr val="E0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/>
              <a:t>What if a DNS response gives us:</a:t>
            </a:r>
            <a:endParaRPr/>
          </a:p>
          <a:p>
            <a:pPr indent="-316706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/>
              <a:t>A nameserver domain name (</a:t>
            </a:r>
            <a:r>
              <a:rPr b="1" lang="en-CA">
                <a:latin typeface="Courier"/>
                <a:ea typeface="Courier"/>
                <a:cs typeface="Courier"/>
                <a:sym typeface="Courier"/>
              </a:rPr>
              <a:t>NS</a:t>
            </a:r>
            <a:r>
              <a:rPr b="1" lang="en-CA"/>
              <a:t> Record</a:t>
            </a:r>
            <a:r>
              <a:rPr lang="en-CA"/>
              <a:t>)</a:t>
            </a:r>
            <a:endParaRPr/>
          </a:p>
          <a:p>
            <a:pPr indent="-316706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/>
              <a:t>Without an IP address in its additional section (</a:t>
            </a:r>
            <a:r>
              <a:rPr b="1" lang="en-CA">
                <a:latin typeface="Courier"/>
                <a:ea typeface="Courier"/>
                <a:cs typeface="Courier"/>
                <a:sym typeface="Courier"/>
              </a:rPr>
              <a:t>A</a:t>
            </a:r>
            <a:r>
              <a:rPr b="1" lang="en-CA"/>
              <a:t> / </a:t>
            </a:r>
            <a:r>
              <a:rPr b="1" lang="en-CA">
                <a:latin typeface="Courier"/>
                <a:ea typeface="Courier"/>
                <a:cs typeface="Courier"/>
                <a:sym typeface="Courier"/>
              </a:rPr>
              <a:t>AAAA</a:t>
            </a:r>
            <a:r>
              <a:rPr b="1" lang="en-CA"/>
              <a:t> Record</a:t>
            </a:r>
            <a:r>
              <a:rPr lang="en-CA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/>
              <a:t>We will look through one specific example together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CA">
                <a:solidFill>
                  <a:srgbClr val="FF0000"/>
                </a:solidFill>
              </a:rPr>
              <a:t>Note:</a:t>
            </a:r>
            <a:r>
              <a:rPr lang="en-CA"/>
              <a:t> The trace in this activity is from a fully implemented PA2(DNS client), not from </a:t>
            </a: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dig</a:t>
            </a:r>
            <a:endParaRPr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/>
              <a:t>Commands/Syntax used in this example:</a:t>
            </a:r>
            <a:endParaRPr/>
          </a:p>
          <a:p>
            <a:pPr indent="-316706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verbose on</a:t>
            </a:r>
            <a:r>
              <a:rPr lang="en-CA"/>
              <a:t>: Prints queries and responses in more detail</a:t>
            </a:r>
            <a:endParaRPr/>
          </a:p>
          <a:p>
            <a:pPr indent="-316706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 hostname</a:t>
            </a:r>
            <a:r>
              <a:rPr lang="en-CA"/>
              <a:t>: Looks up the A record for hostname</a:t>
            </a:r>
            <a:endParaRPr/>
          </a:p>
          <a:p>
            <a:pPr indent="-316706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/>
              <a:t>More commands are explained on the PA2 assignment page</a:t>
            </a:r>
            <a:endParaRPr/>
          </a:p>
        </p:txBody>
      </p:sp>
      <p:sp>
        <p:nvSpPr>
          <p:cNvPr id="80" name="Google Shape;80;p17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More DNS: Resolving a Nameserver - Before the activity…</a:t>
            </a:r>
            <a:endParaRPr>
              <a:solidFill>
                <a:srgbClr val="0077C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438950" y="1131900"/>
            <a:ext cx="8538000" cy="38481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</a:t>
            </a:r>
            <a:endParaRPr sz="9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[Using UDP] Query ID     23527 </a:t>
            </a:r>
            <a:r>
              <a:rPr b="1" lang="en-CA" sz="900">
                <a:solidFill>
                  <a:srgbClr val="00FFFF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finance.google.ca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A --&gt; </a:t>
            </a:r>
            <a:r>
              <a:rPr b="1" lang="en-CA" sz="900">
                <a:solidFill>
                  <a:srgbClr val="FF0000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199.7.91.13</a:t>
            </a:r>
            <a:endParaRPr b="1" sz="900">
              <a:solidFill>
                <a:srgbClr val="FF0000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Response ID: 23527 Authoritative = false TC = false Error = 0 (No error)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Answers (0)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Nameservers (4)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ca                             172800     NS    IN    c.ca-servers.ca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ca                             172800     NS    IN    d.ca-servers.ca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ca                             172800     NS    IN    </a:t>
            </a:r>
            <a:r>
              <a:rPr b="1" lang="en-CA" sz="900">
                <a:solidFill>
                  <a:srgbClr val="FF9900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j.ca-servers.ca</a:t>
            </a:r>
            <a:endParaRPr b="1" sz="900">
              <a:solidFill>
                <a:srgbClr val="FF9900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ca                             172800     NS    IN    any.ca-servers.ca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Additional Information (8)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c.ca-servers.ca                172800     A     IN    185.159.196.2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d.ca-servers.ca                172800     A     IN    45.142.220.101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</a:t>
            </a:r>
            <a:r>
              <a:rPr lang="en-CA" sz="900">
                <a:solidFill>
                  <a:srgbClr val="FF0000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CA" sz="900">
                <a:solidFill>
                  <a:srgbClr val="FF9900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j.ca-servers.ca 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   172800     A     IN    </a:t>
            </a:r>
            <a:r>
              <a:rPr b="1" lang="en-CA" sz="900">
                <a:solidFill>
                  <a:srgbClr val="FF9900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198.182.167.1</a:t>
            </a:r>
            <a:endParaRPr b="1" sz="900">
              <a:solidFill>
                <a:srgbClr val="FF9900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any.ca-servers.ca              172800     A     IN    199.4.144.2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c.ca-servers.ca                172800     AAAA  IN    2620:10a:8053:0:0:0:0:2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d.ca-servers.ca                172800     AAAA  IN    2a0e:dbc0:0:0:0:0:0:101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j.ca-servers.ca                172800     AAAA  IN    2001:500:83:0:0:0:0:1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any.ca-servers.ca              172800     AAAA  IN    2001:500:a7:0:0:0:0:2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6" name="Google Shape;86;p18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More DNS: Resolving a Nameserver - Ask a Root NS</a:t>
            </a:r>
            <a:endParaRPr>
              <a:solidFill>
                <a:srgbClr val="0077C8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438950" y="1131900"/>
            <a:ext cx="8538000" cy="38481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</a:t>
            </a:r>
            <a:endParaRPr sz="9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[Using UDP] Query ID     23527 </a:t>
            </a:r>
            <a:r>
              <a:rPr b="1" lang="en-CA" sz="900">
                <a:solidFill>
                  <a:srgbClr val="00FFFF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finance.google.ca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A --&gt; </a:t>
            </a:r>
            <a:r>
              <a:rPr b="1" lang="en-CA" sz="900">
                <a:solidFill>
                  <a:srgbClr val="FF0000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199.7.91.13</a:t>
            </a:r>
            <a:endParaRPr b="1" sz="900">
              <a:solidFill>
                <a:srgbClr val="FF0000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Response ID: 23527 Authoritative = false TC = false Error = 0 (No error)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Answers (0)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Nameservers (4)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ca                             172800     NS    IN    c.ca-servers.ca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ca                             172800     NS    IN    d.ca-servers.ca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ca                             172800     NS    IN    </a:t>
            </a:r>
            <a:r>
              <a:rPr b="1" lang="en-CA" sz="900">
                <a:solidFill>
                  <a:srgbClr val="FF9900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j.ca-servers.ca</a:t>
            </a:r>
            <a:endParaRPr b="1" sz="900">
              <a:solidFill>
                <a:srgbClr val="FF9900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ca                             172800     NS    IN    any.ca-servers.ca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Additional Information (8)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c.ca-servers.ca                172800     A     IN    185.159.196.2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d.ca-servers.ca                172800     A     IN    45.142.220.101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</a:t>
            </a:r>
            <a:r>
              <a:rPr lang="en-CA" sz="900">
                <a:solidFill>
                  <a:srgbClr val="FF0000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CA" sz="900">
                <a:solidFill>
                  <a:srgbClr val="FF9900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j.ca-servers.ca 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   172800     A     IN    </a:t>
            </a:r>
            <a:r>
              <a:rPr b="1" lang="en-CA" sz="900">
                <a:solidFill>
                  <a:srgbClr val="FF9900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198.182.167.1</a:t>
            </a:r>
            <a:endParaRPr b="1" sz="900">
              <a:solidFill>
                <a:srgbClr val="FF9900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any.ca-servers.ca              172800     A     IN    199.4.144.2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c.ca-servers.ca                172800     AAAA  IN    2620:10a:8053:0:0:0:0:2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d.ca-servers.ca                172800     AAAA  IN    2a0e:dbc0:0:0:0:0:0:101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j.ca-servers.ca                172800     AAAA  IN    2001:500:83:0:0:0:0:1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any.ca-servers.ca              172800     AAAA  IN    2001:500:a7:0:0:0:0:2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2" name="Google Shape;92;p19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More DNS: Resolving a Nameserver - Ask a Root NS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93" name="Google Shape;93;p19"/>
          <p:cNvSpPr/>
          <p:nvPr/>
        </p:nvSpPr>
        <p:spPr>
          <a:xfrm>
            <a:off x="-257900" y="831825"/>
            <a:ext cx="7385700" cy="451800"/>
          </a:xfrm>
          <a:prstGeom prst="wedgeRoundRectCallout">
            <a:avLst>
              <a:gd fmla="val 20272" name="adj1"/>
              <a:gd fmla="val 81419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/>
              <a:t>We ask the root nameserver at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199.7.91.13</a:t>
            </a:r>
            <a:r>
              <a:rPr lang="en-CA"/>
              <a:t> for the </a:t>
            </a:r>
            <a:r>
              <a:rPr b="1" lang="en-CA">
                <a:latin typeface="Courier"/>
                <a:ea typeface="Courier"/>
                <a:cs typeface="Courier"/>
                <a:sym typeface="Courier"/>
              </a:rPr>
              <a:t>A</a:t>
            </a:r>
            <a:r>
              <a:rPr lang="en-CA"/>
              <a:t> record of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finance.google.ca</a:t>
            </a:r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1347700" y="1901725"/>
            <a:ext cx="7385700" cy="451800"/>
          </a:xfrm>
          <a:prstGeom prst="wedgeRoundRectCallout">
            <a:avLst>
              <a:gd fmla="val 6631" name="adj1"/>
              <a:gd fmla="val 91960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/>
              <a:t>The root nameserver does not return have the final answer, so it returns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ca</a:t>
            </a:r>
            <a:r>
              <a:rPr lang="en-CA"/>
              <a:t> nameservers</a:t>
            </a:r>
            <a:endParaRPr/>
          </a:p>
        </p:txBody>
      </p:sp>
      <p:sp>
        <p:nvSpPr>
          <p:cNvPr id="95" name="Google Shape;95;p19"/>
          <p:cNvSpPr/>
          <p:nvPr/>
        </p:nvSpPr>
        <p:spPr>
          <a:xfrm>
            <a:off x="879150" y="3772850"/>
            <a:ext cx="7385700" cy="451800"/>
          </a:xfrm>
          <a:prstGeom prst="wedgeRoundRectCallout">
            <a:avLst>
              <a:gd fmla="val 13089" name="adj1"/>
              <a:gd fmla="val -81181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/>
              <a:t>It also returns the </a:t>
            </a: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ca</a:t>
            </a:r>
            <a:r>
              <a:rPr lang="en-CA">
                <a:solidFill>
                  <a:schemeClr val="dk1"/>
                </a:solidFill>
              </a:rPr>
              <a:t> nameservers</a:t>
            </a:r>
            <a:r>
              <a:rPr lang="en-CA"/>
              <a:t>' IP addresses in the Additional section.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438950" y="1131900"/>
            <a:ext cx="8538000" cy="38481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[Using UDP] Query ID     28018 </a:t>
            </a:r>
            <a:r>
              <a:rPr b="1" lang="en-CA" sz="900">
                <a:solidFill>
                  <a:srgbClr val="00FFFF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finance.google.ca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A --&gt; </a:t>
            </a:r>
            <a:r>
              <a:rPr b="1" lang="en-CA" sz="900">
                <a:solidFill>
                  <a:srgbClr val="FF9900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198.182.167.1</a:t>
            </a:r>
            <a:endParaRPr b="1" sz="900">
              <a:solidFill>
                <a:srgbClr val="FF9900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Response ID: 28018 Authoritative = false TC = false Error = 0 (No error)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Answers (0)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Nameservers (4)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google.ca                      86400      NS    IN    </a:t>
            </a:r>
            <a:r>
              <a:rPr b="1" lang="en-CA" sz="900">
                <a:solidFill>
                  <a:srgbClr val="FFFF00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ns2.google.com</a:t>
            </a:r>
            <a:endParaRPr b="1" sz="900">
              <a:solidFill>
                <a:srgbClr val="FFFF00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google.ca                      86400      NS    IN    ns3.google.com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google.ca                      86400      NS    IN    ns4.google.com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google.ca                      86400      NS    IN    ns1.google.com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Additional Information (0)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1" name="Google Shape;101;p20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More DNS: Resolving a Nameserver - Ask a </a:t>
            </a:r>
            <a:r>
              <a:rPr lang="en-CA">
                <a:solidFill>
                  <a:srgbClr val="0077C8"/>
                </a:solidFill>
                <a:latin typeface="Courier"/>
                <a:ea typeface="Courier"/>
                <a:cs typeface="Courier"/>
                <a:sym typeface="Courier"/>
              </a:rPr>
              <a:t>ca</a:t>
            </a:r>
            <a:r>
              <a:rPr lang="en-CA">
                <a:solidFill>
                  <a:srgbClr val="0077C8"/>
                </a:solidFill>
              </a:rPr>
              <a:t> NS</a:t>
            </a:r>
            <a:endParaRPr>
              <a:solidFill>
                <a:srgbClr val="0077C8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438950" y="1131900"/>
            <a:ext cx="8538000" cy="38481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[Using UDP] Query ID     28018 </a:t>
            </a:r>
            <a:r>
              <a:rPr b="1" lang="en-CA" sz="900">
                <a:solidFill>
                  <a:srgbClr val="00FFFF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finance.google.ca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A --&gt; </a:t>
            </a:r>
            <a:r>
              <a:rPr b="1" lang="en-CA" sz="900">
                <a:solidFill>
                  <a:srgbClr val="FF9900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198.182.167.1</a:t>
            </a:r>
            <a:endParaRPr b="1" sz="900">
              <a:solidFill>
                <a:srgbClr val="FF9900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Response ID: 28018 Authoritative = false TC = false Error = 0 (No error)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Answers (0)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Nameservers (4)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google.ca                      86400      NS    IN    </a:t>
            </a:r>
            <a:r>
              <a:rPr b="1" lang="en-CA" sz="900">
                <a:solidFill>
                  <a:srgbClr val="FFFF00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ns2.google.com</a:t>
            </a:r>
            <a:endParaRPr b="1" sz="900">
              <a:solidFill>
                <a:srgbClr val="FFFF00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google.ca                      86400      NS    IN    ns3.google.com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google.ca                      86400      NS    IN    ns4.google.com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google.ca                      86400      NS    IN    ns1.google.com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Additional Information (0)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7" name="Google Shape;107;p21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More DNS: Resolving a Nameserver - Ask a </a:t>
            </a:r>
            <a:r>
              <a:rPr lang="en-CA">
                <a:solidFill>
                  <a:srgbClr val="0077C8"/>
                </a:solidFill>
                <a:latin typeface="Courier"/>
                <a:ea typeface="Courier"/>
                <a:cs typeface="Courier"/>
                <a:sym typeface="Courier"/>
              </a:rPr>
              <a:t>ca</a:t>
            </a:r>
            <a:r>
              <a:rPr lang="en-CA">
                <a:solidFill>
                  <a:srgbClr val="0077C8"/>
                </a:solidFill>
              </a:rPr>
              <a:t> NS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108" name="Google Shape;108;p21"/>
          <p:cNvSpPr/>
          <p:nvPr/>
        </p:nvSpPr>
        <p:spPr>
          <a:xfrm>
            <a:off x="1141018" y="884500"/>
            <a:ext cx="5816100" cy="451800"/>
          </a:xfrm>
          <a:prstGeom prst="wedgeRoundRectCallout">
            <a:avLst>
              <a:gd fmla="val 20665" name="adj1"/>
              <a:gd fmla="val 74513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/>
              <a:t>We pick one of the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ca</a:t>
            </a:r>
            <a:r>
              <a:rPr lang="en-CA"/>
              <a:t> nameservers and ask the same question again</a:t>
            </a:r>
            <a:endParaRPr/>
          </a:p>
        </p:txBody>
      </p:sp>
      <p:sp>
        <p:nvSpPr>
          <p:cNvPr id="109" name="Google Shape;109;p21"/>
          <p:cNvSpPr/>
          <p:nvPr/>
        </p:nvSpPr>
        <p:spPr>
          <a:xfrm>
            <a:off x="3352601" y="1695950"/>
            <a:ext cx="4921200" cy="451800"/>
          </a:xfrm>
          <a:prstGeom prst="wedgeRoundRectCallout">
            <a:avLst>
              <a:gd fmla="val 5481" name="adj1"/>
              <a:gd fmla="val 77252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/>
              <a:t>The </a:t>
            </a: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ca</a:t>
            </a:r>
            <a:r>
              <a:rPr lang="en-CA"/>
              <a:t> nameserver returns nameservers for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google.ca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10" name="Google Shape;110;p21"/>
          <p:cNvSpPr/>
          <p:nvPr/>
        </p:nvSpPr>
        <p:spPr>
          <a:xfrm>
            <a:off x="851200" y="3675100"/>
            <a:ext cx="6075900" cy="451800"/>
          </a:xfrm>
          <a:prstGeom prst="wedgeRoundRectCallout">
            <a:avLst>
              <a:gd fmla="val -36538" name="adj1"/>
              <a:gd fmla="val -165781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/>
              <a:t>But this time, the Additional section does not include their IP addresses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438950" y="1131900"/>
            <a:ext cx="8538000" cy="38481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[Using UDP] Query ID     33079 </a:t>
            </a:r>
            <a:r>
              <a:rPr b="1" lang="en-CA" sz="900">
                <a:solidFill>
                  <a:srgbClr val="FFFF00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ns2.google.com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A --&gt; </a:t>
            </a:r>
            <a:r>
              <a:rPr b="1" lang="en-CA" sz="900">
                <a:solidFill>
                  <a:srgbClr val="FF0000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199.7.83.42</a:t>
            </a:r>
            <a:endParaRPr b="1" sz="900">
              <a:solidFill>
                <a:srgbClr val="FF0000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Response ID: 33079 Authoritative = false TC = false Error = 0 (No error)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Answers (0)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Nameservers (13)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com                            172800     NS    IN    a.gtld-servers.net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com                            172800     NS    IN    b.gtld-servers.net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com                            172800     NS    IN    c.gtld-servers.net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com                            172800     NS    IN    d.gtld-servers.net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...	       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com                            172800     NS    IN    </a:t>
            </a:r>
            <a:r>
              <a:rPr b="1" lang="en-CA" sz="900">
                <a:solidFill>
                  <a:srgbClr val="B4A7D6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m.gtld-servers.net</a:t>
            </a:r>
            <a:endParaRPr b="1" sz="900">
              <a:solidFill>
                <a:srgbClr val="B4A7D6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Additional Information (14)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a.gtld-servers.net             172800     A     IN    192.5.6.30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b.gtld-servers.net             172800     A     IN    192.33.14.30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c.gtld-servers.net             172800     A     IN    192.26.92.30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d.gtld-servers.net             172800     A     IN    192.31.80.30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...	       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</a:t>
            </a:r>
            <a:r>
              <a:rPr b="1" lang="en-CA" sz="900">
                <a:solidFill>
                  <a:srgbClr val="B4A7D6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m.gtld-servers.net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 172800     A     IN    </a:t>
            </a:r>
            <a:r>
              <a:rPr b="1" lang="en-CA" sz="900">
                <a:solidFill>
                  <a:srgbClr val="B4A7D6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192.55.83.30</a:t>
            </a:r>
            <a:endParaRPr b="1" sz="900">
              <a:solidFill>
                <a:srgbClr val="B4A7D6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a.gtld-servers.net             172800     AAAA  IN    2001:503:a83e:0:0:0:2:30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6" name="Google Shape;116;p22"/>
          <p:cNvSpPr txBox="1"/>
          <p:nvPr>
            <p:ph type="title"/>
          </p:nvPr>
        </p:nvSpPr>
        <p:spPr>
          <a:xfrm>
            <a:off x="438950" y="560550"/>
            <a:ext cx="87519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More DNS: Resolving a Nameserver - Ask a Root NS again</a:t>
            </a:r>
            <a:endParaRPr>
              <a:solidFill>
                <a:srgbClr val="0077C8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438950" y="1131900"/>
            <a:ext cx="8538000" cy="38481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[Using UDP] Query ID     33079 </a:t>
            </a:r>
            <a:r>
              <a:rPr b="1" lang="en-CA" sz="900">
                <a:solidFill>
                  <a:srgbClr val="FFFF00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ns2.google.com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A --&gt; </a:t>
            </a:r>
            <a:r>
              <a:rPr b="1" lang="en-CA" sz="900">
                <a:solidFill>
                  <a:srgbClr val="FF0000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199.7.83.42</a:t>
            </a:r>
            <a:endParaRPr b="1" sz="900">
              <a:solidFill>
                <a:srgbClr val="FF0000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Response ID: 33079 Authoritative = false TC = false Error = 0 (No error)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Answers (0)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Nameservers (13)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com                            172800     NS    IN    a.gtld-servers.net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com                            172800     NS    IN    b.gtld-servers.net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com                            172800     NS    IN    c.gtld-servers.net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com                            172800     NS    IN    d.gtld-servers.net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...	       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com                            172800     NS    IN    </a:t>
            </a:r>
            <a:r>
              <a:rPr b="1" lang="en-CA" sz="900">
                <a:solidFill>
                  <a:srgbClr val="B4A7D6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m.gtld-servers.net</a:t>
            </a:r>
            <a:endParaRPr b="1" sz="900">
              <a:solidFill>
                <a:srgbClr val="B4A7D6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Additional Information (14)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a.gtld-servers.net             172800     A     IN    192.5.6.30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b.gtld-servers.net             172800     A     IN    192.33.14.30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c.gtld-servers.net             172800     A     IN    192.26.92.30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d.gtld-servers.net             172800     A     IN    192.31.80.30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...	       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</a:t>
            </a:r>
            <a:r>
              <a:rPr b="1" lang="en-CA" sz="900">
                <a:solidFill>
                  <a:srgbClr val="B4A7D6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m.gtld-servers.net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 172800     A     IN    </a:t>
            </a:r>
            <a:r>
              <a:rPr b="1" lang="en-CA" sz="900">
                <a:solidFill>
                  <a:srgbClr val="B4A7D6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192.55.83.30</a:t>
            </a:r>
            <a:endParaRPr b="1" sz="900">
              <a:solidFill>
                <a:srgbClr val="B4A7D6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a.gtld-servers.net             172800     AAAA  IN    2001:503:a83e:0:0:0:2:30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2" name="Google Shape;122;p23"/>
          <p:cNvSpPr/>
          <p:nvPr/>
        </p:nvSpPr>
        <p:spPr>
          <a:xfrm>
            <a:off x="714400" y="860475"/>
            <a:ext cx="3949200" cy="451800"/>
          </a:xfrm>
          <a:prstGeom prst="wedgeRoundRectCallout">
            <a:avLst>
              <a:gd fmla="val 20272" name="adj1"/>
              <a:gd fmla="val 81419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/>
              <a:t>We need the IP address of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ns2.google.com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23" name="Google Shape;123;p23"/>
          <p:cNvSpPr/>
          <p:nvPr/>
        </p:nvSpPr>
        <p:spPr>
          <a:xfrm>
            <a:off x="1120825" y="3729850"/>
            <a:ext cx="6322200" cy="451800"/>
          </a:xfrm>
          <a:prstGeom prst="wedgeRoundRectCallout">
            <a:avLst>
              <a:gd fmla="val 15156" name="adj1"/>
              <a:gd fmla="val 78967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/>
              <a:t>It also returns the </a:t>
            </a: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com</a:t>
            </a:r>
            <a:r>
              <a:rPr lang="en-CA">
                <a:solidFill>
                  <a:schemeClr val="dk1"/>
                </a:solidFill>
              </a:rPr>
              <a:t> nameservers</a:t>
            </a:r>
            <a:r>
              <a:rPr lang="en-CA"/>
              <a:t>' IP addresses in the Additional section.</a:t>
            </a:r>
            <a:endParaRPr/>
          </a:p>
        </p:txBody>
      </p:sp>
      <p:sp>
        <p:nvSpPr>
          <p:cNvPr id="124" name="Google Shape;124;p23"/>
          <p:cNvSpPr txBox="1"/>
          <p:nvPr>
            <p:ph type="title"/>
          </p:nvPr>
        </p:nvSpPr>
        <p:spPr>
          <a:xfrm>
            <a:off x="438950" y="560550"/>
            <a:ext cx="87519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More DNS: Resolving a Nameserver - Ask a Root NS again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125" name="Google Shape;125;p23"/>
          <p:cNvSpPr/>
          <p:nvPr/>
        </p:nvSpPr>
        <p:spPr>
          <a:xfrm>
            <a:off x="186225" y="1870575"/>
            <a:ext cx="6905700" cy="451800"/>
          </a:xfrm>
          <a:prstGeom prst="wedgeRoundRectCallout">
            <a:avLst>
              <a:gd fmla="val 18574" name="adj1"/>
              <a:gd fmla="val -89830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/>
              <a:t>We ask the root nameserver at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199.7.83.42</a:t>
            </a:r>
            <a:r>
              <a:rPr lang="en-CA"/>
              <a:t> for the </a:t>
            </a:r>
            <a:r>
              <a:rPr b="1" lang="en-CA">
                <a:latin typeface="Courier"/>
                <a:ea typeface="Courier"/>
                <a:cs typeface="Courier"/>
                <a:sym typeface="Courier"/>
              </a:rPr>
              <a:t>A</a:t>
            </a:r>
            <a:r>
              <a:rPr lang="en-CA"/>
              <a:t> record of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ns2.google.com</a:t>
            </a:r>
            <a:endParaRPr/>
          </a:p>
        </p:txBody>
      </p:sp>
      <p:sp>
        <p:nvSpPr>
          <p:cNvPr id="126" name="Google Shape;126;p23"/>
          <p:cNvSpPr/>
          <p:nvPr/>
        </p:nvSpPr>
        <p:spPr>
          <a:xfrm>
            <a:off x="2200175" y="2524950"/>
            <a:ext cx="7385700" cy="451800"/>
          </a:xfrm>
          <a:prstGeom prst="wedgeRoundRectCallout">
            <a:avLst>
              <a:gd fmla="val 6631" name="adj1"/>
              <a:gd fmla="val 91960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/>
              <a:t>The root nameserver does not return have the final answer, so it returns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com</a:t>
            </a:r>
            <a:r>
              <a:rPr lang="en-CA"/>
              <a:t> nameservers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438950" y="1131900"/>
            <a:ext cx="8538000" cy="38481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[Using UDP] Query ID     27473 </a:t>
            </a:r>
            <a:r>
              <a:rPr b="1" lang="en-CA" sz="900">
                <a:solidFill>
                  <a:srgbClr val="FFFF00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ns2.google.com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A --&gt; </a:t>
            </a:r>
            <a:r>
              <a:rPr b="1" lang="en-CA" sz="900">
                <a:solidFill>
                  <a:srgbClr val="B4A7D6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192.55.83.30</a:t>
            </a:r>
            <a:endParaRPr b="1" sz="900">
              <a:solidFill>
                <a:srgbClr val="B4A7D6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Response ID: 27473 Authoritative = false TC = false Error = 0 (No error)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Answers (0)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Nameservers (4)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google.com                     172800     NS    IN    </a:t>
            </a:r>
            <a:r>
              <a:rPr b="1" lang="en-CA" sz="900">
                <a:solidFill>
                  <a:srgbClr val="FFFF00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ns2.google.com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google.com                     172800     NS    IN    ns1.google.com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google.com                     172800     NS    IN    ns3.google.com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google.com                     172800     NS    IN    ns4.google.com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Additional Information (8)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ns2.google.com                 172800     AAAA  IN    2001:4860:4802:34:0:0:0:a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</a:t>
            </a:r>
            <a:r>
              <a:rPr b="1" lang="en-CA" sz="900">
                <a:solidFill>
                  <a:srgbClr val="FFFF00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ns2.google.com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     172800     A     IN    </a:t>
            </a:r>
            <a:r>
              <a:rPr b="1" lang="en-CA" sz="900">
                <a:solidFill>
                  <a:srgbClr val="FFFF00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216.239.34.10</a:t>
            </a:r>
            <a:endParaRPr b="1" sz="900">
              <a:solidFill>
                <a:srgbClr val="FFFF00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ns1.google.com                 172800     AAAA  IN    2001:4860:4802:32:0:0:0:a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ns1.google.com                 172800     A     IN    216.239.32.10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ns3.google.com                 172800     AAAA  IN    2001:4860:4802:36:0:0:0:a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ns3.google.com                 172800     A     IN    216.239.36.10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ns4.google.com                 172800     AAAA  IN    2001:4860:4802:38:0:0:0:a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ns4.google.com                 172800     A     IN    216.239.38.10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2" name="Google Shape;132;p24"/>
          <p:cNvSpPr txBox="1"/>
          <p:nvPr>
            <p:ph type="title"/>
          </p:nvPr>
        </p:nvSpPr>
        <p:spPr>
          <a:xfrm>
            <a:off x="438950" y="560550"/>
            <a:ext cx="9962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More DNS: Resolving a Nameserver - Ask a </a:t>
            </a:r>
            <a:r>
              <a:rPr lang="en-CA">
                <a:solidFill>
                  <a:srgbClr val="0077C8"/>
                </a:solidFill>
                <a:latin typeface="Courier"/>
                <a:ea typeface="Courier"/>
                <a:cs typeface="Courier"/>
                <a:sym typeface="Courier"/>
              </a:rPr>
              <a:t>com</a:t>
            </a:r>
            <a:r>
              <a:rPr lang="en-CA">
                <a:solidFill>
                  <a:srgbClr val="0077C8"/>
                </a:solidFill>
              </a:rPr>
              <a:t> NS</a:t>
            </a:r>
            <a:endParaRPr>
              <a:solidFill>
                <a:srgbClr val="0077C8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438950" y="1131900"/>
            <a:ext cx="8538000" cy="38481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[Using UDP] Query ID     27473 </a:t>
            </a:r>
            <a:r>
              <a:rPr b="1" lang="en-CA" sz="900">
                <a:solidFill>
                  <a:srgbClr val="FFFF00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ns2.google.com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A --&gt; </a:t>
            </a:r>
            <a:r>
              <a:rPr b="1" lang="en-CA" sz="900">
                <a:solidFill>
                  <a:srgbClr val="B4A7D6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192.55.83.30</a:t>
            </a:r>
            <a:endParaRPr b="1" sz="900">
              <a:solidFill>
                <a:srgbClr val="B4A7D6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Response ID: 27473 Authoritative = false TC = false Error = 0 (No error)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Answers (0)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Nameservers (4)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google.com                     172800     NS    IN    </a:t>
            </a:r>
            <a:r>
              <a:rPr b="1" lang="en-CA" sz="900">
                <a:solidFill>
                  <a:srgbClr val="FFFF00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ns2.google.com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google.com                     172800     NS    IN    ns1.google.com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google.com                     172800     NS    IN    ns3.google.com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google.com                     172800     NS    IN    ns4.google.com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Additional Information (8)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ns2.google.com                 172800     AAAA  IN    2001:4860:4802:34:0:0:0:a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</a:t>
            </a:r>
            <a:r>
              <a:rPr b="1" lang="en-CA" sz="900">
                <a:solidFill>
                  <a:srgbClr val="FFFF00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ns2.google.com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     172800     A     IN    </a:t>
            </a:r>
            <a:r>
              <a:rPr b="1" lang="en-CA" sz="900">
                <a:solidFill>
                  <a:srgbClr val="FFFF00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216.239.34.10</a:t>
            </a:r>
            <a:endParaRPr b="1" sz="900">
              <a:solidFill>
                <a:srgbClr val="FFFF00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ns1.google.com                 172800     AAAA  IN    2001:4860:4802:32:0:0:0:a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ns1.google.com                 172800     A     IN    216.239.32.10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ns3.google.com                 172800     AAAA  IN    2001:4860:4802:36:0:0:0:a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ns3.google.com                 172800     A     IN    216.239.36.10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ns4.google.com                 172800     AAAA  IN    2001:4860:4802:38:0:0:0:a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ns4.google.com                 172800     A     IN    216.239.38.10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8" name="Google Shape;138;p25"/>
          <p:cNvSpPr txBox="1"/>
          <p:nvPr>
            <p:ph type="title"/>
          </p:nvPr>
        </p:nvSpPr>
        <p:spPr>
          <a:xfrm>
            <a:off x="438950" y="560550"/>
            <a:ext cx="9962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More DNS: Resolving a Nameserver - Ask a </a:t>
            </a:r>
            <a:r>
              <a:rPr lang="en-CA">
                <a:solidFill>
                  <a:srgbClr val="0077C8"/>
                </a:solidFill>
                <a:latin typeface="Courier"/>
                <a:ea typeface="Courier"/>
                <a:cs typeface="Courier"/>
                <a:sym typeface="Courier"/>
              </a:rPr>
              <a:t>com</a:t>
            </a:r>
            <a:r>
              <a:rPr lang="en-CA">
                <a:solidFill>
                  <a:srgbClr val="0077C8"/>
                </a:solidFill>
              </a:rPr>
              <a:t> NS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139" name="Google Shape;139;p25"/>
          <p:cNvSpPr/>
          <p:nvPr/>
        </p:nvSpPr>
        <p:spPr>
          <a:xfrm>
            <a:off x="854493" y="913150"/>
            <a:ext cx="5816100" cy="451800"/>
          </a:xfrm>
          <a:prstGeom prst="wedgeRoundRectCallout">
            <a:avLst>
              <a:gd fmla="val 20665" name="adj1"/>
              <a:gd fmla="val 74513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/>
              <a:t>We pick one of the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com</a:t>
            </a:r>
            <a:r>
              <a:rPr lang="en-CA"/>
              <a:t> nameservers and ask the same question again</a:t>
            </a:r>
            <a:endParaRPr/>
          </a:p>
        </p:txBody>
      </p:sp>
      <p:sp>
        <p:nvSpPr>
          <p:cNvPr id="140" name="Google Shape;140;p25"/>
          <p:cNvSpPr/>
          <p:nvPr/>
        </p:nvSpPr>
        <p:spPr>
          <a:xfrm>
            <a:off x="1658800" y="3651625"/>
            <a:ext cx="5354400" cy="451800"/>
          </a:xfrm>
          <a:prstGeom prst="wedgeRoundRectCallout">
            <a:avLst>
              <a:gd fmla="val 22232" name="adj1"/>
              <a:gd fmla="val -89232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/>
              <a:t>Here, we were able to find the IP address of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ns2.google.com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438950" y="1131900"/>
            <a:ext cx="8538000" cy="38481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[Using UDP] Query ID     23854 </a:t>
            </a:r>
            <a:r>
              <a:rPr b="1" lang="en-CA" sz="900">
                <a:solidFill>
                  <a:srgbClr val="00FFFF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finance.google.ca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A --&gt; </a:t>
            </a:r>
            <a:r>
              <a:rPr b="1" lang="en-CA" sz="900">
                <a:solidFill>
                  <a:srgbClr val="FFFF00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216.239.34.10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Response ID: 23854 Authoritative = true TC = false Error = 0 (No error)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Answers (3)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</a:t>
            </a:r>
            <a:r>
              <a:rPr b="1" lang="en-CA" sz="900">
                <a:solidFill>
                  <a:srgbClr val="00FFFF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finance.google.ca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  300        CNAME IN    </a:t>
            </a:r>
            <a:r>
              <a:rPr b="1" lang="en-CA" sz="900">
                <a:solidFill>
                  <a:srgbClr val="00FFFF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finance.google.com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</a:t>
            </a:r>
            <a:r>
              <a:rPr b="1" lang="en-CA" sz="900">
                <a:solidFill>
                  <a:srgbClr val="00FFFF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finance.google.com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 300        CNAME IN    </a:t>
            </a:r>
            <a:r>
              <a:rPr b="1" lang="en-CA" sz="900">
                <a:solidFill>
                  <a:srgbClr val="00FFFF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www3.l.google.com</a:t>
            </a:r>
            <a:endParaRPr b="1" sz="900">
              <a:solidFill>
                <a:srgbClr val="00FFFF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</a:t>
            </a:r>
            <a:r>
              <a:rPr b="1" lang="en-CA" sz="900">
                <a:solidFill>
                  <a:srgbClr val="00FFFF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www3.l.google.com 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 300        A     IN    </a:t>
            </a:r>
            <a:r>
              <a:rPr b="1" lang="en-CA" sz="900">
                <a:solidFill>
                  <a:srgbClr val="00FFFF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142.251.215.238</a:t>
            </a:r>
            <a:endParaRPr b="1" sz="900">
              <a:solidFill>
                <a:srgbClr val="00FFFF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Nameservers (0)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Additional Information (0)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========== FINAL RESULT ==========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finance.google.com             300        CNAME IN    www3.l.google.com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www3.l.google.com              300        A     IN    142.251.215.238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finance.google.ca              300        CNAME IN    finance.google.com`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6" name="Google Shape;146;p26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More DNS: Resolving a Nameserver - Ask a </a:t>
            </a:r>
            <a:r>
              <a:rPr lang="en-CA">
                <a:solidFill>
                  <a:srgbClr val="0077C8"/>
                </a:solidFill>
                <a:latin typeface="Courier"/>
                <a:ea typeface="Courier"/>
                <a:cs typeface="Courier"/>
                <a:sym typeface="Courier"/>
              </a:rPr>
              <a:t>google.ca</a:t>
            </a:r>
            <a:r>
              <a:rPr lang="en-CA">
                <a:solidFill>
                  <a:srgbClr val="0077C8"/>
                </a:solidFill>
              </a:rPr>
              <a:t> NS</a:t>
            </a:r>
            <a:endParaRPr>
              <a:solidFill>
                <a:srgbClr val="0077C8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438950" y="1131900"/>
            <a:ext cx="8538000" cy="38481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[Using UDP] Query ID     23854 </a:t>
            </a:r>
            <a:r>
              <a:rPr b="1" lang="en-CA" sz="900">
                <a:solidFill>
                  <a:srgbClr val="00FFFF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finance.google.ca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A --&gt; </a:t>
            </a:r>
            <a:r>
              <a:rPr b="1" lang="en-CA" sz="900">
                <a:solidFill>
                  <a:srgbClr val="FFFF00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216.239.34.10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Response ID: 23854 Authoritative = true TC = false Error = 0 (No error)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Answers (3)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</a:t>
            </a:r>
            <a:r>
              <a:rPr b="1" lang="en-CA" sz="900">
                <a:solidFill>
                  <a:srgbClr val="00FFFF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finance.google.ca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  300        CNAME IN    </a:t>
            </a:r>
            <a:r>
              <a:rPr b="1" lang="en-CA" sz="900">
                <a:solidFill>
                  <a:srgbClr val="00FFFF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finance.google.com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</a:t>
            </a:r>
            <a:r>
              <a:rPr b="1" lang="en-CA" sz="900">
                <a:solidFill>
                  <a:srgbClr val="00FFFF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finance.google.com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 300        CNAME IN    </a:t>
            </a:r>
            <a:r>
              <a:rPr b="1" lang="en-CA" sz="900">
                <a:solidFill>
                  <a:srgbClr val="00FFFF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www3.l.google.com</a:t>
            </a:r>
            <a:endParaRPr b="1" sz="900">
              <a:solidFill>
                <a:srgbClr val="00FFFF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</a:t>
            </a:r>
            <a:r>
              <a:rPr b="1" lang="en-CA" sz="900">
                <a:solidFill>
                  <a:srgbClr val="00FFFF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www3.l.google.com </a:t>
            </a: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 300        A     IN    </a:t>
            </a:r>
            <a:r>
              <a:rPr b="1" lang="en-CA" sz="900">
                <a:solidFill>
                  <a:srgbClr val="00FFFF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142.251.215.238</a:t>
            </a:r>
            <a:endParaRPr b="1" sz="900">
              <a:solidFill>
                <a:srgbClr val="00FFFF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Nameservers (0)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Additional Information (0)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========== FINAL RESULT ==========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finance.google.com             300        CNAME IN    www3.l.google.com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www3.l.google.com              300        A     IN    142.251.215.238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       finance.google.ca              300        CNAME IN    finance.google.com`</a:t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2" name="Google Shape;152;p27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More DNS: Resolving a Nameserver - Ask a </a:t>
            </a:r>
            <a:r>
              <a:rPr lang="en-CA">
                <a:solidFill>
                  <a:srgbClr val="0077C8"/>
                </a:solidFill>
                <a:latin typeface="Courier"/>
                <a:ea typeface="Courier"/>
                <a:cs typeface="Courier"/>
                <a:sym typeface="Courier"/>
              </a:rPr>
              <a:t>google.ca</a:t>
            </a:r>
            <a:r>
              <a:rPr lang="en-CA">
                <a:solidFill>
                  <a:srgbClr val="0077C8"/>
                </a:solidFill>
              </a:rPr>
              <a:t> NS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153" name="Google Shape;153;p27"/>
          <p:cNvSpPr/>
          <p:nvPr/>
        </p:nvSpPr>
        <p:spPr>
          <a:xfrm>
            <a:off x="610925" y="870175"/>
            <a:ext cx="7333500" cy="451800"/>
          </a:xfrm>
          <a:prstGeom prst="wedgeRoundRectCallout">
            <a:avLst>
              <a:gd fmla="val 3503" name="adj1"/>
              <a:gd fmla="val 80854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/>
              <a:t>Now that we know the IP address of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ns2.google.com</a:t>
            </a:r>
            <a:r>
              <a:rPr lang="en-CA"/>
              <a:t>, we return to the original query</a:t>
            </a:r>
            <a:endParaRPr/>
          </a:p>
        </p:txBody>
      </p:sp>
      <p:sp>
        <p:nvSpPr>
          <p:cNvPr id="154" name="Google Shape;154;p27"/>
          <p:cNvSpPr/>
          <p:nvPr/>
        </p:nvSpPr>
        <p:spPr>
          <a:xfrm>
            <a:off x="3342225" y="2698875"/>
            <a:ext cx="3463200" cy="451800"/>
          </a:xfrm>
          <a:prstGeom prst="wedgeRoundRectCallout">
            <a:avLst>
              <a:gd fmla="val 13733" name="adj1"/>
              <a:gd fmla="val -70208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/>
              <a:t>The response gives us the final answer</a:t>
            </a:r>
            <a:endParaRPr/>
          </a:p>
        </p:txBody>
      </p:sp>
      <p:sp>
        <p:nvSpPr>
          <p:cNvPr id="155" name="Google Shape;155;p27"/>
          <p:cNvSpPr/>
          <p:nvPr/>
        </p:nvSpPr>
        <p:spPr>
          <a:xfrm>
            <a:off x="722725" y="3280950"/>
            <a:ext cx="4707300" cy="1518900"/>
          </a:xfrm>
          <a:prstGeom prst="wedgeRoundRectCallout">
            <a:avLst>
              <a:gd fmla="val -26547" name="adj1"/>
              <a:gd fmla="val -95749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Note that the final answer comes from a CNAME chain: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finance.google.ca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→ finance.google.com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→ www3.l.google.com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→ 142.251.215.238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This is one of the functions we provided to you in PA2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It is the highest level lookup function used by the </a:t>
            </a: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DNSLookupCUI</a:t>
            </a:r>
            <a:endParaRPr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323850" lvl="1" marL="13716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It calls </a:t>
            </a: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iterativeQuery()</a:t>
            </a:r>
            <a:r>
              <a:rPr lang="en-CA">
                <a:solidFill>
                  <a:srgbClr val="0000FF"/>
                </a:solidFill>
              </a:rPr>
              <a:t> </a:t>
            </a:r>
            <a:r>
              <a:rPr lang="en-CA"/>
              <a:t>to get direct DNS results</a:t>
            </a:r>
            <a:endParaRPr/>
          </a:p>
          <a:p>
            <a:pPr indent="-323850" lvl="1" marL="13716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If the result is a </a:t>
            </a:r>
            <a:r>
              <a:rPr b="1" lang="en-CA">
                <a:latin typeface="Courier"/>
                <a:ea typeface="Courier"/>
                <a:cs typeface="Courier"/>
                <a:sym typeface="Courier"/>
              </a:rPr>
              <a:t>CNAME</a:t>
            </a:r>
            <a:r>
              <a:rPr lang="en-CA"/>
              <a:t>, it follows it recursively until it finds the answer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Good starting point for understanding how </a:t>
            </a: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iterativeQuery()</a:t>
            </a:r>
            <a:r>
              <a:rPr lang="en-CA"/>
              <a:t> is used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8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More DNS: PA2 - Tracing </a:t>
            </a:r>
            <a:r>
              <a:rPr lang="en-CA">
                <a:solidFill>
                  <a:srgbClr val="0077C8"/>
                </a:solidFill>
                <a:latin typeface="Courier"/>
                <a:ea typeface="Courier"/>
                <a:cs typeface="Courier"/>
                <a:sym typeface="Courier"/>
              </a:rPr>
              <a:t>getResultsFollowingCNames</a:t>
            </a:r>
            <a:r>
              <a:rPr lang="en-CA">
                <a:solidFill>
                  <a:srgbClr val="0077C8"/>
                </a:solidFill>
              </a:rPr>
              <a:t>()</a:t>
            </a:r>
            <a:endParaRPr>
              <a:solidFill>
                <a:srgbClr val="0077C8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idx="1" type="body"/>
          </p:nvPr>
        </p:nvSpPr>
        <p:spPr>
          <a:xfrm>
            <a:off x="438950" y="1131900"/>
            <a:ext cx="8538000" cy="38481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4DD0E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Collection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ResourceRecord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getResultsFollowingCNames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(DNSQuestion question, 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maxIndirectionLevels)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throws DNSErrorException {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if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(maxIndirectionLevels 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-CA" sz="8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0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throw new</a:t>
            </a:r>
            <a:r>
              <a:rPr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DNSErrorException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CA" sz="8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"CNAME indirection limit exceeded"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Collection&lt;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ResourceRecord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&gt; directResults 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iterativeQuery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(question);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if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containsAnswer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(directResults, question)) {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return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directResults;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Set&lt;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ResourceRecord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&gt; newResults 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HashSet&lt;&gt;();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for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(ResourceRecord record 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directResults) {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newResults.</a:t>
            </a:r>
            <a:r>
              <a:rPr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add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(record);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if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(record.</a:t>
            </a:r>
            <a:r>
              <a:rPr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getRecordType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 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==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RecordType.CNAME) {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newResults.</a:t>
            </a:r>
            <a:r>
              <a:rPr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addAll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getResultsFollowingCNames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        new</a:t>
            </a:r>
            <a:r>
              <a:rPr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DNSQuestion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(record.</a:t>
            </a:r>
            <a:r>
              <a:rPr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getTextResult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(), question.</a:t>
            </a:r>
            <a:r>
              <a:rPr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getRecordType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(), question.</a:t>
            </a:r>
            <a:r>
              <a:rPr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getRecordClass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()),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        maxIndirectionLevels 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en-CA" sz="8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1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));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}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return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newResults;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8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7" name="Google Shape;167;p29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More DNS: PA2 - Tracing </a:t>
            </a:r>
            <a:r>
              <a:rPr lang="en-CA">
                <a:solidFill>
                  <a:srgbClr val="0077C8"/>
                </a:solidFill>
                <a:latin typeface="Courier"/>
                <a:ea typeface="Courier"/>
                <a:cs typeface="Courier"/>
                <a:sym typeface="Courier"/>
              </a:rPr>
              <a:t>getResultsFollowingCNames</a:t>
            </a:r>
            <a:r>
              <a:rPr lang="en-CA">
                <a:solidFill>
                  <a:srgbClr val="0077C8"/>
                </a:solidFill>
              </a:rPr>
              <a:t>()</a:t>
            </a:r>
            <a:endParaRPr>
              <a:solidFill>
                <a:srgbClr val="0077C8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idx="1" type="body"/>
          </p:nvPr>
        </p:nvSpPr>
        <p:spPr>
          <a:xfrm>
            <a:off x="438950" y="1131900"/>
            <a:ext cx="8538000" cy="38481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4DD0E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Collection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ResourceRecord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getResultsFollowingCNames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(DNSQuestion question, 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maxIndirectionLevels)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throws DNSErrorException {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if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(maxIndirectionLevels 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-CA" sz="8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0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throw new</a:t>
            </a:r>
            <a:r>
              <a:rPr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DNSErrorException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CA" sz="8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"CNAME indirection limit exceeded"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Collection&lt;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ResourceRecord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&gt; directResults 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iterativeQuery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(question);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if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containsAnswer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(directResults, question)) {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return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directResults;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Set&lt;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ResourceRecord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&gt; newResults 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HashSet&lt;&gt;();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for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(ResourceRecord record 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directResults) {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newResults.</a:t>
            </a:r>
            <a:r>
              <a:rPr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add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(record);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if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(record.</a:t>
            </a:r>
            <a:r>
              <a:rPr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getRecordType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 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==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RecordType.CNAME) {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newResults.</a:t>
            </a:r>
            <a:r>
              <a:rPr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addAll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getResultsFollowingCNames</a:t>
            </a:r>
            <a:r>
              <a:rPr b="1"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b="1"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        new</a:t>
            </a:r>
            <a:r>
              <a:rPr b="1"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DNSQuestion</a:t>
            </a:r>
            <a:r>
              <a:rPr b="1"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(record.</a:t>
            </a:r>
            <a:r>
              <a:rPr b="1"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getTextResult</a:t>
            </a:r>
            <a:r>
              <a:rPr b="1"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(), question.</a:t>
            </a:r>
            <a:r>
              <a:rPr b="1"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getRecordType</a:t>
            </a:r>
            <a:r>
              <a:rPr b="1"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(), question.</a:t>
            </a:r>
            <a:r>
              <a:rPr b="1"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getRecordClass</a:t>
            </a:r>
            <a:r>
              <a:rPr b="1"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()),</a:t>
            </a:r>
            <a:endParaRPr b="1"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        maxIndirectionLevels </a:t>
            </a:r>
            <a:r>
              <a:rPr b="1"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b="1" lang="en-CA" sz="8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1</a:t>
            </a:r>
            <a:r>
              <a:rPr b="1"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}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return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newResults;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8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3" name="Google Shape;173;p30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More DNS: PA2 - Tracing </a:t>
            </a:r>
            <a:r>
              <a:rPr lang="en-CA">
                <a:solidFill>
                  <a:srgbClr val="0077C8"/>
                </a:solidFill>
                <a:latin typeface="Courier"/>
                <a:ea typeface="Courier"/>
                <a:cs typeface="Courier"/>
                <a:sym typeface="Courier"/>
              </a:rPr>
              <a:t>getResultsFollowingCNames</a:t>
            </a:r>
            <a:r>
              <a:rPr lang="en-CA">
                <a:solidFill>
                  <a:srgbClr val="0077C8"/>
                </a:solidFill>
              </a:rPr>
              <a:t>()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174" name="Google Shape;174;p30"/>
          <p:cNvSpPr/>
          <p:nvPr/>
        </p:nvSpPr>
        <p:spPr>
          <a:xfrm>
            <a:off x="4330825" y="2727525"/>
            <a:ext cx="5046300" cy="451800"/>
          </a:xfrm>
          <a:prstGeom prst="wedgeRoundRectCallout">
            <a:avLst>
              <a:gd fmla="val -48801" name="adj1"/>
              <a:gd fmla="val 137500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/>
              <a:t>The first thing to notice is that this function is recursive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idx="1" type="body"/>
          </p:nvPr>
        </p:nvSpPr>
        <p:spPr>
          <a:xfrm>
            <a:off x="438950" y="1131900"/>
            <a:ext cx="8538000" cy="38481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4DD0E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Collection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ResourceRecord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getResultsFollowingCNames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(DNSQuestion question, 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maxIndirectionLevels)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throws DNSErrorException {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if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(maxIndirectionLevels 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-CA" sz="8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0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throw new</a:t>
            </a:r>
            <a:r>
              <a:rPr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DNSErrorException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CA" sz="8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"CNAME indirection limit exceeded"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Collection&lt;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ResourceRecord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&gt; directResults 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iterativeQuery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(question);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if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containsAnswer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(directResults, question)) {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return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directResults;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Set&lt;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ResourceRecord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&gt; newResults 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HashSet&lt;&gt;();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for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(ResourceRecord record 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directResults) {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newResults.</a:t>
            </a:r>
            <a:r>
              <a:rPr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add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(record);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if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(record.</a:t>
            </a:r>
            <a:r>
              <a:rPr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getRecordType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 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==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RecordType.CNAME) {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newResults.</a:t>
            </a:r>
            <a:r>
              <a:rPr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addAll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getResultsFollowingCNames</a:t>
            </a:r>
            <a:r>
              <a:rPr b="1"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b="1"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        new</a:t>
            </a:r>
            <a:r>
              <a:rPr b="1"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DNSQuestion</a:t>
            </a:r>
            <a:r>
              <a:rPr b="1"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(record.</a:t>
            </a:r>
            <a:r>
              <a:rPr b="1"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getTextResult</a:t>
            </a:r>
            <a:r>
              <a:rPr b="1"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(), question.</a:t>
            </a:r>
            <a:r>
              <a:rPr b="1"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getRecordType</a:t>
            </a:r>
            <a:r>
              <a:rPr b="1"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(), question.</a:t>
            </a:r>
            <a:r>
              <a:rPr b="1"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getRecordClass</a:t>
            </a:r>
            <a:r>
              <a:rPr b="1"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()),</a:t>
            </a:r>
            <a:endParaRPr b="1"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        maxIndirectionLevels </a:t>
            </a:r>
            <a:r>
              <a:rPr b="1"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b="1" lang="en-CA" sz="8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1</a:t>
            </a:r>
            <a:r>
              <a:rPr b="1"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}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return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newResults;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8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0" name="Google Shape;180;p31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More DNS: PA2 - Tracing </a:t>
            </a:r>
            <a:r>
              <a:rPr lang="en-CA">
                <a:solidFill>
                  <a:srgbClr val="0077C8"/>
                </a:solidFill>
                <a:latin typeface="Courier"/>
                <a:ea typeface="Courier"/>
                <a:cs typeface="Courier"/>
                <a:sym typeface="Courier"/>
              </a:rPr>
              <a:t>getResultsFollowingCNames</a:t>
            </a:r>
            <a:r>
              <a:rPr lang="en-CA">
                <a:solidFill>
                  <a:srgbClr val="0077C8"/>
                </a:solidFill>
              </a:rPr>
              <a:t>()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181" name="Google Shape;181;p31"/>
          <p:cNvSpPr/>
          <p:nvPr/>
        </p:nvSpPr>
        <p:spPr>
          <a:xfrm>
            <a:off x="1060175" y="1706950"/>
            <a:ext cx="6815400" cy="255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1"/>
          <p:cNvSpPr/>
          <p:nvPr/>
        </p:nvSpPr>
        <p:spPr>
          <a:xfrm>
            <a:off x="1060175" y="2058150"/>
            <a:ext cx="6815400" cy="705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1"/>
          <p:cNvSpPr/>
          <p:nvPr/>
        </p:nvSpPr>
        <p:spPr>
          <a:xfrm>
            <a:off x="1060175" y="2854950"/>
            <a:ext cx="6815400" cy="1593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/>
          <p:nvPr>
            <p:ph idx="1" type="body"/>
          </p:nvPr>
        </p:nvSpPr>
        <p:spPr>
          <a:xfrm>
            <a:off x="438950" y="1131900"/>
            <a:ext cx="8538000" cy="38481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4DD0E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Collection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ResourceRecord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getResultsFollowingCNames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(DNSQuestion question, 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maxIndirectionLevels)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throws DNSErrorException {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if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(maxIndirectionLevels 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-CA" sz="8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0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throw new</a:t>
            </a:r>
            <a:r>
              <a:rPr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DNSErrorException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CA" sz="8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"CNAME indirection limit exceeded"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Collection&lt;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ResourceRecord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&gt; directResults 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iterativeQuery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(question);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if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containsAnswer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(directResults, question)) {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return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directResults;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Set&lt;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ResourceRecord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&gt; newResults 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HashSet&lt;&gt;();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for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(ResourceRecord record 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directResults) {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newResults.</a:t>
            </a:r>
            <a:r>
              <a:rPr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add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(record);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if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(record.</a:t>
            </a:r>
            <a:r>
              <a:rPr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getRecordType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 </a:t>
            </a: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==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RecordType.CNAME) {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newResults.</a:t>
            </a:r>
            <a:r>
              <a:rPr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addAll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getResultsFollowingCNames</a:t>
            </a:r>
            <a:r>
              <a:rPr b="1"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b="1"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        new</a:t>
            </a:r>
            <a:r>
              <a:rPr b="1"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DNSQuestion</a:t>
            </a:r>
            <a:r>
              <a:rPr b="1"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(record.</a:t>
            </a:r>
            <a:r>
              <a:rPr b="1"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getTextResult</a:t>
            </a:r>
            <a:r>
              <a:rPr b="1"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(), question.</a:t>
            </a:r>
            <a:r>
              <a:rPr b="1"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getRecordType</a:t>
            </a:r>
            <a:r>
              <a:rPr b="1"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(), question.</a:t>
            </a:r>
            <a:r>
              <a:rPr b="1" lang="en-CA" sz="8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getRecordClass</a:t>
            </a:r>
            <a:r>
              <a:rPr b="1"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()),</a:t>
            </a:r>
            <a:endParaRPr b="1"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        maxIndirectionLevels </a:t>
            </a:r>
            <a:r>
              <a:rPr b="1"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b="1" lang="en-CA" sz="8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1</a:t>
            </a:r>
            <a:r>
              <a:rPr b="1"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}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return</a:t>
            </a: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newResults;</a:t>
            </a:r>
            <a:endParaRPr sz="8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8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800">
              <a:solidFill>
                <a:srgbClr val="9CCC65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9" name="Google Shape;189;p32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More DNS: PA2 - Tracing </a:t>
            </a:r>
            <a:r>
              <a:rPr lang="en-CA">
                <a:solidFill>
                  <a:srgbClr val="0077C8"/>
                </a:solidFill>
                <a:latin typeface="Courier"/>
                <a:ea typeface="Courier"/>
                <a:cs typeface="Courier"/>
                <a:sym typeface="Courier"/>
              </a:rPr>
              <a:t>getResultsFollowingCNames</a:t>
            </a:r>
            <a:r>
              <a:rPr lang="en-CA">
                <a:solidFill>
                  <a:srgbClr val="0077C8"/>
                </a:solidFill>
              </a:rPr>
              <a:t>()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190" name="Google Shape;190;p32"/>
          <p:cNvSpPr/>
          <p:nvPr/>
        </p:nvSpPr>
        <p:spPr>
          <a:xfrm>
            <a:off x="1060175" y="1706950"/>
            <a:ext cx="6815400" cy="255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2"/>
          <p:cNvSpPr/>
          <p:nvPr/>
        </p:nvSpPr>
        <p:spPr>
          <a:xfrm>
            <a:off x="1060175" y="2058150"/>
            <a:ext cx="6815400" cy="705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2"/>
          <p:cNvSpPr/>
          <p:nvPr/>
        </p:nvSpPr>
        <p:spPr>
          <a:xfrm>
            <a:off x="1060175" y="2854950"/>
            <a:ext cx="6815400" cy="1593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2"/>
          <p:cNvSpPr/>
          <p:nvPr/>
        </p:nvSpPr>
        <p:spPr>
          <a:xfrm>
            <a:off x="3070025" y="1223175"/>
            <a:ext cx="6396000" cy="451800"/>
          </a:xfrm>
          <a:prstGeom prst="wedgeRoundRectCallout">
            <a:avLst>
              <a:gd fmla="val -62713" name="adj1"/>
              <a:gd fmla="val 61393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CA">
                <a:solidFill>
                  <a:srgbClr val="FF0000"/>
                </a:solidFill>
              </a:rPr>
              <a:t> Case 1:</a:t>
            </a:r>
            <a:r>
              <a:rPr lang="en-CA"/>
              <a:t> If the </a:t>
            </a:r>
            <a:r>
              <a:rPr b="1" lang="en-CA">
                <a:latin typeface="Courier"/>
                <a:ea typeface="Courier"/>
                <a:cs typeface="Courier"/>
                <a:sym typeface="Courier"/>
              </a:rPr>
              <a:t>CNAME</a:t>
            </a:r>
            <a:r>
              <a:rPr lang="en-CA"/>
              <a:t> chain is too long, the function stops and throws an error</a:t>
            </a:r>
            <a:endParaRPr/>
          </a:p>
        </p:txBody>
      </p:sp>
      <p:sp>
        <p:nvSpPr>
          <p:cNvPr id="194" name="Google Shape;194;p32"/>
          <p:cNvSpPr/>
          <p:nvPr/>
        </p:nvSpPr>
        <p:spPr>
          <a:xfrm>
            <a:off x="1697775" y="2571750"/>
            <a:ext cx="7446300" cy="451800"/>
          </a:xfrm>
          <a:prstGeom prst="wedgeRoundRectCallout">
            <a:avLst>
              <a:gd fmla="val -28827" name="adj1"/>
              <a:gd fmla="val -83295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CA">
                <a:solidFill>
                  <a:srgbClr val="FF0000"/>
                </a:solidFill>
              </a:rPr>
              <a:t> Case 2: </a:t>
            </a:r>
            <a:r>
              <a:rPr lang="en-CA"/>
              <a:t>If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iterativeQuery()</a:t>
            </a:r>
            <a:r>
              <a:rPr lang="en-CA"/>
              <a:t> returns the answer directly, the function returns that result</a:t>
            </a:r>
            <a:endParaRPr/>
          </a:p>
        </p:txBody>
      </p:sp>
      <p:sp>
        <p:nvSpPr>
          <p:cNvPr id="195" name="Google Shape;195;p32"/>
          <p:cNvSpPr/>
          <p:nvPr/>
        </p:nvSpPr>
        <p:spPr>
          <a:xfrm>
            <a:off x="2778950" y="3651675"/>
            <a:ext cx="7446300" cy="451800"/>
          </a:xfrm>
          <a:prstGeom prst="wedgeRoundRectCallout">
            <a:avLst>
              <a:gd fmla="val -32493" name="adj1"/>
              <a:gd fmla="val -82332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CA">
                <a:solidFill>
                  <a:srgbClr val="FF0000"/>
                </a:solidFill>
              </a:rPr>
              <a:t> Case 3: </a:t>
            </a:r>
            <a:r>
              <a:rPr lang="en-CA"/>
              <a:t>If </a:t>
            </a: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iterativeQuery()</a:t>
            </a:r>
            <a:r>
              <a:rPr lang="en-CA"/>
              <a:t> returns a </a:t>
            </a:r>
            <a:r>
              <a:rPr b="1"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CNAME</a:t>
            </a:r>
            <a:r>
              <a:rPr lang="en-CA"/>
              <a:t>, the function asks again using the </a:t>
            </a:r>
            <a:r>
              <a:rPr b="1"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CNAME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0956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/>
              <a:t>Example: Looking for the </a:t>
            </a:r>
            <a:r>
              <a:rPr b="1" lang="en-CA">
                <a:latin typeface="Courier"/>
                <a:ea typeface="Courier"/>
                <a:cs typeface="Courier"/>
                <a:sym typeface="Courier"/>
              </a:rPr>
              <a:t>A</a:t>
            </a:r>
            <a:r>
              <a:rPr lang="en-CA"/>
              <a:t> record of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radicalbeerfaction.tripod.com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09563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/>
              <a:t>The original dig commands and results are available on GitHub Pages.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09563" lvl="0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-"/>
            </a:pPr>
            <a:r>
              <a:rPr b="1" lang="en-CA">
                <a:solidFill>
                  <a:srgbClr val="FF0000"/>
                </a:solidFill>
              </a:rPr>
              <a:t>Note: This example no longer works.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956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CA"/>
              <a:t>Querying the following domain names returns:</a:t>
            </a:r>
            <a:endParaRPr/>
          </a:p>
          <a:p>
            <a:pPr indent="-309563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Courier"/>
              <a:buChar char="○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radicalbeerfaction.tripod.com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09563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↳"/>
            </a:pPr>
            <a:r>
              <a:rPr b="1" lang="en-CA">
                <a:latin typeface="Courier"/>
                <a:ea typeface="Courier"/>
                <a:cs typeface="Courier"/>
                <a:sym typeface="Courier"/>
              </a:rPr>
              <a:t>CNAME</a:t>
            </a:r>
            <a:r>
              <a:rPr lang="en-CA"/>
              <a:t>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members.tripod.com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09563" lvl="0" marL="18288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-CA"/>
              <a:t>Case 3</a:t>
            </a:r>
            <a:r>
              <a:rPr lang="en-CA"/>
              <a:t>: follow the </a:t>
            </a:r>
            <a:r>
              <a:rPr b="1" lang="en-CA">
                <a:latin typeface="Courier"/>
                <a:ea typeface="Courier"/>
                <a:cs typeface="Courier"/>
                <a:sym typeface="Courier"/>
              </a:rPr>
              <a:t>CNAME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09563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Courier"/>
              <a:buChar char="○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members.tripod.com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09563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↳"/>
            </a:pPr>
            <a:r>
              <a:rPr b="1" lang="en-CA">
                <a:latin typeface="Courier"/>
                <a:ea typeface="Courier"/>
                <a:cs typeface="Courier"/>
                <a:sym typeface="Courier"/>
              </a:rPr>
              <a:t>CNAME</a:t>
            </a:r>
            <a:r>
              <a:rPr lang="en-CA"/>
              <a:t>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webpub-https-proxy.bo3.lycos.com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09563" lvl="0" marL="18288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-CA"/>
              <a:t>Case 3</a:t>
            </a:r>
            <a:r>
              <a:rPr lang="en-CA"/>
              <a:t>: follow the </a:t>
            </a:r>
            <a:r>
              <a:rPr b="1" lang="en-CA">
                <a:latin typeface="Courier"/>
                <a:ea typeface="Courier"/>
                <a:cs typeface="Courier"/>
                <a:sym typeface="Courier"/>
              </a:rPr>
              <a:t>CNAME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09563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Courier"/>
              <a:buChar char="○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webpub-https-proxy.bo3.lycos.com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09563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↳"/>
            </a:pPr>
            <a:r>
              <a:rPr b="1" lang="en-CA">
                <a:latin typeface="Courier"/>
                <a:ea typeface="Courier"/>
                <a:cs typeface="Courier"/>
                <a:sym typeface="Courier"/>
              </a:rPr>
              <a:t>A</a:t>
            </a:r>
            <a:r>
              <a:rPr lang="en-CA"/>
              <a:t>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209.202.252.105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09563" lvl="0" marL="18288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-CA"/>
              <a:t>Case 2</a:t>
            </a:r>
            <a:r>
              <a:rPr lang="en-CA"/>
              <a:t>: return the answer</a:t>
            </a:r>
            <a:endParaRPr/>
          </a:p>
        </p:txBody>
      </p:sp>
      <p:sp>
        <p:nvSpPr>
          <p:cNvPr id="201" name="Google Shape;201;p33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More DNS: Example CNAME Chain</a:t>
            </a:r>
            <a:endParaRPr>
              <a:solidFill>
                <a:srgbClr val="0077C8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0956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CA"/>
              <a:t>Example: Looking for the </a:t>
            </a:r>
            <a:r>
              <a:rPr b="1" lang="en-CA">
                <a:latin typeface="Courier"/>
                <a:ea typeface="Courier"/>
                <a:cs typeface="Courier"/>
                <a:sym typeface="Courier"/>
              </a:rPr>
              <a:t>A</a:t>
            </a:r>
            <a:r>
              <a:rPr lang="en-CA"/>
              <a:t> record of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radicalbeerfaction.tripod.com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09563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CA"/>
              <a:t>The original dig commands and results are available on GitHub Pages.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09563" lvl="0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-"/>
            </a:pPr>
            <a:r>
              <a:rPr b="1" lang="en-CA">
                <a:solidFill>
                  <a:srgbClr val="FF0000"/>
                </a:solidFill>
              </a:rPr>
              <a:t>Note: This example no longer works.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956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CA"/>
              <a:t>Querying the following domain names returns:</a:t>
            </a:r>
            <a:endParaRPr/>
          </a:p>
          <a:p>
            <a:pPr indent="-309563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Courier"/>
              <a:buChar char="○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radicalbeerfaction.tripod.com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09563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↳"/>
            </a:pPr>
            <a:r>
              <a:rPr b="1" lang="en-CA">
                <a:latin typeface="Courier"/>
                <a:ea typeface="Courier"/>
                <a:cs typeface="Courier"/>
                <a:sym typeface="Courier"/>
              </a:rPr>
              <a:t>CNAME</a:t>
            </a:r>
            <a:r>
              <a:rPr lang="en-CA"/>
              <a:t>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members.tripod.com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09563" lvl="0" marL="18288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-CA"/>
              <a:t>Case 3</a:t>
            </a:r>
            <a:r>
              <a:rPr lang="en-CA"/>
              <a:t>: follow the </a:t>
            </a:r>
            <a:r>
              <a:rPr b="1" lang="en-CA">
                <a:latin typeface="Courier"/>
                <a:ea typeface="Courier"/>
                <a:cs typeface="Courier"/>
                <a:sym typeface="Courier"/>
              </a:rPr>
              <a:t>CNAME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09563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Courier"/>
              <a:buChar char="○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members.tripod.com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09563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↳"/>
            </a:pPr>
            <a:r>
              <a:rPr b="1" lang="en-CA">
                <a:latin typeface="Courier"/>
                <a:ea typeface="Courier"/>
                <a:cs typeface="Courier"/>
                <a:sym typeface="Courier"/>
              </a:rPr>
              <a:t>CNAME</a:t>
            </a:r>
            <a:r>
              <a:rPr lang="en-CA"/>
              <a:t>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webpub-https-proxy.bo3.lycos.com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09563" lvl="0" marL="18288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-CA"/>
              <a:t>Case 3</a:t>
            </a:r>
            <a:r>
              <a:rPr lang="en-CA"/>
              <a:t>: follow the </a:t>
            </a:r>
            <a:r>
              <a:rPr b="1" lang="en-CA">
                <a:latin typeface="Courier"/>
                <a:ea typeface="Courier"/>
                <a:cs typeface="Courier"/>
                <a:sym typeface="Courier"/>
              </a:rPr>
              <a:t>CNAME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09563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Courier"/>
              <a:buChar char="○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webpub-https-proxy.bo3.lycos.com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09563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↳"/>
            </a:pPr>
            <a:r>
              <a:rPr b="1" lang="en-CA">
                <a:latin typeface="Courier"/>
                <a:ea typeface="Courier"/>
                <a:cs typeface="Courier"/>
                <a:sym typeface="Courier"/>
              </a:rPr>
              <a:t>A</a:t>
            </a:r>
            <a:r>
              <a:rPr lang="en-CA"/>
              <a:t>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209.202.252.105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09563" lvl="0" marL="18288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-CA"/>
              <a:t>Case 2</a:t>
            </a:r>
            <a:r>
              <a:rPr lang="en-CA"/>
              <a:t>: return the answer</a:t>
            </a:r>
            <a:endParaRPr/>
          </a:p>
        </p:txBody>
      </p:sp>
      <p:sp>
        <p:nvSpPr>
          <p:cNvPr id="207" name="Google Shape;207;p34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More DNS: Example CNAME Chain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08" name="Google Shape;208;p34"/>
          <p:cNvSpPr/>
          <p:nvPr/>
        </p:nvSpPr>
        <p:spPr>
          <a:xfrm>
            <a:off x="2523824" y="1904950"/>
            <a:ext cx="5066700" cy="451800"/>
          </a:xfrm>
          <a:prstGeom prst="wedgeRoundRectCallout">
            <a:avLst>
              <a:gd fmla="val -54393" name="adj1"/>
              <a:gd fmla="val 93465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/>
              <a:t>In terms of PA2, this is what </a:t>
            </a: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iterativeQuery()</a:t>
            </a:r>
            <a:r>
              <a:rPr lang="en-CA"/>
              <a:t> will return</a:t>
            </a:r>
            <a:endParaRPr/>
          </a:p>
        </p:txBody>
      </p:sp>
      <p:sp>
        <p:nvSpPr>
          <p:cNvPr id="209" name="Google Shape;209;p34"/>
          <p:cNvSpPr/>
          <p:nvPr/>
        </p:nvSpPr>
        <p:spPr>
          <a:xfrm>
            <a:off x="3476325" y="3898375"/>
            <a:ext cx="5066700" cy="996900"/>
          </a:xfrm>
          <a:prstGeom prst="wedgeRoundRectCallout">
            <a:avLst>
              <a:gd fmla="val -40895" name="adj1"/>
              <a:gd fmla="val -139635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CA"/>
              <a:t>Key points:</a:t>
            </a:r>
            <a:r>
              <a:rPr lang="en-CA"/>
              <a:t> 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iterativeQuery()</a:t>
            </a:r>
            <a:r>
              <a:rPr lang="en-CA"/>
              <a:t> does not follow </a:t>
            </a:r>
            <a:r>
              <a:rPr b="1" lang="en-CA">
                <a:latin typeface="Courier"/>
                <a:ea typeface="Courier"/>
                <a:cs typeface="Courier"/>
                <a:sym typeface="Courier"/>
              </a:rPr>
              <a:t>CNAME</a:t>
            </a:r>
            <a:r>
              <a:rPr lang="en-CA"/>
              <a:t> chains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getResultsFollowingCNames()</a:t>
            </a:r>
            <a:r>
              <a:rPr lang="en-CA"/>
              <a:t> does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DNS usually uses UDP by default, but there are cases where it needs to use TCP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What is TCP fallback?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TCP fallback means retrying the same DNS query over TCP after the UDP query cannot be completed properly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In PA2, the main case is when the UDP response is truncated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If the UDP response has the TC bit set, the response was truncated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Send the same DNS query again using TCP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Refer to </a:t>
            </a:r>
            <a:r>
              <a:rPr lang="en-CA" u="sng">
                <a:solidFill>
                  <a:schemeClr val="hlink"/>
                </a:solidFill>
                <a:hlinkClick r:id="rId3"/>
              </a:rPr>
              <a:t>RFC 1035</a:t>
            </a:r>
            <a:r>
              <a:rPr lang="en-CA"/>
              <a:t> Section 4.2.2, TCP usage, for more detail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5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More DNS: TCP Fallback</a:t>
            </a:r>
            <a:endParaRPr>
              <a:solidFill>
                <a:srgbClr val="0077C8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6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Referring to </a:t>
            </a:r>
            <a:r>
              <a:rPr lang="en-CA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RFC 1035</a:t>
            </a:r>
            <a:r>
              <a:rPr lang="en-CA"/>
              <a:t> Section 4.2.2, Which of the following is true:</a:t>
            </a:r>
            <a:endParaRPr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/>
              <a:t>When sending a DNS Query using TCP, all you need to send is the bytes of the DNS message</a:t>
            </a:r>
            <a:endParaRPr sz="13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/>
              <a:t>When sending a DNS Query using TCP, you need to first send a short corresponding to the length of the DNS message, followed by the DNS message</a:t>
            </a:r>
            <a:endParaRPr sz="13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/>
              <a:t>When sending a DNS Query using TCP, you need to first send an int corresponding to the length of the DNS message, followed by the DNS message</a:t>
            </a:r>
            <a:endParaRPr sz="13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/>
              <a:t>When sending a DNS Query using TCP, you need to first send a short corresponding to the length of the DNS message, followed by a new line, followed by the DNS message</a:t>
            </a:r>
            <a:endParaRPr sz="1300"/>
          </a:p>
        </p:txBody>
      </p:sp>
      <p:sp>
        <p:nvSpPr>
          <p:cNvPr id="221" name="Google Shape;221;p36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More DNS: TCP Fallback</a:t>
            </a:r>
            <a:endParaRPr>
              <a:solidFill>
                <a:srgbClr val="0077C8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7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Referring to </a:t>
            </a:r>
            <a:r>
              <a:rPr lang="en-CA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RFC 1035</a:t>
            </a:r>
            <a:r>
              <a:rPr lang="en-CA"/>
              <a:t> Section 4.2.2, Which of the following is true:</a:t>
            </a:r>
            <a:endParaRPr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/>
              <a:t>When sending a DNS Query using TCP, all you need to send is the bytes of the DNS message</a:t>
            </a:r>
            <a:endParaRPr sz="13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300"/>
              <a:buAutoNum type="arabicPeriod"/>
            </a:pPr>
            <a:r>
              <a:rPr b="1" lang="en-CA" sz="1300">
                <a:solidFill>
                  <a:srgbClr val="0000FF"/>
                </a:solidFill>
              </a:rPr>
              <a:t>When sending a DNS Query using TCP, you need to first send a short corresponding to the length of the DNS message, followed by the DNS message</a:t>
            </a:r>
            <a:endParaRPr b="1" sz="1300"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/>
              <a:t>When sending a DNS Query using TCP, you need to first send an int corresponding to the length of the DNS message, followed by the DNS message</a:t>
            </a:r>
            <a:endParaRPr sz="13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CA" sz="1300"/>
              <a:t>When sending a DNS Query using TCP, you need to first send a short corresponding to the length of the DNS message, followed by a new line, followed by the DNS message</a:t>
            </a:r>
            <a:endParaRPr sz="1300"/>
          </a:p>
        </p:txBody>
      </p:sp>
      <p:sp>
        <p:nvSpPr>
          <p:cNvPr id="227" name="Google Shape;227;p37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More DNS: TCP Fallback</a:t>
            </a:r>
            <a:endParaRPr>
              <a:solidFill>
                <a:srgbClr val="0077C8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8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If the following DNS message is sent over UDP: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what should we send over TCP?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33" name="Google Shape;233;p38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More DNS: TCP Fallback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34" name="Google Shape;234;p38"/>
          <p:cNvSpPr txBox="1"/>
          <p:nvPr/>
        </p:nvSpPr>
        <p:spPr>
          <a:xfrm>
            <a:off x="924500" y="1426850"/>
            <a:ext cx="4234200" cy="8643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dd 51 01 20 00 01 00 00  00 00 00 01 06 67 6f 6f</a:t>
            </a:r>
            <a:endParaRPr sz="900">
              <a:solidFill>
                <a:srgbClr val="FBC02D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67 6c 65 03 63 6f 6d 00  00 01 00 01 00 00 29 10</a:t>
            </a:r>
            <a:endParaRPr sz="900">
              <a:solidFill>
                <a:srgbClr val="FBC02D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00 00 00 00 00 00 00</a:t>
            </a:r>
            <a:endParaRPr sz="900">
              <a:solidFill>
                <a:srgbClr val="FBC02D"/>
              </a:solidFill>
              <a:highlight>
                <a:srgbClr val="212121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9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If the following DNS message is sent over UDP: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what should we send over TCP?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TCP DNS messages need a 2-byte length field at the beginning</a:t>
            </a:r>
            <a:endParaRPr/>
          </a:p>
          <a:p>
            <a:pPr indent="-3238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The UDP DNS message above is 39 bytes long</a:t>
            </a:r>
            <a:endParaRPr/>
          </a:p>
          <a:p>
            <a:pPr indent="-3238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39 = 0x0027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40" name="Google Shape;240;p39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More DNS: TCP Fallback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41" name="Google Shape;241;p39"/>
          <p:cNvSpPr txBox="1"/>
          <p:nvPr/>
        </p:nvSpPr>
        <p:spPr>
          <a:xfrm>
            <a:off x="924500" y="1426850"/>
            <a:ext cx="4234200" cy="8643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dd 51 01 20 00 01 00 00  00 00 00 01 06 67 6f 6f</a:t>
            </a:r>
            <a:endParaRPr sz="900">
              <a:solidFill>
                <a:srgbClr val="FBC02D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67 6c 65 03 63 6f 6d 00  00 01 00 01 00 00 29 10</a:t>
            </a:r>
            <a:endParaRPr sz="900">
              <a:solidFill>
                <a:srgbClr val="FBC02D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00 00 00 00 00 00 00</a:t>
            </a:r>
            <a:endParaRPr sz="900">
              <a:solidFill>
                <a:srgbClr val="FBC02D"/>
              </a:solidFill>
              <a:highlight>
                <a:srgbClr val="212121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2" name="Google Shape;242;p39"/>
          <p:cNvSpPr txBox="1"/>
          <p:nvPr/>
        </p:nvSpPr>
        <p:spPr>
          <a:xfrm>
            <a:off x="924500" y="2705650"/>
            <a:ext cx="4234200" cy="8643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900">
                <a:solidFill>
                  <a:srgbClr val="FF0000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00 27</a:t>
            </a: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dd 51 01 20 00 01   00 00 00 00 00 01 06 67</a:t>
            </a:r>
            <a:endParaRPr sz="900">
              <a:solidFill>
                <a:srgbClr val="FBC02D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6f 6f 67 6c 65 03 63 6f   6d 00 00 01 00 01 00 00</a:t>
            </a:r>
            <a:endParaRPr sz="900">
              <a:solidFill>
                <a:srgbClr val="FBC02D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29 10 00 00 00 00 00 00   00</a:t>
            </a:r>
            <a:endParaRPr sz="900">
              <a:solidFill>
                <a:srgbClr val="FBC02D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