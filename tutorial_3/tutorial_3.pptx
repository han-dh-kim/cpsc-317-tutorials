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C71296-0BDB-4009-8775-419F6B72150D}">
  <a:tblStyle styleId="{D2C71296-0BDB-4009-8775-419F6B7215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3542605b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" name="Google Shape;63;g3e3542605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3542605b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3542605b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3542605ba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3542605b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e3542605ba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3542605b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3542605ba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542605b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3542605ba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3542605b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3542605ba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3542605b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3542605ba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3542605b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e3542605ba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3542605b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3542605ba_0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3542605b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e3542605ba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3542605b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3542605ba_0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3542605b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e3542605ba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3542605b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e3542605ba_0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3542605b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3542605ba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3542605b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3542605ba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3542605b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3542605ba_0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3542605b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3542605ba_0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3542605ba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3542605ba_0_1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3542605b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3542605ba_0_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3542605b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3542605ba_0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3542605b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3542605ba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3542605b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e3542605ba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3542605b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3542605ba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3542605ba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3542605ba_0_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3542605b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e3542605ba_0_2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3542605b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3542605ba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3542605b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3542605ba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3542605ba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3542605ba_0_2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3542605b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e3542605ba_0_2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3542605b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e3542605ba_0_2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3542605b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e3542605ba_0_2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3542605b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e3542605ba_0_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3542605b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e3542605ba_0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1">
  <p:cSld name="Title Slide -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243888" y="1131888"/>
            <a:ext cx="900000" cy="11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014_logo_only_reverse.png"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0C2344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C23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65587" y="1141558"/>
            <a:ext cx="54387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Slide - 1">
  <p:cSld name="Copy Slide - 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4b282c2015.png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 flipH="1">
            <a:off x="8588375" y="4732338"/>
            <a:ext cx="30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b="0" i="0" lang="en-CA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1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atatracker.ietf.org/doc/html/rfc2229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atatracker.ietf.org/doc/html/rfc2229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atatracker.ietf.org/doc/html/rfc2229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atatracker.ietf.org/doc/html/rfc2229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atatracker.ietf.org/doc/html/rfc2229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atatracker.ietf.org/doc/html/rfc2229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atatracker.ietf.org/doc/html/rfc2229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atatracker.ietf.org/doc/html/rfc2229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atatracker.ietf.org/doc/html/rfc2229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atatracker.ietf.org/doc/html/rfc2229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atatracker.ietf.org/doc/html/rfc2229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atatracker.ietf.org/doc/html/rfc2229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atatracker.ietf.org/doc/html/rfc2229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atatracker.ietf.org/doc/html/rfc2229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atatracker.ietf.org/doc/html/rfc2229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cs.oracle.com/javase/tutorial/networking/sockets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CA"/>
              <a:t>Understanding DICT RFC</a:t>
            </a:r>
            <a:endParaRPr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C2344"/>
              </a:buClr>
              <a:buSzPts val="1000"/>
              <a:buNone/>
            </a:pPr>
            <a:r>
              <a:rPr lang="en-CA"/>
              <a:t>Slides by Han Kim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65573" y="1141550"/>
            <a:ext cx="47004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CA" sz="3500">
                <a:solidFill>
                  <a:srgbClr val="0077C9"/>
                </a:solidFill>
              </a:rPr>
              <a:t>Tutorial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Another tutorial to help you with PA1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Using netcat as a server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Useful when testing clients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Reading RFC 2229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More in-depth compared to tutorial 1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Figure out </a:t>
            </a:r>
            <a:r>
              <a:rPr lang="en-CA"/>
              <a:t>what commands required for PA1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Socket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Same as before, but with a side note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Tutorial 1 - Exercise 1: Online Dictionaries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7"/>
          <p:cNvCxnSpPr>
            <a:stCxn id="84" idx="2"/>
            <a:endCxn id="85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" name="Google Shape;86;p1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88" name="Google Shape;88;p17"/>
          <p:cNvCxnSpPr>
            <a:stCxn id="86" idx="1"/>
            <a:endCxn id="8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7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92" name="Google Shape;92;p17"/>
          <p:cNvCxnSpPr>
            <a:stCxn id="80" idx="3"/>
            <a:endCxn id="85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Tutorial 1 - Exercise 1: Online Dictionaries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8"/>
          <p:cNvCxnSpPr>
            <a:stCxn id="102" idx="2"/>
            <a:endCxn id="103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" name="Google Shape;104;p18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06" name="Google Shape;106;p18"/>
          <p:cNvCxnSpPr>
            <a:stCxn id="104" idx="1"/>
            <a:endCxn id="102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8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10" name="Google Shape;110;p18"/>
          <p:cNvCxnSpPr>
            <a:stCxn id="98" idx="3"/>
            <a:endCxn id="103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8"/>
          <p:cNvSpPr/>
          <p:nvPr/>
        </p:nvSpPr>
        <p:spPr>
          <a:xfrm>
            <a:off x="2662475" y="1012350"/>
            <a:ext cx="2900100" cy="1260000"/>
          </a:xfrm>
          <a:prstGeom prst="wedgeRoundRectCallout">
            <a:avLst>
              <a:gd fmla="val -49157" name="adj1"/>
              <a:gd fmla="val 6941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In our previous tutorial, we used the dictionary service with netcat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18" name="Google Shape;118;p1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" name="Google Shape;120;p19"/>
          <p:cNvCxnSpPr>
            <a:stCxn id="121" idx="2"/>
            <a:endCxn id="122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" name="Google Shape;123;p19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25" name="Google Shape;125;p19"/>
          <p:cNvCxnSpPr>
            <a:stCxn id="123" idx="1"/>
            <a:endCxn id="121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9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28" name="Google Shape;128;p19"/>
          <p:cNvCxnSpPr>
            <a:stCxn id="117" idx="3"/>
            <a:endCxn id="122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9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36" name="Google Shape;136;p2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20"/>
          <p:cNvCxnSpPr>
            <a:stCxn id="139" idx="2"/>
            <a:endCxn id="140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" name="Google Shape;141;p20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43" name="Google Shape;143;p20"/>
          <p:cNvCxnSpPr>
            <a:stCxn id="141" idx="1"/>
            <a:endCxn id="139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0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46" name="Google Shape;146;p20"/>
          <p:cNvCxnSpPr>
            <a:stCxn id="135" idx="3"/>
            <a:endCxn id="14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0"/>
          <p:cNvSpPr/>
          <p:nvPr/>
        </p:nvSpPr>
        <p:spPr>
          <a:xfrm>
            <a:off x="2662475" y="1012350"/>
            <a:ext cx="2900100" cy="1260000"/>
          </a:xfrm>
          <a:prstGeom prst="wedgeRoundRectCallout">
            <a:avLst>
              <a:gd fmla="val -49157" name="adj1"/>
              <a:gd fmla="val 6941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PA1 will use the dictionary service as well</a:t>
            </a:r>
            <a:endParaRPr sz="1800"/>
          </a:p>
        </p:txBody>
      </p:sp>
      <p:sp>
        <p:nvSpPr>
          <p:cNvPr id="148" name="Google Shape;148;p20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55" name="Google Shape;155;p2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60" name="Google Shape;160;p21"/>
          <p:cNvCxnSpPr>
            <a:stCxn id="157" idx="1"/>
            <a:endCxn id="159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1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69" name="Google Shape;169;p2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74" name="Google Shape;174;p22"/>
          <p:cNvCxnSpPr>
            <a:stCxn id="171" idx="1"/>
            <a:endCxn id="173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2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2738725" y="1327875"/>
            <a:ext cx="3739500" cy="832800"/>
          </a:xfrm>
          <a:prstGeom prst="wedgeRoundRectCallout">
            <a:avLst>
              <a:gd fmla="val -1685" name="adj1"/>
              <a:gd fmla="val 104371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This part is not implemented!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It is your task to implement it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netcat</a:t>
            </a:r>
            <a:r>
              <a:rPr lang="en-CA"/>
              <a:t> can also be used as a server: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Starts listening for connections on the given port number.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Responses can be provided through standard input: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Type manually in the terminal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Redirect from a file using…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Why use a netcat server?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Useful for testing clients without relying on a real server.</a:t>
            </a:r>
            <a:endParaRPr/>
          </a:p>
        </p:txBody>
      </p:sp>
      <p:sp>
        <p:nvSpPr>
          <p:cNvPr id="183" name="Google Shape;183;p2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Using netcat server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924500" y="1426850"/>
            <a:ext cx="6024600" cy="405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nc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-l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&lt;port_number&gt;</a:t>
            </a:r>
            <a:endParaRPr sz="900">
              <a:solidFill>
                <a:srgbClr val="999999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924500" y="3441725"/>
            <a:ext cx="6024600" cy="405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nc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-l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&lt;port_number&gt;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&lt;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&lt;file_path&gt;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900">
              <a:solidFill>
                <a:srgbClr val="999999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Tutorial 1 - Exercise 1: Online Dictionaries</a:t>
            </a:r>
            <a:endParaRPr/>
          </a:p>
        </p:txBody>
      </p:sp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dictionaries does the server support?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discover the definition of the word “pemican”?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different dictionaries contain a definition of the word “protocol”?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find all the words that “sound like” the word “orange”?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4" title="Screenshot 2026-01-08 at 4.04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7550" y="1690975"/>
            <a:ext cx="1924300" cy="3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 title="Screenshot 2026-01-08 at 4.06.1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7550" y="2281050"/>
            <a:ext cx="4778801" cy="12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 title="Screenshot 2026-01-08 at 4.07.2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550" y="3756275"/>
            <a:ext cx="1636806" cy="3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 title="Screenshot 2026-01-08 at 4.08.11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67550" y="4346350"/>
            <a:ext cx="1536688" cy="3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does the first digit of a status code mean?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about the second?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about the third?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07" name="Google Shape;207;p26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does the first digit of a status code mean?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0000FF"/>
                </a:solidFill>
              </a:rPr>
              <a:t>Success, Failure, Progress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about the second?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about the third?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does the first digit of a status code mean?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0000FF"/>
                </a:solidFill>
              </a:rPr>
              <a:t>Success, Failure, Progress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about the second?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0000FF"/>
                </a:solidFill>
              </a:rPr>
              <a:t>Response Category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about the third?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does the first digit of a status code mean?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0000FF"/>
                </a:solidFill>
              </a:rPr>
              <a:t>Success, Failure, Progress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about the second?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0000FF"/>
                </a:solidFill>
              </a:rPr>
              <a:t>Response Category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What about the third?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0000FF"/>
                </a:solidFill>
              </a:rPr>
              <a:t>	Specific details related to command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25" name="Google Shape;225;p29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 Given the RFC code definition, what could the following codes mean: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50z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25z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11z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42z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 Given the RFC code definition, what could the following codes mean: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50z</a:t>
            </a:r>
            <a:r>
              <a:rPr b="1" lang="en-CA">
                <a:solidFill>
                  <a:srgbClr val="0000FF"/>
                </a:solidFill>
              </a:rPr>
              <a:t>: Permanent negative + Syntax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CA">
                <a:solidFill>
                  <a:srgbClr val="FF0000"/>
                </a:solidFill>
              </a:rPr>
              <a:t>E.g.</a:t>
            </a:r>
            <a:r>
              <a:rPr lang="en-CA"/>
              <a:t> The command is not recognized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25z</a:t>
            </a:r>
            <a:endParaRPr b="1">
              <a:solidFill>
                <a:srgbClr val="0000FF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11z</a:t>
            </a:r>
            <a:endParaRPr b="1">
              <a:solidFill>
                <a:srgbClr val="0000FF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42z</a:t>
            </a:r>
            <a:endParaRPr b="1">
              <a:solidFill>
                <a:srgbClr val="0000FF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37" name="Google Shape;237;p31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 Given the RFC code definition, what could the following codes mean: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50z</a:t>
            </a:r>
            <a:r>
              <a:rPr b="1" lang="en-CA">
                <a:solidFill>
                  <a:srgbClr val="0000FF"/>
                </a:solidFill>
              </a:rPr>
              <a:t>: Permanent negative + Syntax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CA">
                <a:solidFill>
                  <a:srgbClr val="FF0000"/>
                </a:solidFill>
              </a:rPr>
              <a:t>E.g.</a:t>
            </a:r>
            <a:r>
              <a:rPr lang="en-CA"/>
              <a:t> The command is not recognized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25z</a:t>
            </a:r>
            <a:r>
              <a:rPr b="1" lang="en-CA">
                <a:solidFill>
                  <a:srgbClr val="0000FF"/>
                </a:solidFill>
              </a:rPr>
              <a:t>: Positive completion + DICT system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The server successfully finished the DICT command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11z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42z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 Given the RFC code definition, what could the following codes mean: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50z</a:t>
            </a:r>
            <a:r>
              <a:rPr b="1" lang="en-CA">
                <a:solidFill>
                  <a:srgbClr val="0000FF"/>
                </a:solidFill>
              </a:rPr>
              <a:t>: Permanent negative + Syntax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CA">
                <a:solidFill>
                  <a:srgbClr val="FF0000"/>
                </a:solidFill>
              </a:rPr>
              <a:t>E.g.</a:t>
            </a:r>
            <a:r>
              <a:rPr lang="en-CA"/>
              <a:t> The command is not recognized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25z</a:t>
            </a:r>
            <a:r>
              <a:rPr b="1" lang="en-CA">
                <a:solidFill>
                  <a:srgbClr val="0000FF"/>
                </a:solidFill>
              </a:rPr>
              <a:t>: Positive completion + DICT system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The server successfully finished the DICT command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11z</a:t>
            </a:r>
            <a:r>
              <a:rPr b="1" lang="en-CA">
                <a:solidFill>
                  <a:srgbClr val="0000FF"/>
                </a:solidFill>
              </a:rPr>
              <a:t>: Positive preliminary + Information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The server accepted the command and will send informational text next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42z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 Given the RFC code definition, what could the following codes mean: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50z</a:t>
            </a:r>
            <a:r>
              <a:rPr b="1" lang="en-CA">
                <a:solidFill>
                  <a:srgbClr val="0000FF"/>
                </a:solidFill>
              </a:rPr>
              <a:t>: Permanent negative + Syntax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CA">
                <a:solidFill>
                  <a:srgbClr val="FF0000"/>
                </a:solidFill>
              </a:rPr>
              <a:t>E.g.</a:t>
            </a:r>
            <a:r>
              <a:rPr lang="en-CA"/>
              <a:t> The command is not recognized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25z</a:t>
            </a:r>
            <a:r>
              <a:rPr b="1" lang="en-CA">
                <a:solidFill>
                  <a:srgbClr val="0000FF"/>
                </a:solidFill>
              </a:rPr>
              <a:t>: Positive completion + DICT system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The server successfully finished the DICT command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11z</a:t>
            </a:r>
            <a:r>
              <a:rPr b="1" lang="en-CA">
                <a:solidFill>
                  <a:srgbClr val="0000FF"/>
                </a:solidFill>
              </a:rPr>
              <a:t>: Positive preliminary + Information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The server accepted the command and will send informational text next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42z</a:t>
            </a:r>
            <a:r>
              <a:rPr b="1" lang="en-CA">
                <a:solidFill>
                  <a:srgbClr val="0000FF"/>
                </a:solidFill>
              </a:rPr>
              <a:t>: Transient negative + Connection</a:t>
            </a:r>
            <a:endParaRPr b="1">
              <a:solidFill>
                <a:srgbClr val="0000FF"/>
              </a:solidFill>
            </a:endParaRPr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The command failed, but the problem may be temporary</a:t>
            </a:r>
            <a:endParaRPr/>
          </a:p>
          <a:p>
            <a:pPr indent="-323850" lvl="0" marL="22860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CA">
                <a:solidFill>
                  <a:srgbClr val="FF0000"/>
                </a:solidFill>
              </a:rPr>
              <a:t>E.g.</a:t>
            </a:r>
            <a:r>
              <a:rPr lang="en-CA"/>
              <a:t> The server is temporarily unavailable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Given the RFC code definition, what would be the reasonable code for: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 successful command process has started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Too many parameters were sent with the command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Authentication has begun and now requires a password from the Client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61" name="Google Shape;261;p35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Given the RFC code definition, what would be the reasonable code for: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 successful command process has started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			</a:t>
            </a:r>
            <a:r>
              <a:rPr b="1" lang="en-CA">
                <a:solidFill>
                  <a:srgbClr val="0000FF"/>
                </a:solidFill>
              </a:rPr>
              <a:t>1yz</a:t>
            </a:r>
            <a:r>
              <a:rPr lang="en-CA"/>
              <a:t>: Positive preliminary reply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Too many parameters were sent with the command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Authentication has begun and now requires a password from the Client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67" name="Google Shape;267;p36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Given the RFC code definition, what would be the reasonable code for: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 successful command process has started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			</a:t>
            </a:r>
            <a:r>
              <a:rPr b="1" lang="en-CA">
                <a:solidFill>
                  <a:srgbClr val="0000FF"/>
                </a:solidFill>
              </a:rPr>
              <a:t>1yz</a:t>
            </a:r>
            <a:r>
              <a:rPr lang="en-CA"/>
              <a:t>: Positive preliminary reply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Too many parameters were sent with the command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50z: Permanent syntax error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 	→ </a:t>
            </a:r>
            <a:r>
              <a:rPr b="1" lang="en-CA">
                <a:solidFill>
                  <a:srgbClr val="0000FF"/>
                </a:solidFill>
              </a:rPr>
              <a:t>501</a:t>
            </a:r>
            <a:r>
              <a:rPr lang="en-CA"/>
              <a:t>: Syntax error, illegal parameters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Authentication has begun and now requires a password from the Client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	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73" name="Google Shape;273;p37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Given the RFC code definition, what would be the reasonable code for: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 successful command process has started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			</a:t>
            </a:r>
            <a:r>
              <a:rPr b="1" lang="en-CA">
                <a:solidFill>
                  <a:srgbClr val="0000FF"/>
                </a:solidFill>
              </a:rPr>
              <a:t>1yz</a:t>
            </a:r>
            <a:r>
              <a:rPr lang="en-CA"/>
              <a:t>: Positive preliminary reply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Too many parameters were sent with the command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50z: Permanent syntax error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 	→ </a:t>
            </a:r>
            <a:r>
              <a:rPr b="1" lang="en-CA">
                <a:solidFill>
                  <a:srgbClr val="0000FF"/>
                </a:solidFill>
              </a:rPr>
              <a:t>501</a:t>
            </a:r>
            <a:r>
              <a:rPr lang="en-CA"/>
              <a:t>: Syntax error, illegal parameters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Authentication has begun and now requires a password from the Client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			</a:t>
            </a:r>
            <a:r>
              <a:rPr b="1" lang="en-CA">
                <a:solidFill>
                  <a:srgbClr val="0000FF"/>
                </a:solidFill>
              </a:rPr>
              <a:t>33z</a:t>
            </a:r>
            <a:r>
              <a:rPr lang="en-CA"/>
              <a:t>: Authentication is in progress and the client must respond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79" name="Google Shape;279;p38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Given the RFC code definition, what would be the reasonable code for: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 successful command process has started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			</a:t>
            </a:r>
            <a:r>
              <a:rPr b="1" lang="en-CA">
                <a:solidFill>
                  <a:srgbClr val="0000FF"/>
                </a:solidFill>
              </a:rPr>
              <a:t>1yz</a:t>
            </a:r>
            <a:r>
              <a:rPr lang="en-CA"/>
              <a:t>: Positive preliminary reply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Too many parameters were sent with the command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50z: Permanent syntax error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 	→ </a:t>
            </a:r>
            <a:r>
              <a:rPr b="1" lang="en-CA">
                <a:solidFill>
                  <a:srgbClr val="0000FF"/>
                </a:solidFill>
              </a:rPr>
              <a:t>501</a:t>
            </a:r>
            <a:r>
              <a:rPr lang="en-CA"/>
              <a:t>: Syntax error, illegal parameters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-CA"/>
              <a:t>Authentication has begun and now requires a password from the Client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				</a:t>
            </a:r>
            <a:r>
              <a:rPr b="1" lang="en-CA">
                <a:solidFill>
                  <a:srgbClr val="0000FF"/>
                </a:solidFill>
              </a:rPr>
              <a:t>33z</a:t>
            </a:r>
            <a:r>
              <a:rPr lang="en-CA"/>
              <a:t>: Authentication is in progress and the client must respond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SHOW DB</a:t>
            </a:r>
            <a:r>
              <a:rPr lang="en-CA"/>
              <a:t> has two responses: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 successful response looks like: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b="1" lang="en-CA">
                <a:solidFill>
                  <a:srgbClr val="FF0000"/>
                </a:solidFill>
              </a:rPr>
              <a:t>How does it terminate?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85" name="Google Shape;285;p3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924500" y="1426850"/>
            <a:ext cx="6024600" cy="5148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110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 databases present - text follows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554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No databases present</a:t>
            </a:r>
            <a:endParaRPr sz="900">
              <a:solidFill>
                <a:srgbClr val="CE93D8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924500" y="2571750"/>
            <a:ext cx="6024600" cy="1113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110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 databases present - text follows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database1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description1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database2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description2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database3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description3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900">
              <a:solidFill>
                <a:srgbClr val="CE93D8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SHOW DB</a:t>
            </a:r>
            <a:r>
              <a:rPr lang="en-CA"/>
              <a:t> has two responses: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 successful response looks like: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b="1" lang="en-CA">
                <a:solidFill>
                  <a:srgbClr val="FF0000"/>
                </a:solidFill>
              </a:rPr>
              <a:t>How does it terminate?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93" name="Google Shape;293;p40"/>
          <p:cNvSpPr txBox="1"/>
          <p:nvPr>
            <p:ph idx="1" type="body"/>
          </p:nvPr>
        </p:nvSpPr>
        <p:spPr>
          <a:xfrm>
            <a:off x="924500" y="1426850"/>
            <a:ext cx="6024600" cy="5148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110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 databases present - text follows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554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No databases present</a:t>
            </a:r>
            <a:endParaRPr sz="900">
              <a:solidFill>
                <a:srgbClr val="CE93D8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4" name="Google Shape;294;p40"/>
          <p:cNvSpPr txBox="1"/>
          <p:nvPr>
            <p:ph idx="1" type="body"/>
          </p:nvPr>
        </p:nvSpPr>
        <p:spPr>
          <a:xfrm>
            <a:off x="924500" y="2571750"/>
            <a:ext cx="6024600" cy="1113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110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 databases present - text follows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database1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description1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database2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description2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database3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description3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900">
              <a:solidFill>
                <a:srgbClr val="CE93D8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5" name="Google Shape;295;p40"/>
          <p:cNvSpPr/>
          <p:nvPr/>
        </p:nvSpPr>
        <p:spPr>
          <a:xfrm>
            <a:off x="1851050" y="4274400"/>
            <a:ext cx="4837200" cy="451800"/>
          </a:xfrm>
          <a:prstGeom prst="wedgeRoundRectCallout">
            <a:avLst>
              <a:gd fmla="val -57342" name="adj1"/>
              <a:gd fmla="val -186958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The text response ends with a single dot (.).</a:t>
            </a:r>
            <a:endParaRPr sz="1800"/>
          </a:p>
        </p:txBody>
      </p:sp>
      <p:sp>
        <p:nvSpPr>
          <p:cNvPr id="296" name="Google Shape;296;p4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Reading RFC 2229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303" name="Google Shape;303;p4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04" name="Google Shape;304;p41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5" name="Google Shape;305;p41"/>
          <p:cNvCxnSpPr>
            <a:stCxn id="306" idx="2"/>
            <a:endCxn id="307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8" name="Google Shape;308;p41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9" name="Google Shape;309;p41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6" name="Google Shape;306;p4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10" name="Google Shape;310;p41"/>
          <p:cNvCxnSpPr>
            <a:stCxn id="308" idx="1"/>
            <a:endCxn id="306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" name="Google Shape;311;p41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12" name="Google Shape;312;p41"/>
          <p:cNvSpPr txBox="1"/>
          <p:nvPr/>
        </p:nvSpPr>
        <p:spPr>
          <a:xfrm>
            <a:off x="3231025" y="2533300"/>
            <a:ext cx="252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DEFINE * pineapple</a:t>
            </a:r>
            <a:endParaRPr/>
          </a:p>
        </p:txBody>
      </p:sp>
      <p:sp>
        <p:nvSpPr>
          <p:cNvPr id="313" name="Google Shape;313;p41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7" name="Google Shape;307;p4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14" name="Google Shape;314;p41"/>
          <p:cNvCxnSpPr>
            <a:stCxn id="302" idx="3"/>
            <a:endCxn id="307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41"/>
          <p:cNvSpPr txBox="1"/>
          <p:nvPr/>
        </p:nvSpPr>
        <p:spPr>
          <a:xfrm>
            <a:off x="247500" y="1989175"/>
            <a:ext cx="333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getDefinition(“pineapple”)</a:t>
            </a:r>
            <a:endParaRPr sz="1200"/>
          </a:p>
        </p:txBody>
      </p:sp>
      <p:sp>
        <p:nvSpPr>
          <p:cNvPr id="316" name="Google Shape;316;p41"/>
          <p:cNvSpPr txBox="1"/>
          <p:nvPr/>
        </p:nvSpPr>
        <p:spPr>
          <a:xfrm>
            <a:off x="4174375" y="29884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323" name="Google Shape;323;p4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5" name="Google Shape;325;p42"/>
          <p:cNvCxnSpPr>
            <a:stCxn id="326" idx="2"/>
            <a:endCxn id="327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8" name="Google Shape;328;p42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9" name="Google Shape;329;p42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30" name="Google Shape;330;p42"/>
          <p:cNvCxnSpPr>
            <a:stCxn id="328" idx="1"/>
            <a:endCxn id="326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42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32" name="Google Shape;332;p42"/>
          <p:cNvSpPr txBox="1"/>
          <p:nvPr/>
        </p:nvSpPr>
        <p:spPr>
          <a:xfrm>
            <a:off x="3231025" y="2533300"/>
            <a:ext cx="252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DEFINE * pineapple</a:t>
            </a:r>
            <a:endParaRPr/>
          </a:p>
        </p:txBody>
      </p:sp>
      <p:sp>
        <p:nvSpPr>
          <p:cNvPr id="333" name="Google Shape;333;p42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7" name="Google Shape;327;p42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34" name="Google Shape;334;p42"/>
          <p:cNvCxnSpPr>
            <a:stCxn id="322" idx="3"/>
            <a:endCxn id="327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" name="Google Shape;335;p42"/>
          <p:cNvSpPr txBox="1"/>
          <p:nvPr/>
        </p:nvSpPr>
        <p:spPr>
          <a:xfrm>
            <a:off x="247500" y="1989175"/>
            <a:ext cx="333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getDefinition(“pineapple”)</a:t>
            </a:r>
            <a:endParaRPr sz="1200"/>
          </a:p>
        </p:txBody>
      </p:sp>
      <p:sp>
        <p:nvSpPr>
          <p:cNvPr id="336" name="Google Shape;336;p42"/>
          <p:cNvSpPr txBox="1"/>
          <p:nvPr/>
        </p:nvSpPr>
        <p:spPr>
          <a:xfrm>
            <a:off x="4174375" y="29884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res</a:t>
            </a:r>
            <a:endParaRPr/>
          </a:p>
        </p:txBody>
      </p:sp>
      <p:sp>
        <p:nvSpPr>
          <p:cNvPr id="337" name="Google Shape;337;p42"/>
          <p:cNvSpPr/>
          <p:nvPr/>
        </p:nvSpPr>
        <p:spPr>
          <a:xfrm>
            <a:off x="2364950" y="1121425"/>
            <a:ext cx="3848100" cy="758700"/>
          </a:xfrm>
          <a:prstGeom prst="wedgeRoundRectCallout">
            <a:avLst>
              <a:gd fmla="val -45312" name="adj1"/>
              <a:gd fmla="val 71166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If the GUI calls </a:t>
            </a: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getDefinition(“pineapple”)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8" name="Google Shape;338;p42"/>
          <p:cNvSpPr/>
          <p:nvPr/>
        </p:nvSpPr>
        <p:spPr>
          <a:xfrm>
            <a:off x="4535325" y="3185575"/>
            <a:ext cx="3848100" cy="1062900"/>
          </a:xfrm>
          <a:prstGeom prst="wedgeRoundRectCallout">
            <a:avLst>
              <a:gd fmla="val -41292" name="adj1"/>
              <a:gd fmla="val -80908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DictionaryConnection.java</a:t>
            </a:r>
            <a:r>
              <a:rPr lang="en-CA" sz="1800"/>
              <a:t> should send a message asking a DICT server to define “pineapple”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DIY: Map Methods to RFC Commands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344" name="Google Shape;344;p43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{D2C71296-0BDB-4009-8775-419F6B72150D}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>
                          <a:solidFill>
                            <a:srgbClr val="434343"/>
                          </a:solidFill>
                        </a:rPr>
                        <a:t>Method</a:t>
                      </a:r>
                      <a:endParaRPr b="1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>
                          <a:solidFill>
                            <a:srgbClr val="434343"/>
                          </a:solidFill>
                        </a:rPr>
                        <a:t>DICT command</a:t>
                      </a:r>
                      <a:endParaRPr b="1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getDefinitions()</a:t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DEFINE</a:t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getMatchList()</a:t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getDatabaseList()</a:t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getStrategyList()</a:t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getDatabaseInfo()</a:t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Sockets: Endpoint for communication between two programs over a network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Identified by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&lt;IP Address, Port&gt;</a:t>
            </a:r>
            <a:r>
              <a:rPr lang="en-CA"/>
              <a:t> pair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Important Clarification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 device is identified by an </a:t>
            </a:r>
            <a:r>
              <a:rPr b="1" lang="en-CA"/>
              <a:t>IP address</a:t>
            </a:r>
            <a:endParaRPr b="1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 specific process (program) is identified by a </a:t>
            </a:r>
            <a:r>
              <a:rPr b="1" lang="en-CA"/>
              <a:t>socket</a:t>
            </a:r>
            <a:r>
              <a:rPr lang="en-CA"/>
              <a:t> (IP + Port)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      were sockets!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Socket programming is available in many languages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This course focuses on </a:t>
            </a:r>
            <a:r>
              <a:rPr b="1" lang="en-CA"/>
              <a:t>Java</a:t>
            </a:r>
            <a:r>
              <a:rPr lang="en-CA"/>
              <a:t> and </a:t>
            </a:r>
            <a:r>
              <a:rPr b="1" lang="en-CA"/>
              <a:t>C</a:t>
            </a:r>
            <a:r>
              <a:rPr lang="en-CA"/>
              <a:t>, starting with Java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 u="sng">
                <a:solidFill>
                  <a:schemeClr val="hlink"/>
                </a:solidFill>
                <a:hlinkClick r:id="rId3"/>
              </a:rPr>
              <a:t>Java Socket Tutorial</a:t>
            </a:r>
            <a:endParaRPr/>
          </a:p>
        </p:txBody>
      </p:sp>
      <p:sp>
        <p:nvSpPr>
          <p:cNvPr id="350" name="Google Shape;350;p4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Tutorial 1 - Exercise 5: Socket programming in Java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51" name="Google Shape;351;p44"/>
          <p:cNvSpPr/>
          <p:nvPr/>
        </p:nvSpPr>
        <p:spPr>
          <a:xfrm>
            <a:off x="1294394" y="2912416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 socket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"localhost"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4444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PrintWriter out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PrintWriter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getOutputStream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BufferedReader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 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BufferedReader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InputStreamReader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getInputStream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send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out.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"Hello"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receive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String response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System.out.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(response);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close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57" name="Google Shape;357;p4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Tutorial 1 - Exercise 5: Socket programming in Java (Client)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6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ServerSocket serverSocket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ServerSocket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4444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 clientSocket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serverSocket.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accept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BufferedReader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 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BufferedReader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InputStreamReader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getInputStream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PrintWriter out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PrintWriter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getOutputStream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receive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String message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send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out.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"Echo: "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+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message);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close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clientSocket.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serverSocket.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3" name="Google Shape;363;p4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Tutorial 1 - Exercise 5: Socket programming in Java (Server)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Socket calls are blocking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This means the program will wait until something happens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Examples: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new Socket(host, port)</a:t>
            </a:r>
            <a:r>
              <a:rPr lang="en-CA"/>
              <a:t> blocks until the connection succeeds or fails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serverSocket.accept()</a:t>
            </a:r>
            <a:r>
              <a:rPr lang="en-CA"/>
              <a:t> blocks until a client connects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in.readLine()</a:t>
            </a:r>
            <a:r>
              <a:rPr lang="en-CA"/>
              <a:t> blocks until a line of data arrives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Takeaways: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If the expected event never happens, the program may look like it is stuck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For DICT, read until the protocol says the response is complete</a:t>
            </a:r>
            <a:endParaRPr/>
          </a:p>
        </p:txBody>
      </p:sp>
      <p:sp>
        <p:nvSpPr>
          <p:cNvPr id="369" name="Google Shape;369;p4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Sidenote - Socket programming in Java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