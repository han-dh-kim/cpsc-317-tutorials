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Mono Medium"/>
      <p:regular r:id="rId26"/>
      <p:bold r:id="rId27"/>
      <p:italic r:id="rId28"/>
      <p:boldItalic r:id="rId29"/>
    </p:embeddedFont>
    <p:embeddedFont>
      <p:font typeface="Roboto Mon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Medium-regular.fntdata"/><Relationship Id="rId25" Type="http://schemas.openxmlformats.org/officeDocument/2006/relationships/slide" Target="slides/slide20.xml"/><Relationship Id="rId28" Type="http://schemas.openxmlformats.org/officeDocument/2006/relationships/font" Target="fonts/RobotoMonoMedium-italic.fntdata"/><Relationship Id="rId27" Type="http://schemas.openxmlformats.org/officeDocument/2006/relationships/font" Target="fonts/RobotoMono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Medium-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bold.fntdata"/><Relationship Id="rId30" Type="http://schemas.openxmlformats.org/officeDocument/2006/relationships/font" Target="fonts/RobotoMono-regular.fntdata"/><Relationship Id="rId11" Type="http://schemas.openxmlformats.org/officeDocument/2006/relationships/slide" Target="slides/slide6.xml"/><Relationship Id="rId33" Type="http://schemas.openxmlformats.org/officeDocument/2006/relationships/font" Target="fonts/RobotoMono-boldItalic.fntdata"/><Relationship Id="rId10" Type="http://schemas.openxmlformats.org/officeDocument/2006/relationships/slide" Target="slides/slide5.xml"/><Relationship Id="rId32" Type="http://schemas.openxmlformats.org/officeDocument/2006/relationships/font" Target="fonts/RobotoMon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test.sh"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c08e7f9016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c08e7f9016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c08e7f901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c08e7f901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Since we are using C for PA3 onwards, we can no longer use JUnit for our test cases. For PA3, we provide you with a test structure and some initial tests. Let’s take a look at how those provided tests work.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cb352b1ed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cb352b1ed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take a look in the provided starter code for PA3, you will see these files which together provide automated testing functionality for your server.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cb226c84c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cb226c84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an example of how test.sh runs a test case. First it runs your implementation of the mypopd server. It sends the the input file contents to the server. The server will interpret each line as a separate request, and send the corresponding response. test.sh saves these responses in an output file.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cb226c84c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cb226c84c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have two files containing the </a:t>
            </a:r>
            <a:r>
              <a:rPr i="1" lang="en"/>
              <a:t>expected </a:t>
            </a:r>
            <a:r>
              <a:rPr lang="en"/>
              <a:t>server output for this test case, and the </a:t>
            </a:r>
            <a:r>
              <a:rPr i="1" lang="en"/>
              <a:t>actual </a:t>
            </a:r>
            <a:r>
              <a:rPr lang="en"/>
              <a:t>server output. </a:t>
            </a:r>
            <a:endParaRPr/>
          </a:p>
          <a:p>
            <a:pPr indent="0" lvl="0" marL="0" rtl="0" algn="l">
              <a:spcBef>
                <a:spcPts val="0"/>
              </a:spcBef>
              <a:spcAft>
                <a:spcPts val="0"/>
              </a:spcAft>
              <a:buNone/>
            </a:pPr>
            <a:r>
              <a:rPr lang="en"/>
              <a:t>We want to compare them to see if the server gave the expected output. </a:t>
            </a:r>
            <a:endParaRPr/>
          </a:p>
          <a:p>
            <a:pPr indent="0" lvl="0" marL="0" rtl="0" algn="l">
              <a:spcBef>
                <a:spcPts val="0"/>
              </a:spcBef>
              <a:spcAft>
                <a:spcPts val="0"/>
              </a:spcAft>
              <a:buNone/>
            </a:pPr>
            <a:r>
              <a:rPr b="1" lang="en">
                <a:latin typeface="Roboto Mono"/>
                <a:ea typeface="Roboto Mono"/>
                <a:cs typeface="Roboto Mono"/>
                <a:sym typeface="Roboto Mono"/>
              </a:rPr>
              <a:t>test.sh</a:t>
            </a:r>
            <a:r>
              <a:rPr lang="en"/>
              <a:t> uses the </a:t>
            </a:r>
            <a:r>
              <a:rPr b="1" lang="en"/>
              <a:t>diff</a:t>
            </a:r>
            <a:r>
              <a:rPr lang="en"/>
              <a:t> command to do this comparison and prints the </a:t>
            </a:r>
            <a:r>
              <a:rPr lang="en"/>
              <a:t>output</a:t>
            </a:r>
            <a:r>
              <a:rPr lang="en"/>
              <a:t> to the terminal.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Note that unlike the Junit tests for PA1 and PA2, there is nothing obvious that says whether the test passed or failed. We have to look through the outputs of diff and decide whether the differences indicate incorrect server behaviour.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this case, the only difference is the name of the machine on the first line (indicated by the !) which is fine, so we can call this a passing test.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cb352b1ed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cb352b1ed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cb352b1ed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cb352b1ed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some test cases, we don’t just want to look at the server responses to our commands - we also want to look at the effect that those commands had on the mailbox contents of the users. For instance, if we use the delete command, we want to check whether the specified email was deleted.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some of the test cases include a folder with the initial contents of the mailboxes for all users, and a folder with the expected contents of each user’s mailbox after the server runs the provided commands.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Any questions about the test functionality before we do an activity?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b352b1ed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cb352b1ed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it’s your turn to add at least one additional test case and run it using test.sh.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can take a look at the test cases that are already provided to you, and think about what other cases you would want to test. Keep in mind the commands the server must support, and all the various orders in which these commands could be run.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08e7f901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c08e7f901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now that you can run tests for your program, you might find that one of your tests identifies a bug and you might want to use a debugger to help.</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c08e7f90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c08e7f90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It might take a few minutes for students to download the file and run it</a:t>
            </a:r>
            <a:endParaRPr i="1"/>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c08e7f901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c08e7f901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small bug, so you might be capable of solving it without the debugger. However, it’s a good idea to practice using gdb  now with this smaller example, so when you do run into a crazy bug that requires a debugger, you’re already familiar with gdb.</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a:t>Give students a few minutes to try out using GDB</a:t>
            </a:r>
            <a:endParaRPr i="1"/>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08e7f901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08e7f901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Demo the process of debugging the factorial program with GDB. </a:t>
            </a:r>
            <a:endParaRPr i="1"/>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c08e7f901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c08e7f901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 talked about how to run the tests, and how to use GDB, but how can we use GDB to debug a particular test case?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b352b1ed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b352b1ed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Give students a minute to think about it, then ask them to share</a:t>
            </a:r>
            <a:endParaRPr i="1"/>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67b910c08ff5cb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h67b910c08ff5cb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 so we can’t run gdb ./test.sh. How do we debug our test cases with gdb then? To </a:t>
            </a:r>
            <a:r>
              <a:rPr lang="en"/>
              <a:t>understand</a:t>
            </a:r>
            <a:r>
              <a:rPr lang="en"/>
              <a:t> this, we need to look more into the details of how test.sh runs the tests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b352b1ede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cb352b1ede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look at the test.sh code, we can see that it runs the ./mypopd program. It then runs netcat and has it connect as a client to the mypopd server.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means we have three programs running when we run test.sh: test.sh </a:t>
            </a:r>
            <a:r>
              <a:rPr lang="en"/>
              <a:t>itself</a:t>
            </a:r>
            <a:r>
              <a:rPr lang="en"/>
              <a:t>, the mypopd server, and the netcat client.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one we actually want to debug is mypopd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b352b1ede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cb352b1ede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simple way to do this is to bypass the </a:t>
            </a:r>
            <a:r>
              <a:rPr lang="en" u="sng">
                <a:solidFill>
                  <a:schemeClr val="hlink"/>
                </a:solidFill>
                <a:hlinkClick r:id="rId2"/>
              </a:rPr>
              <a:t>test.sh</a:t>
            </a:r>
            <a:r>
              <a:rPr lang="en"/>
              <a:t> script entirely, and instead run mypopd and netcat ourselves. This way we can choose to load mypopd into gdb before running it.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cb352b1ede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cb352b1ede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Demo this one before students try it themselves since this is a tricky one</a:t>
            </a:r>
            <a:r>
              <a:rPr i="1" lang="en"/>
              <a:t> (the steps of what to do are on the next slide)</a:t>
            </a:r>
            <a:endParaRPr i="1"/>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cb352b1ede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cb352b1ede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Have students try it out themselves and see if they can get it working</a:t>
            </a:r>
            <a:endParaRPr i="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 1">
    <p:spTree>
      <p:nvGrpSpPr>
        <p:cNvPr id="50" name="Shape 50"/>
        <p:cNvGrpSpPr/>
        <p:nvPr/>
      </p:nvGrpSpPr>
      <p:grpSpPr>
        <a:xfrm>
          <a:off x="0" y="0"/>
          <a:ext cx="0" cy="0"/>
          <a:chOff x="0" y="0"/>
          <a:chExt cx="0" cy="0"/>
        </a:xfrm>
      </p:grpSpPr>
      <p:sp>
        <p:nvSpPr>
          <p:cNvPr id="51" name="Google Shape;51;p13"/>
          <p:cNvSpPr/>
          <p:nvPr/>
        </p:nvSpPr>
        <p:spPr>
          <a:xfrm>
            <a:off x="8243888" y="1131888"/>
            <a:ext cx="900000" cy="1131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Arial"/>
              <a:ea typeface="Arial"/>
              <a:cs typeface="Arial"/>
              <a:sym typeface="Arial"/>
            </a:endParaRPr>
          </a:p>
        </p:txBody>
      </p:sp>
      <p:pic>
        <p:nvPicPr>
          <p:cNvPr descr="2014_logo_only_reverse.png" id="52" name="Google Shape;52;p13"/>
          <p:cNvPicPr preferRelativeResize="0"/>
          <p:nvPr/>
        </p:nvPicPr>
        <p:blipFill rotWithShape="1">
          <a:blip r:embed="rId2">
            <a:alphaModFix/>
          </a:blip>
          <a:srcRect b="0" l="0" r="0" t="0"/>
          <a:stretch/>
        </p:blipFill>
        <p:spPr>
          <a:xfrm>
            <a:off x="8485188" y="1419225"/>
            <a:ext cx="407987" cy="514350"/>
          </a:xfrm>
          <a:prstGeom prst="rect">
            <a:avLst/>
          </a:prstGeom>
          <a:noFill/>
          <a:ln>
            <a:noFill/>
          </a:ln>
        </p:spPr>
      </p:pic>
      <p:sp>
        <p:nvSpPr>
          <p:cNvPr id="53" name="Google Shape;53;p13"/>
          <p:cNvSpPr txBox="1"/>
          <p:nvPr>
            <p:ph idx="1" type="body"/>
          </p:nvPr>
        </p:nvSpPr>
        <p:spPr>
          <a:xfrm>
            <a:off x="365762" y="3003798"/>
            <a:ext cx="5430300" cy="321300"/>
          </a:xfrm>
          <a:prstGeom prst="rect">
            <a:avLst/>
          </a:prstGeom>
          <a:noFill/>
          <a:ln>
            <a:noFill/>
          </a:ln>
        </p:spPr>
        <p:txBody>
          <a:bodyPr anchorCtr="0" anchor="t" bIns="0" lIns="0" spcFirstLastPara="1" rIns="0" wrap="square" tIns="0">
            <a:normAutofit/>
          </a:bodyPr>
          <a:lstStyle>
            <a:lvl1pPr indent="-228600" lvl="0" marL="457200" marR="0" algn="l">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285750" lvl="1" marL="914400" marR="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2pPr>
            <a:lvl3pPr indent="-285750" lvl="2" marL="1371600" marR="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indent="-285750" lvl="3" marL="1828800" marR="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1200"/>
              </a:spcBef>
              <a:spcAft>
                <a:spcPts val="120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4" name="Google Shape;54;p13"/>
          <p:cNvSpPr txBox="1"/>
          <p:nvPr>
            <p:ph idx="2" type="body"/>
          </p:nvPr>
        </p:nvSpPr>
        <p:spPr>
          <a:xfrm>
            <a:off x="365762" y="3507855"/>
            <a:ext cx="5430300" cy="321300"/>
          </a:xfrm>
          <a:prstGeom prst="rect">
            <a:avLst/>
          </a:prstGeom>
          <a:noFill/>
          <a:ln>
            <a:noFill/>
          </a:ln>
        </p:spPr>
        <p:txBody>
          <a:bodyPr anchorCtr="0" anchor="t" bIns="0" lIns="0" spcFirstLastPara="1" rIns="0" wrap="square" tIns="0">
            <a:normAutofit/>
          </a:bodyPr>
          <a:lstStyle>
            <a:lvl1pPr indent="-228600" lvl="0" marL="457200" marR="0" algn="l">
              <a:spcBef>
                <a:spcPts val="200"/>
              </a:spcBef>
              <a:spcAft>
                <a:spcPts val="0"/>
              </a:spcAft>
              <a:buClr>
                <a:srgbClr val="0C2344"/>
              </a:buClr>
              <a:buSzPts val="1000"/>
              <a:buFont typeface="Arial"/>
              <a:buNone/>
              <a:defRPr b="1" i="0" sz="1000" u="none" cap="none" strike="noStrike">
                <a:solidFill>
                  <a:srgbClr val="0C2344"/>
                </a:solidFill>
                <a:latin typeface="Arial"/>
                <a:ea typeface="Arial"/>
                <a:cs typeface="Arial"/>
                <a:sym typeface="Arial"/>
              </a:defRPr>
            </a:lvl1pPr>
            <a:lvl2pPr indent="-285750" lvl="1" marL="914400" marR="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2pPr>
            <a:lvl3pPr indent="-285750" lvl="2" marL="1371600" marR="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indent="-285750" lvl="3" marL="1828800" marR="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algn="l">
              <a:spcBef>
                <a:spcPts val="18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1200"/>
              </a:spcBef>
              <a:spcAft>
                <a:spcPts val="120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5" name="Google Shape;55;p13"/>
          <p:cNvSpPr txBox="1"/>
          <p:nvPr>
            <p:ph type="title"/>
          </p:nvPr>
        </p:nvSpPr>
        <p:spPr>
          <a:xfrm>
            <a:off x="365587" y="1141558"/>
            <a:ext cx="5438700" cy="1574100"/>
          </a:xfrm>
          <a:prstGeom prst="rect">
            <a:avLst/>
          </a:prstGeom>
          <a:noFill/>
          <a:ln>
            <a:noFill/>
          </a:ln>
        </p:spPr>
        <p:txBody>
          <a:bodyPr anchorCtr="0" anchor="t" bIns="0" lIns="0" spcFirstLastPara="1" rIns="0" wrap="square" tIns="0">
            <a:normAutofit/>
          </a:bodyPr>
          <a:lstStyle>
            <a:lvl1pPr lvl="0" marR="0" algn="l">
              <a:lnSpc>
                <a:spcPct val="111764"/>
              </a:lnSpc>
              <a:spcBef>
                <a:spcPts val="0"/>
              </a:spcBef>
              <a:spcAft>
                <a:spcPts val="0"/>
              </a:spcAft>
              <a:buSzPts val="2800"/>
              <a:buNone/>
              <a:defRPr b="1" i="0" sz="3400" u="none" cap="none" strike="noStrike">
                <a:solidFill>
                  <a:srgbClr val="1F8FFF"/>
                </a:solidFill>
                <a:latin typeface="Arial"/>
                <a:ea typeface="Arial"/>
                <a:cs typeface="Arial"/>
                <a:sym typeface="Arial"/>
              </a:defRPr>
            </a:lvl1pPr>
            <a:lvl2pPr lvl="1" marR="0" algn="ctr">
              <a:spcBef>
                <a:spcPts val="0"/>
              </a:spcBef>
              <a:spcAft>
                <a:spcPts val="0"/>
              </a:spcAft>
              <a:buSzPts val="2800"/>
              <a:buNone/>
              <a:defRPr b="0" i="0" sz="4400" u="none" cap="none" strike="noStrike">
                <a:solidFill>
                  <a:schemeClr val="dk1"/>
                </a:solidFill>
                <a:latin typeface="Arial"/>
                <a:ea typeface="Arial"/>
                <a:cs typeface="Arial"/>
                <a:sym typeface="Arial"/>
              </a:defRPr>
            </a:lvl2pPr>
            <a:lvl3pPr lvl="2" marR="0" algn="ctr">
              <a:spcBef>
                <a:spcPts val="0"/>
              </a:spcBef>
              <a:spcAft>
                <a:spcPts val="0"/>
              </a:spcAft>
              <a:buSzPts val="2800"/>
              <a:buNone/>
              <a:defRPr b="0" i="0" sz="4400" u="none" cap="none" strike="noStrike">
                <a:solidFill>
                  <a:schemeClr val="dk1"/>
                </a:solidFill>
                <a:latin typeface="Arial"/>
                <a:ea typeface="Arial"/>
                <a:cs typeface="Arial"/>
                <a:sym typeface="Arial"/>
              </a:defRPr>
            </a:lvl3pPr>
            <a:lvl4pPr lvl="3" marR="0" algn="ctr">
              <a:spcBef>
                <a:spcPts val="0"/>
              </a:spcBef>
              <a:spcAft>
                <a:spcPts val="0"/>
              </a:spcAft>
              <a:buSzPts val="2800"/>
              <a:buNone/>
              <a:defRPr b="0" i="0" sz="4400" u="none" cap="none" strike="noStrike">
                <a:solidFill>
                  <a:schemeClr val="dk1"/>
                </a:solidFill>
                <a:latin typeface="Arial"/>
                <a:ea typeface="Arial"/>
                <a:cs typeface="Arial"/>
                <a:sym typeface="Arial"/>
              </a:defRPr>
            </a:lvl4pPr>
            <a:lvl5pPr lvl="4" marR="0" algn="ctr">
              <a:spcBef>
                <a:spcPts val="0"/>
              </a:spcBef>
              <a:spcAft>
                <a:spcPts val="0"/>
              </a:spcAft>
              <a:buSzPts val="2800"/>
              <a:buNone/>
              <a:defRPr b="0" i="0" sz="4400" u="none" cap="none" strike="noStrike">
                <a:solidFill>
                  <a:schemeClr val="dk1"/>
                </a:solidFill>
                <a:latin typeface="Arial"/>
                <a:ea typeface="Arial"/>
                <a:cs typeface="Arial"/>
                <a:sym typeface="Arial"/>
              </a:defRPr>
            </a:lvl5pPr>
            <a:lvl6pPr lvl="5" marR="0" algn="ctr">
              <a:spcBef>
                <a:spcPts val="0"/>
              </a:spcBef>
              <a:spcAft>
                <a:spcPts val="0"/>
              </a:spcAft>
              <a:buSzPts val="2800"/>
              <a:buNone/>
              <a:defRPr b="0" i="0" sz="4400" u="none" cap="none" strike="noStrike">
                <a:solidFill>
                  <a:schemeClr val="dk1"/>
                </a:solidFill>
                <a:latin typeface="Arial"/>
                <a:ea typeface="Arial"/>
                <a:cs typeface="Arial"/>
                <a:sym typeface="Arial"/>
              </a:defRPr>
            </a:lvl6pPr>
            <a:lvl7pPr lvl="6" marR="0" algn="ctr">
              <a:spcBef>
                <a:spcPts val="0"/>
              </a:spcBef>
              <a:spcAft>
                <a:spcPts val="0"/>
              </a:spcAft>
              <a:buSzPts val="2800"/>
              <a:buNone/>
              <a:defRPr b="0" i="0" sz="4400" u="none" cap="none" strike="noStrike">
                <a:solidFill>
                  <a:schemeClr val="dk1"/>
                </a:solidFill>
                <a:latin typeface="Arial"/>
                <a:ea typeface="Arial"/>
                <a:cs typeface="Arial"/>
                <a:sym typeface="Arial"/>
              </a:defRPr>
            </a:lvl7pPr>
            <a:lvl8pPr lvl="7" marR="0" algn="ctr">
              <a:spcBef>
                <a:spcPts val="0"/>
              </a:spcBef>
              <a:spcAft>
                <a:spcPts val="0"/>
              </a:spcAft>
              <a:buSzPts val="2800"/>
              <a:buNone/>
              <a:defRPr b="0" i="0" sz="4400" u="none" cap="none" strike="noStrike">
                <a:solidFill>
                  <a:schemeClr val="dk1"/>
                </a:solidFill>
                <a:latin typeface="Arial"/>
                <a:ea typeface="Arial"/>
                <a:cs typeface="Arial"/>
                <a:sym typeface="Arial"/>
              </a:defRPr>
            </a:lvl8pPr>
            <a:lvl9pPr lvl="8" marR="0" algn="ctr">
              <a:spcBef>
                <a:spcPts val="0"/>
              </a:spcBef>
              <a:spcAft>
                <a:spcPts val="0"/>
              </a:spcAft>
              <a:buSzPts val="2800"/>
              <a:buNone/>
              <a:defRPr b="0" i="0" sz="4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Slide">
  <p:cSld name="Copy Slide - 1">
    <p:spTree>
      <p:nvGrpSpPr>
        <p:cNvPr id="56" name="Shape 56"/>
        <p:cNvGrpSpPr/>
        <p:nvPr/>
      </p:nvGrpSpPr>
      <p:grpSpPr>
        <a:xfrm>
          <a:off x="0" y="0"/>
          <a:ext cx="0" cy="0"/>
          <a:chOff x="0" y="0"/>
          <a:chExt cx="0" cy="0"/>
        </a:xfrm>
      </p:grpSpPr>
      <p:pic>
        <p:nvPicPr>
          <p:cNvPr descr="s4b282c2015.png" id="57" name="Google Shape;57;p14"/>
          <p:cNvPicPr preferRelativeResize="0"/>
          <p:nvPr/>
        </p:nvPicPr>
        <p:blipFill rotWithShape="1">
          <a:blip r:embed="rId2">
            <a:alphaModFix/>
          </a:blip>
          <a:srcRect b="0" l="0" r="0" t="0"/>
          <a:stretch/>
        </p:blipFill>
        <p:spPr>
          <a:xfrm>
            <a:off x="8513763" y="1439863"/>
            <a:ext cx="363537" cy="493712"/>
          </a:xfrm>
          <a:prstGeom prst="rect">
            <a:avLst/>
          </a:prstGeom>
          <a:noFill/>
          <a:ln>
            <a:noFill/>
          </a:ln>
        </p:spPr>
      </p:pic>
      <p:sp>
        <p:nvSpPr>
          <p:cNvPr id="58" name="Google Shape;58;p14"/>
          <p:cNvSpPr txBox="1"/>
          <p:nvPr/>
        </p:nvSpPr>
        <p:spPr>
          <a:xfrm flipH="1">
            <a:off x="8588375" y="4732338"/>
            <a:ext cx="304800" cy="192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dk1"/>
              </a:buClr>
              <a:buSzPts val="900"/>
              <a:buFont typeface="Arial"/>
              <a:buNone/>
            </a:pPr>
            <a:fld id="{00000000-1234-1234-1234-123412341234}" type="slidenum">
              <a:rPr b="0" i="0" lang="en" sz="900" u="none" cap="none" strike="noStrike">
                <a:solidFill>
                  <a:schemeClr val="dk1"/>
                </a:solidFill>
                <a:latin typeface="Arial"/>
                <a:ea typeface="Arial"/>
                <a:cs typeface="Arial"/>
                <a:sym typeface="Arial"/>
              </a:rPr>
              <a:t>‹#›</a:t>
            </a:fld>
            <a:endParaRPr b="0" i="0" sz="900" u="none" cap="none" strike="noStrike">
              <a:solidFill>
                <a:schemeClr val="dk1"/>
              </a:solidFill>
              <a:latin typeface="Arial"/>
              <a:ea typeface="Arial"/>
              <a:cs typeface="Arial"/>
              <a:sym typeface="Arial"/>
            </a:endParaRPr>
          </a:p>
        </p:txBody>
      </p:sp>
      <p:sp>
        <p:nvSpPr>
          <p:cNvPr id="59" name="Google Shape;59;p14"/>
          <p:cNvSpPr txBox="1"/>
          <p:nvPr>
            <p:ph idx="1" type="body"/>
          </p:nvPr>
        </p:nvSpPr>
        <p:spPr>
          <a:xfrm>
            <a:off x="438954" y="1131888"/>
            <a:ext cx="7661400" cy="3697200"/>
          </a:xfrm>
          <a:prstGeom prst="rect">
            <a:avLst/>
          </a:prstGeom>
          <a:noFill/>
          <a:ln>
            <a:noFill/>
          </a:ln>
        </p:spPr>
        <p:txBody>
          <a:bodyPr anchorCtr="0" anchor="t" bIns="0" lIns="0" spcFirstLastPara="1" rIns="0" wrap="square" tIns="0">
            <a:normAutofit/>
          </a:bodyPr>
          <a:lstStyle>
            <a:lvl1pPr indent="-228600" lvl="0" marL="457200" marR="0" algn="l">
              <a:lnSpc>
                <a:spcPct val="13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323850" lvl="1" marL="914400" marR="0" algn="l">
              <a:lnSpc>
                <a:spcPct val="130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2pPr>
            <a:lvl3pPr indent="-323850" lvl="2" marL="1371600" marR="0" algn="l">
              <a:lnSpc>
                <a:spcPct val="130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23850" lvl="3" marL="1828800" marR="0" algn="l">
              <a:lnSpc>
                <a:spcPct val="130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algn="l">
              <a:lnSpc>
                <a:spcPct val="130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spcBef>
                <a:spcPts val="1200"/>
              </a:spcBef>
              <a:spcAft>
                <a:spcPts val="120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60" name="Google Shape;60;p14"/>
          <p:cNvSpPr txBox="1"/>
          <p:nvPr>
            <p:ph type="title"/>
          </p:nvPr>
        </p:nvSpPr>
        <p:spPr>
          <a:xfrm>
            <a:off x="438954" y="560541"/>
            <a:ext cx="7886700" cy="451800"/>
          </a:xfrm>
          <a:prstGeom prst="rect">
            <a:avLst/>
          </a:prstGeom>
          <a:noFill/>
          <a:ln>
            <a:noFill/>
          </a:ln>
        </p:spPr>
        <p:txBody>
          <a:bodyPr anchorCtr="0" anchor="t" bIns="0" lIns="0" spcFirstLastPara="1" rIns="0" wrap="square" tIns="0">
            <a:normAutofit/>
          </a:bodyPr>
          <a:lstStyle>
            <a:lvl1pPr lvl="0" marR="0" algn="l">
              <a:spcBef>
                <a:spcPts val="0"/>
              </a:spcBef>
              <a:spcAft>
                <a:spcPts val="0"/>
              </a:spcAft>
              <a:buSzPts val="2800"/>
              <a:buNone/>
              <a:defRPr b="1" i="0" sz="2100" u="none" cap="none" strike="noStrike">
                <a:solidFill>
                  <a:srgbClr val="1F8FFF"/>
                </a:solidFill>
                <a:latin typeface="Arial"/>
                <a:ea typeface="Arial"/>
                <a:cs typeface="Arial"/>
                <a:sym typeface="Arial"/>
              </a:defRPr>
            </a:lvl1pPr>
            <a:lvl2pPr lvl="1" marR="0" algn="ctr">
              <a:spcBef>
                <a:spcPts val="0"/>
              </a:spcBef>
              <a:spcAft>
                <a:spcPts val="0"/>
              </a:spcAft>
              <a:buSzPts val="2800"/>
              <a:buNone/>
              <a:defRPr b="0" i="0" sz="4400" u="none" cap="none" strike="noStrike">
                <a:solidFill>
                  <a:schemeClr val="dk1"/>
                </a:solidFill>
                <a:latin typeface="Arial"/>
                <a:ea typeface="Arial"/>
                <a:cs typeface="Arial"/>
                <a:sym typeface="Arial"/>
              </a:defRPr>
            </a:lvl2pPr>
            <a:lvl3pPr lvl="2" marR="0" algn="ctr">
              <a:spcBef>
                <a:spcPts val="0"/>
              </a:spcBef>
              <a:spcAft>
                <a:spcPts val="0"/>
              </a:spcAft>
              <a:buSzPts val="2800"/>
              <a:buNone/>
              <a:defRPr b="0" i="0" sz="4400" u="none" cap="none" strike="noStrike">
                <a:solidFill>
                  <a:schemeClr val="dk1"/>
                </a:solidFill>
                <a:latin typeface="Arial"/>
                <a:ea typeface="Arial"/>
                <a:cs typeface="Arial"/>
                <a:sym typeface="Arial"/>
              </a:defRPr>
            </a:lvl3pPr>
            <a:lvl4pPr lvl="3" marR="0" algn="ctr">
              <a:spcBef>
                <a:spcPts val="0"/>
              </a:spcBef>
              <a:spcAft>
                <a:spcPts val="0"/>
              </a:spcAft>
              <a:buSzPts val="2800"/>
              <a:buNone/>
              <a:defRPr b="0" i="0" sz="4400" u="none" cap="none" strike="noStrike">
                <a:solidFill>
                  <a:schemeClr val="dk1"/>
                </a:solidFill>
                <a:latin typeface="Arial"/>
                <a:ea typeface="Arial"/>
                <a:cs typeface="Arial"/>
                <a:sym typeface="Arial"/>
              </a:defRPr>
            </a:lvl4pPr>
            <a:lvl5pPr lvl="4" marR="0" algn="ctr">
              <a:spcBef>
                <a:spcPts val="0"/>
              </a:spcBef>
              <a:spcAft>
                <a:spcPts val="0"/>
              </a:spcAft>
              <a:buSzPts val="2800"/>
              <a:buNone/>
              <a:defRPr b="0" i="0" sz="4400" u="none" cap="none" strike="noStrike">
                <a:solidFill>
                  <a:schemeClr val="dk1"/>
                </a:solidFill>
                <a:latin typeface="Arial"/>
                <a:ea typeface="Arial"/>
                <a:cs typeface="Arial"/>
                <a:sym typeface="Arial"/>
              </a:defRPr>
            </a:lvl5pPr>
            <a:lvl6pPr lvl="5" marR="0" algn="ctr">
              <a:spcBef>
                <a:spcPts val="0"/>
              </a:spcBef>
              <a:spcAft>
                <a:spcPts val="0"/>
              </a:spcAft>
              <a:buSzPts val="2800"/>
              <a:buNone/>
              <a:defRPr b="0" i="0" sz="4400" u="none" cap="none" strike="noStrike">
                <a:solidFill>
                  <a:schemeClr val="dk1"/>
                </a:solidFill>
                <a:latin typeface="Arial"/>
                <a:ea typeface="Arial"/>
                <a:cs typeface="Arial"/>
                <a:sym typeface="Arial"/>
              </a:defRPr>
            </a:lvl6pPr>
            <a:lvl7pPr lvl="6" marR="0" algn="ctr">
              <a:spcBef>
                <a:spcPts val="0"/>
              </a:spcBef>
              <a:spcAft>
                <a:spcPts val="0"/>
              </a:spcAft>
              <a:buSzPts val="2800"/>
              <a:buNone/>
              <a:defRPr b="0" i="0" sz="4400" u="none" cap="none" strike="noStrike">
                <a:solidFill>
                  <a:schemeClr val="dk1"/>
                </a:solidFill>
                <a:latin typeface="Arial"/>
                <a:ea typeface="Arial"/>
                <a:cs typeface="Arial"/>
                <a:sym typeface="Arial"/>
              </a:defRPr>
            </a:lvl7pPr>
            <a:lvl8pPr lvl="7" marR="0" algn="ctr">
              <a:spcBef>
                <a:spcPts val="0"/>
              </a:spcBef>
              <a:spcAft>
                <a:spcPts val="0"/>
              </a:spcAft>
              <a:buSzPts val="2800"/>
              <a:buNone/>
              <a:defRPr b="0" i="0" sz="4400" u="none" cap="none" strike="noStrike">
                <a:solidFill>
                  <a:schemeClr val="dk1"/>
                </a:solidFill>
                <a:latin typeface="Arial"/>
                <a:ea typeface="Arial"/>
                <a:cs typeface="Arial"/>
                <a:sym typeface="Arial"/>
              </a:defRPr>
            </a:lvl8pPr>
            <a:lvl9pPr lvl="8" marR="0" algn="ctr">
              <a:spcBef>
                <a:spcPts val="0"/>
              </a:spcBef>
              <a:spcAft>
                <a:spcPts val="0"/>
              </a:spcAft>
              <a:buSzPts val="2800"/>
              <a:buNone/>
              <a:defRPr b="0" i="0" sz="4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
    <p:spTree>
      <p:nvGrpSpPr>
        <p:cNvPr id="61" name="Shape 61"/>
        <p:cNvGrpSpPr/>
        <p:nvPr/>
      </p:nvGrpSpPr>
      <p:grpSpPr>
        <a:xfrm>
          <a:off x="0" y="0"/>
          <a:ext cx="0" cy="0"/>
          <a:chOff x="0" y="0"/>
          <a:chExt cx="0" cy="0"/>
        </a:xfrm>
      </p:grpSpPr>
      <p:pic>
        <p:nvPicPr>
          <p:cNvPr descr="s4b282c2015.png" id="62" name="Google Shape;62;p15"/>
          <p:cNvPicPr preferRelativeResize="0"/>
          <p:nvPr/>
        </p:nvPicPr>
        <p:blipFill rotWithShape="1">
          <a:blip r:embed="rId2">
            <a:alphaModFix/>
          </a:blip>
          <a:srcRect b="0" l="0" r="0" t="0"/>
          <a:stretch/>
        </p:blipFill>
        <p:spPr>
          <a:xfrm>
            <a:off x="8513763" y="1439863"/>
            <a:ext cx="363537" cy="493712"/>
          </a:xfrm>
          <a:prstGeom prst="rect">
            <a:avLst/>
          </a:prstGeom>
          <a:noFill/>
          <a:ln>
            <a:noFill/>
          </a:ln>
        </p:spPr>
      </p:pic>
      <p:sp>
        <p:nvSpPr>
          <p:cNvPr id="63" name="Google Shape;63;p15"/>
          <p:cNvSpPr txBox="1"/>
          <p:nvPr>
            <p:ph type="title"/>
          </p:nvPr>
        </p:nvSpPr>
        <p:spPr>
          <a:xfrm>
            <a:off x="1910787" y="1784708"/>
            <a:ext cx="5438700" cy="1574100"/>
          </a:xfrm>
          <a:prstGeom prst="rect">
            <a:avLst/>
          </a:prstGeom>
          <a:noFill/>
          <a:ln>
            <a:noFill/>
          </a:ln>
        </p:spPr>
        <p:txBody>
          <a:bodyPr anchorCtr="0" anchor="ctr" bIns="0" lIns="0" spcFirstLastPara="1" rIns="0" wrap="square" tIns="0">
            <a:normAutofit/>
          </a:bodyPr>
          <a:lstStyle>
            <a:lvl1pPr lvl="0" marR="0" algn="ctr">
              <a:lnSpc>
                <a:spcPct val="111764"/>
              </a:lnSpc>
              <a:spcBef>
                <a:spcPts val="0"/>
              </a:spcBef>
              <a:spcAft>
                <a:spcPts val="0"/>
              </a:spcAft>
              <a:buClr>
                <a:srgbClr val="1F8FFF"/>
              </a:buClr>
              <a:buSzPts val="2800"/>
              <a:buNone/>
              <a:defRPr b="1" i="0" sz="3400" u="none" cap="none" strike="noStrike">
                <a:solidFill>
                  <a:srgbClr val="1F8FFF"/>
                </a:solidFill>
                <a:latin typeface="Arial"/>
                <a:ea typeface="Arial"/>
                <a:cs typeface="Arial"/>
                <a:sym typeface="Arial"/>
              </a:defRPr>
            </a:lvl1pPr>
            <a:lvl2pPr lvl="1" marR="0" algn="ctr">
              <a:spcBef>
                <a:spcPts val="0"/>
              </a:spcBef>
              <a:spcAft>
                <a:spcPts val="0"/>
              </a:spcAft>
              <a:buClr>
                <a:srgbClr val="1F8FFF"/>
              </a:buClr>
              <a:buSzPts val="2800"/>
              <a:buNone/>
              <a:defRPr b="0" i="0" sz="4400" u="none" cap="none" strike="noStrike">
                <a:solidFill>
                  <a:srgbClr val="1F8FFF"/>
                </a:solidFill>
                <a:latin typeface="Arial"/>
                <a:ea typeface="Arial"/>
                <a:cs typeface="Arial"/>
                <a:sym typeface="Arial"/>
              </a:defRPr>
            </a:lvl2pPr>
            <a:lvl3pPr lvl="2" marR="0" algn="ctr">
              <a:spcBef>
                <a:spcPts val="0"/>
              </a:spcBef>
              <a:spcAft>
                <a:spcPts val="0"/>
              </a:spcAft>
              <a:buClr>
                <a:srgbClr val="1F8FFF"/>
              </a:buClr>
              <a:buSzPts val="2800"/>
              <a:buNone/>
              <a:defRPr b="0" i="0" sz="4400" u="none" cap="none" strike="noStrike">
                <a:solidFill>
                  <a:srgbClr val="1F8FFF"/>
                </a:solidFill>
                <a:latin typeface="Arial"/>
                <a:ea typeface="Arial"/>
                <a:cs typeface="Arial"/>
                <a:sym typeface="Arial"/>
              </a:defRPr>
            </a:lvl3pPr>
            <a:lvl4pPr lvl="3" marR="0" algn="ctr">
              <a:spcBef>
                <a:spcPts val="0"/>
              </a:spcBef>
              <a:spcAft>
                <a:spcPts val="0"/>
              </a:spcAft>
              <a:buClr>
                <a:srgbClr val="1F8FFF"/>
              </a:buClr>
              <a:buSzPts val="2800"/>
              <a:buNone/>
              <a:defRPr b="0" i="0" sz="4400" u="none" cap="none" strike="noStrike">
                <a:solidFill>
                  <a:srgbClr val="1F8FFF"/>
                </a:solidFill>
                <a:latin typeface="Arial"/>
                <a:ea typeface="Arial"/>
                <a:cs typeface="Arial"/>
                <a:sym typeface="Arial"/>
              </a:defRPr>
            </a:lvl4pPr>
            <a:lvl5pPr lvl="4" marR="0" algn="ctr">
              <a:spcBef>
                <a:spcPts val="0"/>
              </a:spcBef>
              <a:spcAft>
                <a:spcPts val="0"/>
              </a:spcAft>
              <a:buClr>
                <a:srgbClr val="1F8FFF"/>
              </a:buClr>
              <a:buSzPts val="2800"/>
              <a:buNone/>
              <a:defRPr b="0" i="0" sz="4400" u="none" cap="none" strike="noStrike">
                <a:solidFill>
                  <a:srgbClr val="1F8FFF"/>
                </a:solidFill>
                <a:latin typeface="Arial"/>
                <a:ea typeface="Arial"/>
                <a:cs typeface="Arial"/>
                <a:sym typeface="Arial"/>
              </a:defRPr>
            </a:lvl5pPr>
            <a:lvl6pPr lvl="5" marR="0" algn="ctr">
              <a:spcBef>
                <a:spcPts val="0"/>
              </a:spcBef>
              <a:spcAft>
                <a:spcPts val="0"/>
              </a:spcAft>
              <a:buClr>
                <a:srgbClr val="1F8FFF"/>
              </a:buClr>
              <a:buSzPts val="2800"/>
              <a:buNone/>
              <a:defRPr b="0" i="0" sz="4400" u="none" cap="none" strike="noStrike">
                <a:solidFill>
                  <a:srgbClr val="1F8FFF"/>
                </a:solidFill>
                <a:latin typeface="Arial"/>
                <a:ea typeface="Arial"/>
                <a:cs typeface="Arial"/>
                <a:sym typeface="Arial"/>
              </a:defRPr>
            </a:lvl6pPr>
            <a:lvl7pPr lvl="6" marR="0" algn="ctr">
              <a:spcBef>
                <a:spcPts val="0"/>
              </a:spcBef>
              <a:spcAft>
                <a:spcPts val="0"/>
              </a:spcAft>
              <a:buClr>
                <a:srgbClr val="1F8FFF"/>
              </a:buClr>
              <a:buSzPts val="2800"/>
              <a:buNone/>
              <a:defRPr b="0" i="0" sz="4400" u="none" cap="none" strike="noStrike">
                <a:solidFill>
                  <a:srgbClr val="1F8FFF"/>
                </a:solidFill>
                <a:latin typeface="Arial"/>
                <a:ea typeface="Arial"/>
                <a:cs typeface="Arial"/>
                <a:sym typeface="Arial"/>
              </a:defRPr>
            </a:lvl7pPr>
            <a:lvl8pPr lvl="7" marR="0" algn="ctr">
              <a:spcBef>
                <a:spcPts val="0"/>
              </a:spcBef>
              <a:spcAft>
                <a:spcPts val="0"/>
              </a:spcAft>
              <a:buClr>
                <a:srgbClr val="1F8FFF"/>
              </a:buClr>
              <a:buSzPts val="2800"/>
              <a:buNone/>
              <a:defRPr b="0" i="0" sz="4400" u="none" cap="none" strike="noStrike">
                <a:solidFill>
                  <a:srgbClr val="1F8FFF"/>
                </a:solidFill>
                <a:latin typeface="Arial"/>
                <a:ea typeface="Arial"/>
                <a:cs typeface="Arial"/>
                <a:sym typeface="Arial"/>
              </a:defRPr>
            </a:lvl8pPr>
            <a:lvl9pPr lvl="8" marR="0" algn="ctr">
              <a:spcBef>
                <a:spcPts val="0"/>
              </a:spcBef>
              <a:spcAft>
                <a:spcPts val="0"/>
              </a:spcAft>
              <a:buClr>
                <a:srgbClr val="1F8FFF"/>
              </a:buClr>
              <a:buSzPts val="2800"/>
              <a:buNone/>
              <a:defRPr b="0" i="0" sz="4400" u="none" cap="none" strike="noStrike">
                <a:solidFill>
                  <a:srgbClr val="1F8FFF"/>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hyperlink" Target="https://www.diffchecker.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6"/>
          <p:cNvSpPr txBox="1"/>
          <p:nvPr>
            <p:ph type="title"/>
          </p:nvPr>
        </p:nvSpPr>
        <p:spPr>
          <a:xfrm>
            <a:off x="365587" y="1141558"/>
            <a:ext cx="5438700" cy="15741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Tutorial 7</a:t>
            </a:r>
            <a:endParaRPr/>
          </a:p>
        </p:txBody>
      </p:sp>
      <p:sp>
        <p:nvSpPr>
          <p:cNvPr id="69" name="Google Shape;69;p16"/>
          <p:cNvSpPr txBox="1"/>
          <p:nvPr>
            <p:ph idx="1" type="body"/>
          </p:nvPr>
        </p:nvSpPr>
        <p:spPr>
          <a:xfrm>
            <a:off x="365762" y="3003798"/>
            <a:ext cx="5430300" cy="321300"/>
          </a:xfrm>
          <a:prstGeom prst="rect">
            <a:avLst/>
          </a:prstGeom>
        </p:spPr>
        <p:txBody>
          <a:bodyPr anchorCtr="0" anchor="t" bIns="0" lIns="0" spcFirstLastPara="1" rIns="0" wrap="square" tIns="0">
            <a:normAutofit/>
          </a:bodyPr>
          <a:lstStyle/>
          <a:p>
            <a:pPr indent="0" lvl="0" marL="0" rtl="0" algn="l">
              <a:spcBef>
                <a:spcPts val="360"/>
              </a:spcBef>
              <a:spcAft>
                <a:spcPts val="0"/>
              </a:spcAft>
              <a:buNone/>
            </a:pPr>
            <a:r>
              <a:rPr lang="en"/>
              <a:t>Debugging with GDB</a:t>
            </a:r>
            <a:endParaRPr/>
          </a:p>
        </p:txBody>
      </p:sp>
      <p:sp>
        <p:nvSpPr>
          <p:cNvPr id="70" name="Google Shape;70;p16"/>
          <p:cNvSpPr txBox="1"/>
          <p:nvPr>
            <p:ph idx="2" type="body"/>
          </p:nvPr>
        </p:nvSpPr>
        <p:spPr>
          <a:xfrm>
            <a:off x="365762" y="3507855"/>
            <a:ext cx="5430300" cy="321300"/>
          </a:xfrm>
          <a:prstGeom prst="rect">
            <a:avLst/>
          </a:prstGeom>
        </p:spPr>
        <p:txBody>
          <a:bodyPr anchorCtr="0" anchor="t" bIns="0" lIns="0" spcFirstLastPara="1" rIns="0" wrap="square" tIns="0">
            <a:normAutofit/>
          </a:bodyPr>
          <a:lstStyle/>
          <a:p>
            <a:pPr indent="0" lvl="0" marL="0" rtl="0" algn="l">
              <a:spcBef>
                <a:spcPts val="200"/>
              </a:spcBef>
              <a:spcAft>
                <a:spcPts val="0"/>
              </a:spcAft>
              <a:buNone/>
            </a:pPr>
            <a:r>
              <a:rPr lang="en"/>
              <a:t>Slides by Sage Drake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ph type="title"/>
          </p:nvPr>
        </p:nvSpPr>
        <p:spPr>
          <a:xfrm>
            <a:off x="438954" y="560541"/>
            <a:ext cx="7886700" cy="451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Tutorial Agenda</a:t>
            </a:r>
            <a:endParaRPr/>
          </a:p>
        </p:txBody>
      </p:sp>
      <p:sp>
        <p:nvSpPr>
          <p:cNvPr id="76" name="Google Shape;76;p17"/>
          <p:cNvSpPr txBox="1"/>
          <p:nvPr>
            <p:ph idx="1" type="body"/>
          </p:nvPr>
        </p:nvSpPr>
        <p:spPr>
          <a:xfrm>
            <a:off x="438954" y="1131888"/>
            <a:ext cx="7661400" cy="3697200"/>
          </a:xfrm>
          <a:prstGeom prst="rect">
            <a:avLst/>
          </a:prstGeom>
        </p:spPr>
        <p:txBody>
          <a:bodyPr anchorCtr="0" anchor="t" bIns="0" lIns="0" spcFirstLastPara="1" rIns="0" wrap="square" tIns="0">
            <a:normAutofit/>
          </a:bodyPr>
          <a:lstStyle/>
          <a:p>
            <a:pPr indent="-323850" lvl="0" marL="457200" rtl="0" algn="l">
              <a:spcBef>
                <a:spcPts val="0"/>
              </a:spcBef>
              <a:spcAft>
                <a:spcPts val="0"/>
              </a:spcAft>
              <a:buSzPts val="1500"/>
              <a:buAutoNum type="arabicPeriod"/>
            </a:pPr>
            <a:r>
              <a:rPr lang="en"/>
              <a:t>Discuss how to write and run</a:t>
            </a:r>
            <a:r>
              <a:rPr lang="en"/>
              <a:t> automated tests for PA3</a:t>
            </a:r>
            <a:endParaRPr/>
          </a:p>
          <a:p>
            <a:pPr indent="-323850" lvl="0" marL="457200" rtl="0" algn="l">
              <a:spcBef>
                <a:spcPts val="0"/>
              </a:spcBef>
              <a:spcAft>
                <a:spcPts val="0"/>
              </a:spcAft>
              <a:buSzPts val="1500"/>
              <a:buAutoNum type="arabicPeriod"/>
            </a:pPr>
            <a:r>
              <a:rPr lang="en"/>
              <a:t>Re-introduce GDB</a:t>
            </a:r>
            <a:endParaRPr/>
          </a:p>
          <a:p>
            <a:pPr indent="-323850" lvl="0" marL="457200" rtl="0" algn="l">
              <a:spcBef>
                <a:spcPts val="0"/>
              </a:spcBef>
              <a:spcAft>
                <a:spcPts val="0"/>
              </a:spcAft>
              <a:buSzPts val="1500"/>
              <a:buAutoNum type="arabicPeriod"/>
            </a:pPr>
            <a:r>
              <a:rPr lang="en"/>
              <a:t>Discuss how to to use GDB with the PA3 tests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8"/>
          <p:cNvSpPr txBox="1"/>
          <p:nvPr>
            <p:ph type="title"/>
          </p:nvPr>
        </p:nvSpPr>
        <p:spPr>
          <a:xfrm>
            <a:off x="1910787" y="1784708"/>
            <a:ext cx="5438700" cy="15741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sz="3000"/>
              <a:t>Writing Server Tests</a:t>
            </a:r>
            <a:endParaRPr sz="3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9"/>
          <p:cNvSpPr txBox="1"/>
          <p:nvPr>
            <p:ph type="title"/>
          </p:nvPr>
        </p:nvSpPr>
        <p:spPr>
          <a:xfrm>
            <a:off x="438954" y="560541"/>
            <a:ext cx="7886700" cy="451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Files provided to you for testing</a:t>
            </a:r>
            <a:endParaRPr/>
          </a:p>
        </p:txBody>
      </p:sp>
      <p:pic>
        <p:nvPicPr>
          <p:cNvPr id="87" name="Google Shape;87;p19"/>
          <p:cNvPicPr preferRelativeResize="0"/>
          <p:nvPr/>
        </p:nvPicPr>
        <p:blipFill>
          <a:blip r:embed="rId3">
            <a:alphaModFix/>
          </a:blip>
          <a:stretch>
            <a:fillRect/>
          </a:stretch>
        </p:blipFill>
        <p:spPr>
          <a:xfrm>
            <a:off x="476750" y="1090775"/>
            <a:ext cx="1282616" cy="2961950"/>
          </a:xfrm>
          <a:prstGeom prst="rect">
            <a:avLst/>
          </a:prstGeom>
          <a:noFill/>
          <a:ln>
            <a:noFill/>
          </a:ln>
        </p:spPr>
      </p:pic>
      <p:pic>
        <p:nvPicPr>
          <p:cNvPr id="88" name="Google Shape;88;p19"/>
          <p:cNvPicPr preferRelativeResize="0"/>
          <p:nvPr/>
        </p:nvPicPr>
        <p:blipFill>
          <a:blip r:embed="rId4">
            <a:alphaModFix/>
          </a:blip>
          <a:stretch>
            <a:fillRect/>
          </a:stretch>
        </p:blipFill>
        <p:spPr>
          <a:xfrm>
            <a:off x="2487800" y="1090766"/>
            <a:ext cx="1328225" cy="2961958"/>
          </a:xfrm>
          <a:prstGeom prst="rect">
            <a:avLst/>
          </a:prstGeom>
          <a:noFill/>
          <a:ln>
            <a:noFill/>
          </a:ln>
        </p:spPr>
      </p:pic>
      <p:pic>
        <p:nvPicPr>
          <p:cNvPr id="89" name="Google Shape;89;p19"/>
          <p:cNvPicPr preferRelativeResize="0"/>
          <p:nvPr/>
        </p:nvPicPr>
        <p:blipFill>
          <a:blip r:embed="rId5">
            <a:alphaModFix/>
          </a:blip>
          <a:stretch>
            <a:fillRect/>
          </a:stretch>
        </p:blipFill>
        <p:spPr>
          <a:xfrm>
            <a:off x="1292175" y="4400875"/>
            <a:ext cx="1662800" cy="464875"/>
          </a:xfrm>
          <a:prstGeom prst="rect">
            <a:avLst/>
          </a:prstGeom>
          <a:noFill/>
          <a:ln>
            <a:noFill/>
          </a:ln>
        </p:spPr>
      </p:pic>
      <p:sp>
        <p:nvSpPr>
          <p:cNvPr id="90" name="Google Shape;90;p19"/>
          <p:cNvSpPr txBox="1"/>
          <p:nvPr/>
        </p:nvSpPr>
        <p:spPr>
          <a:xfrm>
            <a:off x="4938550" y="2095630"/>
            <a:ext cx="30657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Inputs + </a:t>
            </a:r>
            <a:r>
              <a:rPr lang="en" sz="1800">
                <a:solidFill>
                  <a:schemeClr val="dk2"/>
                </a:solidFill>
              </a:rPr>
              <a:t>corresponding</a:t>
            </a:r>
            <a:r>
              <a:rPr lang="en" sz="1800">
                <a:solidFill>
                  <a:schemeClr val="dk2"/>
                </a:solidFill>
              </a:rPr>
              <a:t> expected outputs for 8 test cases</a:t>
            </a:r>
            <a:endParaRPr sz="1800">
              <a:solidFill>
                <a:schemeClr val="dk2"/>
              </a:solidFill>
            </a:endParaRPr>
          </a:p>
        </p:txBody>
      </p:sp>
      <p:sp>
        <p:nvSpPr>
          <p:cNvPr id="91" name="Google Shape;91;p19"/>
          <p:cNvSpPr txBox="1"/>
          <p:nvPr/>
        </p:nvSpPr>
        <p:spPr>
          <a:xfrm>
            <a:off x="1908925" y="2285400"/>
            <a:ext cx="429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700">
                <a:solidFill>
                  <a:schemeClr val="dk2"/>
                </a:solidFill>
              </a:rPr>
              <a:t>+</a:t>
            </a:r>
            <a:endParaRPr sz="2900">
              <a:solidFill>
                <a:schemeClr val="dk2"/>
              </a:solidFill>
            </a:endParaRPr>
          </a:p>
        </p:txBody>
      </p:sp>
      <p:sp>
        <p:nvSpPr>
          <p:cNvPr id="92" name="Google Shape;92;p19"/>
          <p:cNvSpPr/>
          <p:nvPr/>
        </p:nvSpPr>
        <p:spPr>
          <a:xfrm>
            <a:off x="4168759" y="1059883"/>
            <a:ext cx="566100" cy="3087300"/>
          </a:xfrm>
          <a:prstGeom prst="rightBrace">
            <a:avLst>
              <a:gd fmla="val 50000" name="adj1"/>
              <a:gd fmla="val 50000" name="adj2"/>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9"/>
          <p:cNvSpPr/>
          <p:nvPr/>
        </p:nvSpPr>
        <p:spPr>
          <a:xfrm>
            <a:off x="4166691" y="4292974"/>
            <a:ext cx="566100" cy="572700"/>
          </a:xfrm>
          <a:prstGeom prst="rightBrace">
            <a:avLst>
              <a:gd fmla="val 50000" name="adj1"/>
              <a:gd fmla="val 50000" name="adj2"/>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9"/>
          <p:cNvSpPr txBox="1"/>
          <p:nvPr/>
        </p:nvSpPr>
        <p:spPr>
          <a:xfrm>
            <a:off x="5044625" y="4189330"/>
            <a:ext cx="3065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Bash script that runs the test cases</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438954" y="560541"/>
            <a:ext cx="7886700" cy="451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Functionality of test.sh</a:t>
            </a:r>
            <a:endParaRPr/>
          </a:p>
        </p:txBody>
      </p:sp>
      <p:sp>
        <p:nvSpPr>
          <p:cNvPr id="100" name="Google Shape;100;p20"/>
          <p:cNvSpPr/>
          <p:nvPr/>
        </p:nvSpPr>
        <p:spPr>
          <a:xfrm>
            <a:off x="6259425" y="2401625"/>
            <a:ext cx="1644000" cy="645900"/>
          </a:xfrm>
          <a:prstGeom prst="roundRect">
            <a:avLst>
              <a:gd fmla="val 16667" name="adj"/>
            </a:avLst>
          </a:prstGeom>
          <a:solidFill>
            <a:srgbClr val="B6D7A8"/>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t>m</a:t>
            </a:r>
            <a:r>
              <a:rPr b="1" lang="en" sz="1700"/>
              <a:t>ypopd</a:t>
            </a:r>
            <a:endParaRPr b="1" sz="1700"/>
          </a:p>
        </p:txBody>
      </p:sp>
      <p:sp>
        <p:nvSpPr>
          <p:cNvPr id="101" name="Google Shape;101;p20"/>
          <p:cNvSpPr txBox="1"/>
          <p:nvPr/>
        </p:nvSpPr>
        <p:spPr>
          <a:xfrm rot="-472">
            <a:off x="5470875" y="808401"/>
            <a:ext cx="2185800" cy="9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Send input file contents to the server</a:t>
            </a:r>
            <a:endParaRPr sz="1800">
              <a:solidFill>
                <a:schemeClr val="dk2"/>
              </a:solidFill>
            </a:endParaRPr>
          </a:p>
        </p:txBody>
      </p:sp>
      <p:sp>
        <p:nvSpPr>
          <p:cNvPr id="102" name="Google Shape;102;p20"/>
          <p:cNvSpPr txBox="1"/>
          <p:nvPr/>
        </p:nvSpPr>
        <p:spPr>
          <a:xfrm rot="559">
            <a:off x="6906104" y="3557725"/>
            <a:ext cx="1845600" cy="9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Save server responses in output file</a:t>
            </a:r>
            <a:endParaRPr sz="1800">
              <a:solidFill>
                <a:schemeClr val="dk2"/>
              </a:solidFill>
            </a:endParaRPr>
          </a:p>
        </p:txBody>
      </p:sp>
      <p:sp>
        <p:nvSpPr>
          <p:cNvPr id="103" name="Google Shape;103;p20"/>
          <p:cNvSpPr/>
          <p:nvPr/>
        </p:nvSpPr>
        <p:spPr>
          <a:xfrm>
            <a:off x="293525" y="1012350"/>
            <a:ext cx="4638600" cy="1502100"/>
          </a:xfrm>
          <a:prstGeom prst="foldedCorner">
            <a:avLst>
              <a:gd fmla="val 16667" name="adj"/>
            </a:avLst>
          </a:prstGeom>
          <a:solidFill>
            <a:schemeClr val="lt2"/>
          </a:solidFill>
          <a:ln cap="flat" cmpd="sng" w="2857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700"/>
              <a:t>in.p.1</a:t>
            </a:r>
            <a:endParaRPr b="1" sz="1700"/>
          </a:p>
        </p:txBody>
      </p:sp>
      <p:pic>
        <p:nvPicPr>
          <p:cNvPr id="104" name="Google Shape;104;p20"/>
          <p:cNvPicPr preferRelativeResize="0"/>
          <p:nvPr/>
        </p:nvPicPr>
        <p:blipFill>
          <a:blip r:embed="rId3">
            <a:alphaModFix/>
          </a:blip>
          <a:stretch>
            <a:fillRect/>
          </a:stretch>
        </p:blipFill>
        <p:spPr>
          <a:xfrm>
            <a:off x="1609725" y="1211811"/>
            <a:ext cx="2962275" cy="1190625"/>
          </a:xfrm>
          <a:prstGeom prst="rect">
            <a:avLst/>
          </a:prstGeom>
          <a:noFill/>
          <a:ln>
            <a:noFill/>
          </a:ln>
        </p:spPr>
      </p:pic>
      <p:sp>
        <p:nvSpPr>
          <p:cNvPr id="105" name="Google Shape;105;p20"/>
          <p:cNvSpPr/>
          <p:nvPr/>
        </p:nvSpPr>
        <p:spPr>
          <a:xfrm>
            <a:off x="293513" y="2740100"/>
            <a:ext cx="5755200" cy="2222400"/>
          </a:xfrm>
          <a:prstGeom prst="foldedCorner">
            <a:avLst>
              <a:gd fmla="val 16667" name="adj"/>
            </a:avLst>
          </a:prstGeom>
          <a:solidFill>
            <a:schemeClr val="lt2"/>
          </a:solidFill>
          <a:ln cap="flat" cmpd="sng" w="2857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700"/>
              <a:t>out.p.1</a:t>
            </a:r>
            <a:endParaRPr b="1" sz="1700"/>
          </a:p>
        </p:txBody>
      </p:sp>
      <p:cxnSp>
        <p:nvCxnSpPr>
          <p:cNvPr id="106" name="Google Shape;106;p20"/>
          <p:cNvCxnSpPr>
            <a:stCxn id="103" idx="3"/>
            <a:endCxn id="100" idx="0"/>
          </p:cNvCxnSpPr>
          <p:nvPr/>
        </p:nvCxnSpPr>
        <p:spPr>
          <a:xfrm>
            <a:off x="4932125" y="1763400"/>
            <a:ext cx="2149200" cy="638100"/>
          </a:xfrm>
          <a:prstGeom prst="curvedConnector2">
            <a:avLst/>
          </a:prstGeom>
          <a:noFill/>
          <a:ln cap="flat" cmpd="sng" w="38100">
            <a:solidFill>
              <a:schemeClr val="dk2"/>
            </a:solidFill>
            <a:prstDash val="solid"/>
            <a:round/>
            <a:headEnd len="med" w="med" type="none"/>
            <a:tailEnd len="med" w="med" type="triangle"/>
          </a:ln>
        </p:spPr>
      </p:cxnSp>
      <p:cxnSp>
        <p:nvCxnSpPr>
          <p:cNvPr id="107" name="Google Shape;107;p20"/>
          <p:cNvCxnSpPr>
            <a:stCxn id="100" idx="2"/>
            <a:endCxn id="105" idx="3"/>
          </p:cNvCxnSpPr>
          <p:nvPr/>
        </p:nvCxnSpPr>
        <p:spPr>
          <a:xfrm rot="5400000">
            <a:off x="6163275" y="2933075"/>
            <a:ext cx="803700" cy="1032600"/>
          </a:xfrm>
          <a:prstGeom prst="curvedConnector2">
            <a:avLst/>
          </a:prstGeom>
          <a:noFill/>
          <a:ln cap="flat" cmpd="sng" w="38100">
            <a:solidFill>
              <a:schemeClr val="dk2"/>
            </a:solidFill>
            <a:prstDash val="solid"/>
            <a:round/>
            <a:headEnd len="med" w="med" type="none"/>
            <a:tailEnd len="med" w="med" type="triangle"/>
          </a:ln>
        </p:spPr>
      </p:cxnSp>
      <p:pic>
        <p:nvPicPr>
          <p:cNvPr id="108" name="Google Shape;108;p20"/>
          <p:cNvPicPr preferRelativeResize="0"/>
          <p:nvPr/>
        </p:nvPicPr>
        <p:blipFill>
          <a:blip r:embed="rId4">
            <a:alphaModFix/>
          </a:blip>
          <a:stretch>
            <a:fillRect/>
          </a:stretch>
        </p:blipFill>
        <p:spPr>
          <a:xfrm>
            <a:off x="383625" y="3408910"/>
            <a:ext cx="5574975" cy="128103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438954" y="560541"/>
            <a:ext cx="7886700" cy="451800"/>
          </a:xfrm>
          <a:prstGeom prst="rect">
            <a:avLst/>
          </a:prstGeom>
        </p:spPr>
        <p:txBody>
          <a:bodyPr anchorCtr="0" anchor="t" bIns="0" lIns="0" spcFirstLastPara="1" rIns="0" wrap="square" tIns="0">
            <a:normAutofit/>
          </a:bodyPr>
          <a:lstStyle/>
          <a:p>
            <a:pPr indent="0" lvl="0" marL="0" rtl="0" algn="l">
              <a:spcBef>
                <a:spcPts val="0"/>
              </a:spcBef>
              <a:spcAft>
                <a:spcPts val="0"/>
              </a:spcAft>
              <a:buClr>
                <a:schemeClr val="dk1"/>
              </a:buClr>
              <a:buSzPts val="1100"/>
              <a:buFont typeface="Arial"/>
              <a:buNone/>
            </a:pPr>
            <a:r>
              <a:rPr lang="en"/>
              <a:t>Functionality of test.sh</a:t>
            </a:r>
            <a:endParaRPr/>
          </a:p>
        </p:txBody>
      </p:sp>
      <p:pic>
        <p:nvPicPr>
          <p:cNvPr id="114" name="Google Shape;114;p21"/>
          <p:cNvPicPr preferRelativeResize="0"/>
          <p:nvPr/>
        </p:nvPicPr>
        <p:blipFill>
          <a:blip r:embed="rId3">
            <a:alphaModFix/>
          </a:blip>
          <a:stretch>
            <a:fillRect/>
          </a:stretch>
        </p:blipFill>
        <p:spPr>
          <a:xfrm>
            <a:off x="1944052" y="2444575"/>
            <a:ext cx="4989225" cy="2263350"/>
          </a:xfrm>
          <a:prstGeom prst="rect">
            <a:avLst/>
          </a:prstGeom>
          <a:noFill/>
          <a:ln>
            <a:noFill/>
          </a:ln>
        </p:spPr>
      </p:pic>
      <p:sp>
        <p:nvSpPr>
          <p:cNvPr id="115" name="Google Shape;115;p21"/>
          <p:cNvSpPr/>
          <p:nvPr/>
        </p:nvSpPr>
        <p:spPr>
          <a:xfrm>
            <a:off x="5913475" y="1272300"/>
            <a:ext cx="1910400" cy="917700"/>
          </a:xfrm>
          <a:prstGeom prst="foldedCorner">
            <a:avLst>
              <a:gd fmla="val 16667" name="adj"/>
            </a:avLst>
          </a:prstGeom>
          <a:solidFill>
            <a:schemeClr val="lt2"/>
          </a:solidFill>
          <a:ln cap="flat" cmpd="sng" w="2857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700"/>
              <a:t>o</a:t>
            </a:r>
            <a:r>
              <a:rPr b="1" lang="en" sz="1700"/>
              <a:t>ut.p.1</a:t>
            </a:r>
            <a:r>
              <a:rPr lang="en" sz="1700"/>
              <a:t> </a:t>
            </a:r>
            <a:endParaRPr sz="1700"/>
          </a:p>
          <a:p>
            <a:pPr indent="0" lvl="0" marL="0" rtl="0" algn="l">
              <a:spcBef>
                <a:spcPts val="0"/>
              </a:spcBef>
              <a:spcAft>
                <a:spcPts val="0"/>
              </a:spcAft>
              <a:buNone/>
            </a:pPr>
            <a:r>
              <a:rPr lang="en" sz="1700"/>
              <a:t>Contains actual server output</a:t>
            </a:r>
            <a:endParaRPr sz="1700"/>
          </a:p>
        </p:txBody>
      </p:sp>
      <p:sp>
        <p:nvSpPr>
          <p:cNvPr id="116" name="Google Shape;116;p21"/>
          <p:cNvSpPr/>
          <p:nvPr/>
        </p:nvSpPr>
        <p:spPr>
          <a:xfrm>
            <a:off x="1204225" y="1272300"/>
            <a:ext cx="2152500" cy="917700"/>
          </a:xfrm>
          <a:prstGeom prst="foldedCorner">
            <a:avLst>
              <a:gd fmla="val 16667" name="adj"/>
            </a:avLst>
          </a:prstGeom>
          <a:solidFill>
            <a:schemeClr val="lt2"/>
          </a:solidFill>
          <a:ln cap="flat" cmpd="sng" w="2857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700"/>
              <a:t>exp</a:t>
            </a:r>
            <a:r>
              <a:rPr b="1" lang="en" sz="1700"/>
              <a:t>.p.1</a:t>
            </a:r>
            <a:r>
              <a:rPr lang="en" sz="1700"/>
              <a:t> </a:t>
            </a:r>
            <a:endParaRPr sz="1700"/>
          </a:p>
          <a:p>
            <a:pPr indent="0" lvl="0" marL="0" rtl="0" algn="l">
              <a:spcBef>
                <a:spcPts val="0"/>
              </a:spcBef>
              <a:spcAft>
                <a:spcPts val="0"/>
              </a:spcAft>
              <a:buNone/>
            </a:pPr>
            <a:r>
              <a:rPr lang="en" sz="1700"/>
              <a:t>Contains expected server output</a:t>
            </a:r>
            <a:endParaRPr sz="1700"/>
          </a:p>
        </p:txBody>
      </p:sp>
      <p:cxnSp>
        <p:nvCxnSpPr>
          <p:cNvPr id="117" name="Google Shape;117;p21"/>
          <p:cNvCxnSpPr>
            <a:stCxn id="116" idx="3"/>
          </p:cNvCxnSpPr>
          <p:nvPr/>
        </p:nvCxnSpPr>
        <p:spPr>
          <a:xfrm flipH="1" rot="10800000">
            <a:off x="3356725" y="1724850"/>
            <a:ext cx="577800" cy="6300"/>
          </a:xfrm>
          <a:prstGeom prst="straightConnector1">
            <a:avLst/>
          </a:prstGeom>
          <a:noFill/>
          <a:ln cap="flat" cmpd="sng" w="38100">
            <a:solidFill>
              <a:schemeClr val="dk2"/>
            </a:solidFill>
            <a:prstDash val="solid"/>
            <a:round/>
            <a:headEnd len="med" w="med" type="none"/>
            <a:tailEnd len="med" w="med" type="triangle"/>
          </a:ln>
        </p:spPr>
      </p:cxnSp>
      <p:sp>
        <p:nvSpPr>
          <p:cNvPr id="118" name="Google Shape;118;p21"/>
          <p:cNvSpPr/>
          <p:nvPr/>
        </p:nvSpPr>
        <p:spPr>
          <a:xfrm>
            <a:off x="3970500" y="1514850"/>
            <a:ext cx="964500" cy="426900"/>
          </a:xfrm>
          <a:prstGeom prst="roundRect">
            <a:avLst>
              <a:gd fmla="val 16667" name="adj"/>
            </a:avLst>
          </a:prstGeom>
          <a:solidFill>
            <a:srgbClr val="B4A7D6"/>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t>diff</a:t>
            </a:r>
            <a:endParaRPr b="1" sz="1700"/>
          </a:p>
        </p:txBody>
      </p:sp>
      <p:cxnSp>
        <p:nvCxnSpPr>
          <p:cNvPr id="119" name="Google Shape;119;p21"/>
          <p:cNvCxnSpPr>
            <a:stCxn id="115" idx="1"/>
            <a:endCxn id="118" idx="3"/>
          </p:cNvCxnSpPr>
          <p:nvPr/>
        </p:nvCxnSpPr>
        <p:spPr>
          <a:xfrm rot="10800000">
            <a:off x="4934875" y="1728450"/>
            <a:ext cx="978600" cy="2700"/>
          </a:xfrm>
          <a:prstGeom prst="straightConnector1">
            <a:avLst/>
          </a:prstGeom>
          <a:noFill/>
          <a:ln cap="flat" cmpd="sng" w="38100">
            <a:solidFill>
              <a:schemeClr val="dk2"/>
            </a:solidFill>
            <a:prstDash val="solid"/>
            <a:round/>
            <a:headEnd len="med" w="med" type="none"/>
            <a:tailEnd len="med" w="med" type="triangle"/>
          </a:ln>
        </p:spPr>
      </p:cxnSp>
      <p:cxnSp>
        <p:nvCxnSpPr>
          <p:cNvPr id="120" name="Google Shape;120;p21"/>
          <p:cNvCxnSpPr>
            <a:stCxn id="118" idx="2"/>
            <a:endCxn id="114" idx="0"/>
          </p:cNvCxnSpPr>
          <p:nvPr/>
        </p:nvCxnSpPr>
        <p:spPr>
          <a:xfrm flipH="1">
            <a:off x="4438650" y="1941750"/>
            <a:ext cx="14100" cy="50280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438954" y="560541"/>
            <a:ext cx="7886700" cy="451800"/>
          </a:xfrm>
          <a:prstGeom prst="rect">
            <a:avLst/>
          </a:prstGeom>
        </p:spPr>
        <p:txBody>
          <a:bodyPr anchorCtr="0" anchor="t" bIns="0" lIns="0" spcFirstLastPara="1" rIns="0" wrap="square" tIns="0">
            <a:normAutofit/>
          </a:bodyPr>
          <a:lstStyle/>
          <a:p>
            <a:pPr indent="0" lvl="0" marL="0" rtl="0" algn="l">
              <a:spcBef>
                <a:spcPts val="0"/>
              </a:spcBef>
              <a:spcAft>
                <a:spcPts val="0"/>
              </a:spcAft>
              <a:buClr>
                <a:schemeClr val="dk1"/>
              </a:buClr>
              <a:buSzPts val="1100"/>
              <a:buFont typeface="Arial"/>
              <a:buNone/>
            </a:pPr>
            <a:r>
              <a:rPr lang="en"/>
              <a:t>Running test.sh</a:t>
            </a:r>
            <a:endParaRPr/>
          </a:p>
        </p:txBody>
      </p:sp>
      <p:sp>
        <p:nvSpPr>
          <p:cNvPr id="126" name="Google Shape;126;p22"/>
          <p:cNvSpPr txBox="1"/>
          <p:nvPr>
            <p:ph idx="1" type="body"/>
          </p:nvPr>
        </p:nvSpPr>
        <p:spPr>
          <a:xfrm>
            <a:off x="438954" y="1131888"/>
            <a:ext cx="7661400" cy="3697200"/>
          </a:xfrm>
          <a:prstGeom prst="rect">
            <a:avLst/>
          </a:prstGeom>
        </p:spPr>
        <p:txBody>
          <a:bodyPr anchorCtr="0" anchor="t" bIns="0" lIns="0" spcFirstLastPara="1" rIns="0" wrap="square" tIns="0">
            <a:normAutofit/>
          </a:bodyPr>
          <a:lstStyle/>
          <a:p>
            <a:pPr indent="-323850" lvl="0" marL="457200" rtl="0" algn="l">
              <a:spcBef>
                <a:spcPts val="0"/>
              </a:spcBef>
              <a:spcAft>
                <a:spcPts val="0"/>
              </a:spcAft>
              <a:buSzPts val="1500"/>
              <a:buChar char="●"/>
            </a:pPr>
            <a:r>
              <a:rPr lang="en"/>
              <a:t>To run all the test cases:         </a:t>
            </a:r>
            <a:r>
              <a:rPr lang="en">
                <a:highlight>
                  <a:schemeClr val="lt2"/>
                </a:highlight>
                <a:latin typeface="Roboto Mono Medium"/>
                <a:ea typeface="Roboto Mono Medium"/>
                <a:cs typeface="Roboto Mono Medium"/>
                <a:sym typeface="Roboto Mono Medium"/>
              </a:rPr>
              <a:t>./test.sh</a:t>
            </a:r>
            <a:r>
              <a:rPr lang="en"/>
              <a:t>  </a:t>
            </a:r>
            <a:endParaRPr/>
          </a:p>
          <a:p>
            <a:pPr indent="-323850" lvl="0" marL="457200" rtl="0" algn="l">
              <a:spcBef>
                <a:spcPts val="0"/>
              </a:spcBef>
              <a:spcAft>
                <a:spcPts val="0"/>
              </a:spcAft>
              <a:buSzPts val="1500"/>
              <a:buChar char="●"/>
            </a:pPr>
            <a:r>
              <a:rPr lang="en"/>
              <a:t>To run a particular test case:   </a:t>
            </a:r>
            <a:r>
              <a:rPr lang="en">
                <a:highlight>
                  <a:schemeClr val="lt2"/>
                </a:highlight>
                <a:latin typeface="Roboto Mono Medium"/>
                <a:ea typeface="Roboto Mono Medium"/>
                <a:cs typeface="Roboto Mono Medium"/>
                <a:sym typeface="Roboto Mono Medium"/>
              </a:rPr>
              <a:t>./test.sh &lt;test number&gt;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idx="1" type="body"/>
          </p:nvPr>
        </p:nvSpPr>
        <p:spPr>
          <a:xfrm>
            <a:off x="438954" y="1131888"/>
            <a:ext cx="7661400" cy="3697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Some test cases also include the initial </a:t>
            </a:r>
            <a:r>
              <a:rPr lang="en"/>
              <a:t>contents</a:t>
            </a:r>
            <a:r>
              <a:rPr lang="en"/>
              <a:t> of </a:t>
            </a:r>
            <a:r>
              <a:rPr lang="en">
                <a:highlight>
                  <a:schemeClr val="lt2"/>
                </a:highlight>
              </a:rPr>
              <a:t>mail.store</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a:t>
            </a:r>
            <a:r>
              <a:rPr lang="en"/>
              <a:t>s well as the expected contents of </a:t>
            </a:r>
            <a:r>
              <a:rPr lang="en">
                <a:highlight>
                  <a:schemeClr val="lt2"/>
                </a:highlight>
              </a:rPr>
              <a:t>mail.store</a:t>
            </a:r>
            <a:r>
              <a:rPr lang="en"/>
              <a:t> after running the test case:</a:t>
            </a:r>
            <a:endParaRPr/>
          </a:p>
        </p:txBody>
      </p:sp>
      <p:sp>
        <p:nvSpPr>
          <p:cNvPr id="132" name="Google Shape;132;p23"/>
          <p:cNvSpPr txBox="1"/>
          <p:nvPr>
            <p:ph type="title"/>
          </p:nvPr>
        </p:nvSpPr>
        <p:spPr>
          <a:xfrm>
            <a:off x="438954" y="560541"/>
            <a:ext cx="7886700" cy="451800"/>
          </a:xfrm>
          <a:prstGeom prst="rect">
            <a:avLst/>
          </a:prstGeom>
        </p:spPr>
        <p:txBody>
          <a:bodyPr anchorCtr="0" anchor="t" bIns="0" lIns="0" spcFirstLastPara="1" rIns="0" wrap="square" tIns="0">
            <a:normAutofit/>
          </a:bodyPr>
          <a:lstStyle/>
          <a:p>
            <a:pPr indent="0" lvl="0" marL="0" rtl="0" algn="l">
              <a:spcBef>
                <a:spcPts val="0"/>
              </a:spcBef>
              <a:spcAft>
                <a:spcPts val="0"/>
              </a:spcAft>
              <a:buClr>
                <a:schemeClr val="dk1"/>
              </a:buClr>
              <a:buSzPts val="1100"/>
              <a:buFont typeface="Arial"/>
              <a:buNone/>
            </a:pPr>
            <a:r>
              <a:rPr lang="en"/>
              <a:t>Functionality of test.sh</a:t>
            </a:r>
            <a:endParaRPr/>
          </a:p>
        </p:txBody>
      </p:sp>
      <p:pic>
        <p:nvPicPr>
          <p:cNvPr id="133" name="Google Shape;133;p23"/>
          <p:cNvPicPr preferRelativeResize="0"/>
          <p:nvPr/>
        </p:nvPicPr>
        <p:blipFill>
          <a:blip r:embed="rId3">
            <a:alphaModFix/>
          </a:blip>
          <a:stretch>
            <a:fillRect/>
          </a:stretch>
        </p:blipFill>
        <p:spPr>
          <a:xfrm>
            <a:off x="3333750" y="1454350"/>
            <a:ext cx="1871800" cy="1263475"/>
          </a:xfrm>
          <a:prstGeom prst="rect">
            <a:avLst/>
          </a:prstGeom>
          <a:noFill/>
          <a:ln>
            <a:noFill/>
          </a:ln>
        </p:spPr>
      </p:pic>
      <p:pic>
        <p:nvPicPr>
          <p:cNvPr id="134" name="Google Shape;134;p23"/>
          <p:cNvPicPr preferRelativeResize="0"/>
          <p:nvPr/>
        </p:nvPicPr>
        <p:blipFill>
          <a:blip r:embed="rId4">
            <a:alphaModFix/>
          </a:blip>
          <a:stretch>
            <a:fillRect/>
          </a:stretch>
        </p:blipFill>
        <p:spPr>
          <a:xfrm>
            <a:off x="3150163" y="3307266"/>
            <a:ext cx="2240300" cy="993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438954" y="560541"/>
            <a:ext cx="7886700" cy="451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Your turn!</a:t>
            </a:r>
            <a:endParaRPr/>
          </a:p>
        </p:txBody>
      </p:sp>
      <p:sp>
        <p:nvSpPr>
          <p:cNvPr id="140" name="Google Shape;140;p24"/>
          <p:cNvSpPr txBox="1"/>
          <p:nvPr>
            <p:ph idx="1" type="body"/>
          </p:nvPr>
        </p:nvSpPr>
        <p:spPr>
          <a:xfrm>
            <a:off x="438954" y="1131888"/>
            <a:ext cx="7661400" cy="3697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Construct your own test case(s) and run them using test.sh.</a:t>
            </a:r>
            <a:r>
              <a:rPr lang="en"/>
              <a:t> </a:t>
            </a:r>
            <a:endParaRPr/>
          </a:p>
          <a:p>
            <a:pPr indent="0" lvl="0" marL="0" rtl="0" algn="l">
              <a:spcBef>
                <a:spcPts val="0"/>
              </a:spcBef>
              <a:spcAft>
                <a:spcPts val="0"/>
              </a:spcAft>
              <a:buNone/>
            </a:pPr>
            <a:r>
              <a:rPr lang="en"/>
              <a:t>Keep in mind, these are the commands your server must support: </a:t>
            </a:r>
            <a:endParaRPr/>
          </a:p>
          <a:p>
            <a:pPr indent="-342900" lvl="0" marL="457200" rtl="0" algn="l">
              <a:spcBef>
                <a:spcPts val="0"/>
              </a:spcBef>
              <a:spcAft>
                <a:spcPts val="0"/>
              </a:spcAft>
              <a:buClr>
                <a:srgbClr val="212529"/>
              </a:buClr>
              <a:buSzPts val="1800"/>
              <a:buFont typeface="Roboto"/>
              <a:buChar char="●"/>
            </a:pPr>
            <a:r>
              <a:rPr lang="en">
                <a:solidFill>
                  <a:srgbClr val="212529"/>
                </a:solidFill>
                <a:highlight>
                  <a:srgbClr val="E9ECEF"/>
                </a:highlight>
                <a:latin typeface="Roboto Mono"/>
                <a:ea typeface="Roboto Mono"/>
                <a:cs typeface="Roboto Mono"/>
                <a:sym typeface="Roboto Mono"/>
              </a:rPr>
              <a:t>USER</a:t>
            </a:r>
            <a:r>
              <a:rPr lang="en">
                <a:solidFill>
                  <a:srgbClr val="212529"/>
                </a:solidFill>
                <a:latin typeface="Roboto Mono"/>
                <a:ea typeface="Roboto Mono"/>
                <a:cs typeface="Roboto Mono"/>
                <a:sym typeface="Roboto Mono"/>
              </a:rPr>
              <a:t> </a:t>
            </a:r>
            <a:r>
              <a:rPr lang="en">
                <a:solidFill>
                  <a:srgbClr val="212529"/>
                </a:solidFill>
              </a:rPr>
              <a:t>and </a:t>
            </a:r>
            <a:r>
              <a:rPr lang="en">
                <a:solidFill>
                  <a:srgbClr val="212529"/>
                </a:solidFill>
                <a:highlight>
                  <a:srgbClr val="E9ECEF"/>
                </a:highlight>
                <a:latin typeface="Roboto Mono"/>
                <a:ea typeface="Roboto Mono"/>
                <a:cs typeface="Roboto Mono"/>
                <a:sym typeface="Roboto Mono"/>
              </a:rPr>
              <a:t>PASS</a:t>
            </a:r>
            <a:r>
              <a:rPr lang="en">
                <a:solidFill>
                  <a:srgbClr val="212529"/>
                </a:solidFill>
                <a:latin typeface="Roboto Mono"/>
                <a:ea typeface="Roboto Mono"/>
                <a:cs typeface="Roboto Mono"/>
                <a:sym typeface="Roboto Mono"/>
              </a:rPr>
              <a:t> </a:t>
            </a:r>
            <a:r>
              <a:rPr lang="en">
                <a:solidFill>
                  <a:srgbClr val="212529"/>
                </a:solidFill>
              </a:rPr>
              <a:t>(plaintext password authentication)</a:t>
            </a:r>
            <a:endParaRPr>
              <a:solidFill>
                <a:srgbClr val="212529"/>
              </a:solidFill>
            </a:endParaRPr>
          </a:p>
          <a:p>
            <a:pPr indent="-342900" lvl="0" marL="457200" rtl="0" algn="l">
              <a:spcBef>
                <a:spcPts val="0"/>
              </a:spcBef>
              <a:spcAft>
                <a:spcPts val="0"/>
              </a:spcAft>
              <a:buClr>
                <a:srgbClr val="212529"/>
              </a:buClr>
              <a:buSzPts val="1800"/>
              <a:buFont typeface="Roboto"/>
              <a:buChar char="●"/>
            </a:pPr>
            <a:r>
              <a:rPr lang="en">
                <a:solidFill>
                  <a:srgbClr val="212529"/>
                </a:solidFill>
                <a:highlight>
                  <a:srgbClr val="E9ECEF"/>
                </a:highlight>
                <a:latin typeface="Roboto Mono"/>
                <a:ea typeface="Roboto Mono"/>
                <a:cs typeface="Roboto Mono"/>
                <a:sym typeface="Roboto Mono"/>
              </a:rPr>
              <a:t>STAT</a:t>
            </a:r>
            <a:r>
              <a:rPr lang="en">
                <a:solidFill>
                  <a:srgbClr val="212529"/>
                </a:solidFill>
                <a:latin typeface="Roboto Mono"/>
                <a:ea typeface="Roboto Mono"/>
                <a:cs typeface="Roboto Mono"/>
                <a:sym typeface="Roboto Mono"/>
              </a:rPr>
              <a:t> </a:t>
            </a:r>
            <a:r>
              <a:rPr lang="en">
                <a:solidFill>
                  <a:srgbClr val="212529"/>
                </a:solidFill>
              </a:rPr>
              <a:t>(message count information)</a:t>
            </a:r>
            <a:endParaRPr>
              <a:solidFill>
                <a:srgbClr val="212529"/>
              </a:solidFill>
            </a:endParaRPr>
          </a:p>
          <a:p>
            <a:pPr indent="-342900" lvl="0" marL="457200" rtl="0" algn="l">
              <a:spcBef>
                <a:spcPts val="0"/>
              </a:spcBef>
              <a:spcAft>
                <a:spcPts val="0"/>
              </a:spcAft>
              <a:buClr>
                <a:srgbClr val="212529"/>
              </a:buClr>
              <a:buSzPts val="1800"/>
              <a:buFont typeface="Roboto"/>
              <a:buChar char="●"/>
            </a:pPr>
            <a:r>
              <a:rPr lang="en">
                <a:solidFill>
                  <a:srgbClr val="212529"/>
                </a:solidFill>
                <a:highlight>
                  <a:srgbClr val="E9ECEF"/>
                </a:highlight>
                <a:latin typeface="Roboto Mono"/>
                <a:ea typeface="Roboto Mono"/>
                <a:cs typeface="Roboto Mono"/>
                <a:sym typeface="Roboto Mono"/>
              </a:rPr>
              <a:t>LIST</a:t>
            </a:r>
            <a:r>
              <a:rPr lang="en">
                <a:solidFill>
                  <a:srgbClr val="212529"/>
                </a:solidFill>
                <a:latin typeface="Roboto Mono"/>
                <a:ea typeface="Roboto Mono"/>
                <a:cs typeface="Roboto Mono"/>
                <a:sym typeface="Roboto Mono"/>
              </a:rPr>
              <a:t> </a:t>
            </a:r>
            <a:r>
              <a:rPr lang="en">
                <a:solidFill>
                  <a:srgbClr val="212529"/>
                </a:solidFill>
              </a:rPr>
              <a:t>(message listing) - with and without arguments</a:t>
            </a:r>
            <a:endParaRPr>
              <a:solidFill>
                <a:srgbClr val="212529"/>
              </a:solidFill>
            </a:endParaRPr>
          </a:p>
          <a:p>
            <a:pPr indent="-342900" lvl="0" marL="457200" rtl="0" algn="l">
              <a:spcBef>
                <a:spcPts val="0"/>
              </a:spcBef>
              <a:spcAft>
                <a:spcPts val="0"/>
              </a:spcAft>
              <a:buClr>
                <a:srgbClr val="212529"/>
              </a:buClr>
              <a:buSzPts val="1800"/>
              <a:buFont typeface="Roboto"/>
              <a:buChar char="●"/>
            </a:pPr>
            <a:r>
              <a:rPr lang="en">
                <a:solidFill>
                  <a:srgbClr val="212529"/>
                </a:solidFill>
                <a:highlight>
                  <a:srgbClr val="E9ECEF"/>
                </a:highlight>
                <a:latin typeface="Roboto Mono"/>
                <a:ea typeface="Roboto Mono"/>
                <a:cs typeface="Roboto Mono"/>
                <a:sym typeface="Roboto Mono"/>
              </a:rPr>
              <a:t>RETR</a:t>
            </a:r>
            <a:r>
              <a:rPr lang="en">
                <a:solidFill>
                  <a:srgbClr val="212529"/>
                </a:solidFill>
                <a:latin typeface="Roboto Mono"/>
                <a:ea typeface="Roboto Mono"/>
                <a:cs typeface="Roboto Mono"/>
                <a:sym typeface="Roboto Mono"/>
              </a:rPr>
              <a:t> </a:t>
            </a:r>
            <a:r>
              <a:rPr lang="en">
                <a:solidFill>
                  <a:srgbClr val="212529"/>
                </a:solidFill>
              </a:rPr>
              <a:t>(message content retrieval)</a:t>
            </a:r>
            <a:endParaRPr>
              <a:solidFill>
                <a:srgbClr val="212529"/>
              </a:solidFill>
            </a:endParaRPr>
          </a:p>
          <a:p>
            <a:pPr indent="-342900" lvl="0" marL="457200" rtl="0" algn="l">
              <a:spcBef>
                <a:spcPts val="0"/>
              </a:spcBef>
              <a:spcAft>
                <a:spcPts val="0"/>
              </a:spcAft>
              <a:buClr>
                <a:srgbClr val="212529"/>
              </a:buClr>
              <a:buSzPts val="1800"/>
              <a:buFont typeface="Roboto"/>
              <a:buChar char="●"/>
            </a:pPr>
            <a:r>
              <a:rPr lang="en">
                <a:solidFill>
                  <a:srgbClr val="212529"/>
                </a:solidFill>
                <a:highlight>
                  <a:srgbClr val="E9ECEF"/>
                </a:highlight>
                <a:latin typeface="Roboto Mono"/>
                <a:ea typeface="Roboto Mono"/>
                <a:cs typeface="Roboto Mono"/>
                <a:sym typeface="Roboto Mono"/>
              </a:rPr>
              <a:t>DELE</a:t>
            </a:r>
            <a:r>
              <a:rPr lang="en">
                <a:solidFill>
                  <a:srgbClr val="212529"/>
                </a:solidFill>
                <a:latin typeface="Roboto Mono"/>
                <a:ea typeface="Roboto Mono"/>
                <a:cs typeface="Roboto Mono"/>
                <a:sym typeface="Roboto Mono"/>
              </a:rPr>
              <a:t> </a:t>
            </a:r>
            <a:r>
              <a:rPr lang="en">
                <a:solidFill>
                  <a:srgbClr val="212529"/>
                </a:solidFill>
              </a:rPr>
              <a:t>(delete message)</a:t>
            </a:r>
            <a:endParaRPr>
              <a:solidFill>
                <a:srgbClr val="212529"/>
              </a:solidFill>
            </a:endParaRPr>
          </a:p>
          <a:p>
            <a:pPr indent="-342900" lvl="0" marL="457200" rtl="0" algn="l">
              <a:spcBef>
                <a:spcPts val="0"/>
              </a:spcBef>
              <a:spcAft>
                <a:spcPts val="0"/>
              </a:spcAft>
              <a:buClr>
                <a:srgbClr val="212529"/>
              </a:buClr>
              <a:buSzPts val="1800"/>
              <a:buFont typeface="Roboto"/>
              <a:buChar char="●"/>
            </a:pPr>
            <a:r>
              <a:rPr lang="en">
                <a:solidFill>
                  <a:srgbClr val="212529"/>
                </a:solidFill>
                <a:highlight>
                  <a:srgbClr val="E9ECEF"/>
                </a:highlight>
                <a:latin typeface="Roboto Mono"/>
                <a:ea typeface="Roboto Mono"/>
                <a:cs typeface="Roboto Mono"/>
                <a:sym typeface="Roboto Mono"/>
              </a:rPr>
              <a:t>RSET</a:t>
            </a:r>
            <a:r>
              <a:rPr lang="en">
                <a:solidFill>
                  <a:srgbClr val="212529"/>
                </a:solidFill>
                <a:latin typeface="Roboto Mono"/>
                <a:ea typeface="Roboto Mono"/>
                <a:cs typeface="Roboto Mono"/>
                <a:sym typeface="Roboto Mono"/>
              </a:rPr>
              <a:t> </a:t>
            </a:r>
            <a:r>
              <a:rPr lang="en">
                <a:solidFill>
                  <a:srgbClr val="212529"/>
                </a:solidFill>
              </a:rPr>
              <a:t>(undelete messages)</a:t>
            </a:r>
            <a:endParaRPr>
              <a:solidFill>
                <a:srgbClr val="212529"/>
              </a:solidFill>
            </a:endParaRPr>
          </a:p>
          <a:p>
            <a:pPr indent="-342900" lvl="0" marL="457200" rtl="0" algn="l">
              <a:spcBef>
                <a:spcPts val="0"/>
              </a:spcBef>
              <a:spcAft>
                <a:spcPts val="0"/>
              </a:spcAft>
              <a:buClr>
                <a:srgbClr val="212529"/>
              </a:buClr>
              <a:buSzPts val="1800"/>
              <a:buFont typeface="Roboto"/>
              <a:buChar char="●"/>
            </a:pPr>
            <a:r>
              <a:rPr lang="en">
                <a:solidFill>
                  <a:srgbClr val="212529"/>
                </a:solidFill>
                <a:highlight>
                  <a:srgbClr val="E9ECEF"/>
                </a:highlight>
                <a:latin typeface="Roboto Mono"/>
                <a:ea typeface="Roboto Mono"/>
                <a:cs typeface="Roboto Mono"/>
                <a:sym typeface="Roboto Mono"/>
              </a:rPr>
              <a:t>NOOP</a:t>
            </a:r>
            <a:r>
              <a:rPr lang="en">
                <a:solidFill>
                  <a:srgbClr val="212529"/>
                </a:solidFill>
                <a:latin typeface="Roboto Mono"/>
                <a:ea typeface="Roboto Mono"/>
                <a:cs typeface="Roboto Mono"/>
                <a:sym typeface="Roboto Mono"/>
              </a:rPr>
              <a:t> </a:t>
            </a:r>
            <a:r>
              <a:rPr lang="en">
                <a:solidFill>
                  <a:srgbClr val="212529"/>
                </a:solidFill>
              </a:rPr>
              <a:t>(no operation)</a:t>
            </a:r>
            <a:endParaRPr>
              <a:solidFill>
                <a:srgbClr val="212529"/>
              </a:solidFill>
            </a:endParaRPr>
          </a:p>
          <a:p>
            <a:pPr indent="-342900" lvl="0" marL="457200" rtl="0" algn="l">
              <a:spcBef>
                <a:spcPts val="0"/>
              </a:spcBef>
              <a:spcAft>
                <a:spcPts val="0"/>
              </a:spcAft>
              <a:buClr>
                <a:srgbClr val="212529"/>
              </a:buClr>
              <a:buSzPts val="1800"/>
              <a:buFont typeface="Roboto"/>
              <a:buChar char="●"/>
            </a:pPr>
            <a:r>
              <a:rPr lang="en">
                <a:solidFill>
                  <a:srgbClr val="212529"/>
                </a:solidFill>
                <a:highlight>
                  <a:srgbClr val="E9ECEF"/>
                </a:highlight>
                <a:latin typeface="Roboto Mono"/>
                <a:ea typeface="Roboto Mono"/>
                <a:cs typeface="Roboto Mono"/>
                <a:sym typeface="Roboto Mono"/>
              </a:rPr>
              <a:t>QUIT</a:t>
            </a:r>
            <a:r>
              <a:rPr lang="en">
                <a:solidFill>
                  <a:srgbClr val="212529"/>
                </a:solidFill>
                <a:latin typeface="Roboto Mono"/>
                <a:ea typeface="Roboto Mono"/>
                <a:cs typeface="Roboto Mono"/>
                <a:sym typeface="Roboto Mono"/>
              </a:rPr>
              <a:t> </a:t>
            </a:r>
            <a:r>
              <a:rPr lang="en">
                <a:solidFill>
                  <a:srgbClr val="212529"/>
                </a:solidFill>
              </a:rPr>
              <a:t>(session termination)</a:t>
            </a:r>
            <a:endParaRPr>
              <a:solidFill>
                <a:srgbClr val="212529"/>
              </a:solidFill>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1910787" y="1784708"/>
            <a:ext cx="5438700" cy="15741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A (Re-)introduction to GDB</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438954" y="560541"/>
            <a:ext cx="7886700" cy="451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Fixing a bug in factorial program</a:t>
            </a:r>
            <a:endParaRPr/>
          </a:p>
        </p:txBody>
      </p:sp>
      <p:sp>
        <p:nvSpPr>
          <p:cNvPr id="151" name="Google Shape;151;p26"/>
          <p:cNvSpPr txBox="1"/>
          <p:nvPr>
            <p:ph idx="1" type="body"/>
          </p:nvPr>
        </p:nvSpPr>
        <p:spPr>
          <a:xfrm>
            <a:off x="438954" y="1131888"/>
            <a:ext cx="7661400" cy="3697200"/>
          </a:xfrm>
          <a:prstGeom prst="rect">
            <a:avLst/>
          </a:prstGeom>
        </p:spPr>
        <p:txBody>
          <a:bodyPr anchorCtr="0" anchor="t" bIns="0" lIns="0" spcFirstLastPara="1" rIns="0" wrap="square" tIns="0">
            <a:normAutofit/>
          </a:bodyPr>
          <a:lstStyle/>
          <a:p>
            <a:pPr indent="-323850" lvl="0" marL="457200" rtl="0" algn="l">
              <a:spcBef>
                <a:spcPts val="0"/>
              </a:spcBef>
              <a:spcAft>
                <a:spcPts val="0"/>
              </a:spcAft>
              <a:buSzPts val="1500"/>
              <a:buAutoNum type="arabicPeriod"/>
            </a:pPr>
            <a:r>
              <a:rPr lang="en"/>
              <a:t>Download and extract zip archive from tutorial 7 page</a:t>
            </a:r>
            <a:endParaRPr/>
          </a:p>
          <a:p>
            <a:pPr indent="-323850" lvl="0" marL="457200" rtl="0" algn="l">
              <a:spcBef>
                <a:spcPts val="0"/>
              </a:spcBef>
              <a:spcAft>
                <a:spcPts val="0"/>
              </a:spcAft>
              <a:buSzPts val="1500"/>
              <a:buAutoNum type="arabicPeriod"/>
            </a:pPr>
            <a:r>
              <a:rPr lang="en"/>
              <a:t>Compile and execute the program: </a:t>
            </a:r>
            <a:r>
              <a:rPr lang="en">
                <a:highlight>
                  <a:schemeClr val="lt2"/>
                </a:highlight>
                <a:latin typeface="Roboto Mono Medium"/>
                <a:ea typeface="Roboto Mono Medium"/>
                <a:cs typeface="Roboto Mono Medium"/>
                <a:sym typeface="Roboto Mono Medium"/>
              </a:rPr>
              <a:t>make &amp;&amp; ./fact</a:t>
            </a:r>
            <a:endParaRPr>
              <a:highlight>
                <a:schemeClr val="lt2"/>
              </a:highlight>
            </a:endParaRPr>
          </a:p>
          <a:p>
            <a:pPr indent="-323850" lvl="0" marL="457200" rtl="0" algn="l">
              <a:spcBef>
                <a:spcPts val="0"/>
              </a:spcBef>
              <a:spcAft>
                <a:spcPts val="0"/>
              </a:spcAft>
              <a:buSzPts val="1500"/>
              <a:buAutoNum type="arabicPeriod"/>
            </a:pPr>
            <a:r>
              <a:rPr lang="en"/>
              <a:t>Test some input </a:t>
            </a:r>
            <a:r>
              <a:rPr lang="en"/>
              <a:t>values</a:t>
            </a:r>
            <a:endParaRPr/>
          </a:p>
          <a:p>
            <a:pPr indent="-323850" lvl="1" marL="914400" rtl="0" algn="l">
              <a:spcBef>
                <a:spcPts val="0"/>
              </a:spcBef>
              <a:spcAft>
                <a:spcPts val="0"/>
              </a:spcAft>
              <a:buSzPts val="1500"/>
              <a:buAutoNum type="alphaLcPeriod"/>
            </a:pPr>
            <a:r>
              <a:rPr lang="en"/>
              <a:t>e.g. for input = 5, we should get 5! = 5 x 4 x 3 x 2 x 1 = 120</a:t>
            </a:r>
            <a:endParaRPr/>
          </a:p>
          <a:p>
            <a:pPr indent="-323850" lvl="0" marL="457200" rtl="0" algn="l">
              <a:spcBef>
                <a:spcPts val="0"/>
              </a:spcBef>
              <a:spcAft>
                <a:spcPts val="0"/>
              </a:spcAft>
              <a:buSzPts val="1500"/>
              <a:buAutoNum type="arabicPeriod"/>
            </a:pPr>
            <a:r>
              <a:rPr lang="en"/>
              <a:t>Do you get the expected output?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438954" y="560541"/>
            <a:ext cx="7886700" cy="451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Finding the bug(s) using GDB</a:t>
            </a:r>
            <a:endParaRPr/>
          </a:p>
        </p:txBody>
      </p:sp>
      <p:sp>
        <p:nvSpPr>
          <p:cNvPr id="157" name="Google Shape;157;p27"/>
          <p:cNvSpPr txBox="1"/>
          <p:nvPr>
            <p:ph idx="1" type="body"/>
          </p:nvPr>
        </p:nvSpPr>
        <p:spPr>
          <a:xfrm>
            <a:off x="438954" y="1131888"/>
            <a:ext cx="7661400" cy="3697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First load the program into the debugger:</a:t>
            </a:r>
            <a:r>
              <a:rPr lang="en"/>
              <a:t> </a:t>
            </a:r>
            <a:r>
              <a:rPr lang="en">
                <a:highlight>
                  <a:schemeClr val="lt2"/>
                </a:highlight>
                <a:latin typeface="Roboto Mono Medium"/>
                <a:ea typeface="Roboto Mono Medium"/>
                <a:cs typeface="Roboto Mono Medium"/>
                <a:sym typeface="Roboto Mono Medium"/>
              </a:rPr>
              <a:t>gdb fact</a:t>
            </a:r>
            <a:endParaRPr>
              <a:highlight>
                <a:srgbClr val="D9D9D9"/>
              </a:highlight>
              <a:latin typeface="Roboto Mono Medium"/>
              <a:ea typeface="Roboto Mono Medium"/>
              <a:cs typeface="Roboto Mono Medium"/>
              <a:sym typeface="Roboto Mono Medium"/>
            </a:endParaRPr>
          </a:p>
          <a:p>
            <a:pPr indent="0" lvl="0" marL="0" rtl="0" algn="l">
              <a:spcBef>
                <a:spcPts val="0"/>
              </a:spcBef>
              <a:spcAft>
                <a:spcPts val="0"/>
              </a:spcAft>
              <a:buNone/>
            </a:pPr>
            <a:r>
              <a:rPr lang="en"/>
              <a:t>Then, make use of these GDB commands to find the bug:</a:t>
            </a:r>
            <a:endParaRPr/>
          </a:p>
          <a:p>
            <a:pPr indent="-228600" lvl="0" marL="457200" rtl="0" algn="l">
              <a:spcBef>
                <a:spcPts val="0"/>
              </a:spcBef>
              <a:spcAft>
                <a:spcPts val="0"/>
              </a:spcAft>
              <a:buSzPts val="1500"/>
              <a:buNone/>
            </a:pPr>
            <a:r>
              <a:rPr lang="en"/>
              <a:t>Set a breakpoint: </a:t>
            </a:r>
            <a:r>
              <a:rPr lang="en">
                <a:highlight>
                  <a:schemeClr val="lt2"/>
                </a:highlight>
                <a:latin typeface="Roboto Mono Medium"/>
                <a:ea typeface="Roboto Mono Medium"/>
                <a:cs typeface="Roboto Mono Medium"/>
                <a:sym typeface="Roboto Mono Medium"/>
              </a:rPr>
              <a:t>b &lt;line number&gt;</a:t>
            </a:r>
            <a:endParaRPr>
              <a:highlight>
                <a:schemeClr val="lt2"/>
              </a:highlight>
              <a:latin typeface="Roboto Mono Medium"/>
              <a:ea typeface="Roboto Mono Medium"/>
              <a:cs typeface="Roboto Mono Medium"/>
              <a:sym typeface="Roboto Mono Medium"/>
            </a:endParaRPr>
          </a:p>
          <a:p>
            <a:pPr indent="-228600" lvl="0" marL="457200" rtl="0" algn="l">
              <a:spcBef>
                <a:spcPts val="0"/>
              </a:spcBef>
              <a:spcAft>
                <a:spcPts val="0"/>
              </a:spcAft>
              <a:buSzPts val="1500"/>
              <a:buNone/>
            </a:pPr>
            <a:r>
              <a:rPr lang="en">
                <a:highlight>
                  <a:schemeClr val="lt1"/>
                </a:highlight>
              </a:rPr>
              <a:t>Start running the program: </a:t>
            </a:r>
            <a:r>
              <a:rPr lang="en">
                <a:highlight>
                  <a:schemeClr val="lt2"/>
                </a:highlight>
                <a:latin typeface="Roboto Mono Medium"/>
                <a:ea typeface="Roboto Mono Medium"/>
                <a:cs typeface="Roboto Mono Medium"/>
                <a:sym typeface="Roboto Mono Medium"/>
              </a:rPr>
              <a:t>run &lt;port number&gt;</a:t>
            </a:r>
            <a:endParaRPr b="1">
              <a:highlight>
                <a:schemeClr val="lt2"/>
              </a:highlight>
            </a:endParaRPr>
          </a:p>
          <a:p>
            <a:pPr indent="-228600" lvl="0" marL="457200" rtl="0" algn="l">
              <a:spcBef>
                <a:spcPts val="0"/>
              </a:spcBef>
              <a:spcAft>
                <a:spcPts val="0"/>
              </a:spcAft>
              <a:buSzPts val="1500"/>
              <a:buNone/>
            </a:pPr>
            <a:r>
              <a:rPr lang="en"/>
              <a:t>Print the value of a variable</a:t>
            </a:r>
            <a:r>
              <a:rPr lang="en"/>
              <a:t>:</a:t>
            </a:r>
            <a:r>
              <a:rPr lang="en">
                <a:highlight>
                  <a:schemeClr val="lt2"/>
                </a:highlight>
                <a:latin typeface="Roboto Mono Medium"/>
                <a:ea typeface="Roboto Mono Medium"/>
                <a:cs typeface="Roboto Mono Medium"/>
                <a:sym typeface="Roboto Mono Medium"/>
              </a:rPr>
              <a:t> p</a:t>
            </a:r>
            <a:r>
              <a:rPr lang="en">
                <a:highlight>
                  <a:schemeClr val="lt2"/>
                </a:highlight>
                <a:latin typeface="Roboto Mono Medium"/>
                <a:ea typeface="Roboto Mono Medium"/>
                <a:cs typeface="Roboto Mono Medium"/>
                <a:sym typeface="Roboto Mono Medium"/>
              </a:rPr>
              <a:t> &lt;variable&gt;</a:t>
            </a:r>
            <a:endParaRPr b="1">
              <a:highlight>
                <a:schemeClr val="lt2"/>
              </a:highlight>
            </a:endParaRPr>
          </a:p>
          <a:p>
            <a:pPr indent="-228600" lvl="0" marL="457200" rtl="0" algn="l">
              <a:spcBef>
                <a:spcPts val="0"/>
              </a:spcBef>
              <a:spcAft>
                <a:spcPts val="0"/>
              </a:spcAft>
              <a:buSzPts val="1500"/>
              <a:buNone/>
            </a:pPr>
            <a:r>
              <a:rPr lang="en"/>
              <a:t>Print values of multiple variables: </a:t>
            </a:r>
            <a:r>
              <a:rPr lang="en">
                <a:highlight>
                  <a:schemeClr val="lt2"/>
                </a:highlight>
                <a:latin typeface="Roboto Mono Medium"/>
                <a:ea typeface="Roboto Mono Medium"/>
                <a:cs typeface="Roboto Mono Medium"/>
                <a:sym typeface="Roboto Mono Medium"/>
              </a:rPr>
              <a:t>p {&lt;var1&gt;, &lt;var2&gt;, &lt;var3&gt;}</a:t>
            </a:r>
            <a:endParaRPr b="1">
              <a:highlight>
                <a:schemeClr val="lt2"/>
              </a:highlight>
            </a:endParaRPr>
          </a:p>
          <a:p>
            <a:pPr indent="-228600" lvl="0" marL="457200" rtl="0" algn="l">
              <a:spcBef>
                <a:spcPts val="0"/>
              </a:spcBef>
              <a:spcAft>
                <a:spcPts val="0"/>
              </a:spcAft>
              <a:buSzPts val="1500"/>
              <a:buNone/>
            </a:pPr>
            <a:r>
              <a:rPr lang="en"/>
              <a:t>Run the next line of code: </a:t>
            </a:r>
            <a:r>
              <a:rPr lang="en">
                <a:highlight>
                  <a:schemeClr val="lt2"/>
                </a:highlight>
                <a:latin typeface="Roboto Mono Medium"/>
                <a:ea typeface="Roboto Mono Medium"/>
                <a:cs typeface="Roboto Mono Medium"/>
                <a:sym typeface="Roboto Mono Medium"/>
              </a:rPr>
              <a:t>n</a:t>
            </a:r>
            <a:endParaRPr b="1">
              <a:highlight>
                <a:schemeClr val="lt2"/>
              </a:highlight>
            </a:endParaRPr>
          </a:p>
          <a:p>
            <a:pPr indent="-228600" lvl="0" marL="457200" rtl="0" algn="l">
              <a:spcBef>
                <a:spcPts val="0"/>
              </a:spcBef>
              <a:spcAft>
                <a:spcPts val="0"/>
              </a:spcAft>
              <a:buSzPts val="1500"/>
              <a:buNone/>
            </a:pPr>
            <a:r>
              <a:rPr lang="en"/>
              <a:t>Continue until the next breakpoint:</a:t>
            </a:r>
            <a:r>
              <a:rPr b="1" lang="en">
                <a:highlight>
                  <a:schemeClr val="lt2"/>
                </a:highlight>
              </a:rPr>
              <a:t> </a:t>
            </a:r>
            <a:r>
              <a:rPr lang="en">
                <a:highlight>
                  <a:schemeClr val="lt2"/>
                </a:highlight>
                <a:latin typeface="Roboto Mono Medium"/>
                <a:ea typeface="Roboto Mono Medium"/>
                <a:cs typeface="Roboto Mono Medium"/>
                <a:sym typeface="Roboto Mono Medium"/>
              </a:rPr>
              <a:t>c</a:t>
            </a:r>
            <a:endParaRPr b="1">
              <a:highlight>
                <a:schemeClr val="lt2"/>
              </a:highlight>
            </a:endParaRPr>
          </a:p>
          <a:p>
            <a:pPr indent="-228600" lvl="0" marL="457200" rtl="0" algn="l">
              <a:spcBef>
                <a:spcPts val="0"/>
              </a:spcBef>
              <a:spcAft>
                <a:spcPts val="0"/>
              </a:spcAft>
              <a:buSzPts val="1500"/>
              <a:buNone/>
            </a:pPr>
            <a:r>
              <a:rPr lang="en">
                <a:highlight>
                  <a:schemeClr val="lt1"/>
                </a:highlight>
              </a:rPr>
              <a:t>Quit GDB: </a:t>
            </a:r>
            <a:r>
              <a:rPr lang="en">
                <a:highlight>
                  <a:schemeClr val="lt2"/>
                </a:highlight>
                <a:latin typeface="Roboto Mono Medium"/>
                <a:ea typeface="Roboto Mono Medium"/>
                <a:cs typeface="Roboto Mono Medium"/>
                <a:sym typeface="Roboto Mono Medium"/>
              </a:rPr>
              <a:t>q</a:t>
            </a:r>
            <a:endParaRPr b="1">
              <a:highlight>
                <a:schemeClr val="lt2"/>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B7FB"/>
        </a:solidFill>
      </p:bgPr>
    </p:bg>
    <p:spTree>
      <p:nvGrpSpPr>
        <p:cNvPr id="161" name="Shape 161"/>
        <p:cNvGrpSpPr/>
        <p:nvPr/>
      </p:nvGrpSpPr>
      <p:grpSpPr>
        <a:xfrm>
          <a:off x="0" y="0"/>
          <a:ext cx="0" cy="0"/>
          <a:chOff x="0" y="0"/>
          <a:chExt cx="0" cy="0"/>
        </a:xfrm>
      </p:grpSpPr>
      <p:sp>
        <p:nvSpPr>
          <p:cNvPr id="162" name="Google Shape;162;p2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Demo: Debugging with GDB</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9"/>
          <p:cNvSpPr txBox="1"/>
          <p:nvPr>
            <p:ph type="title"/>
          </p:nvPr>
        </p:nvSpPr>
        <p:spPr>
          <a:xfrm>
            <a:off x="1910787" y="1784708"/>
            <a:ext cx="5438700" cy="15741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Running tests while GDB is open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438954" y="560541"/>
            <a:ext cx="7886700" cy="451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Why can’t we just run “gdb ./test.sh”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type="title"/>
          </p:nvPr>
        </p:nvSpPr>
        <p:spPr>
          <a:xfrm>
            <a:off x="438954" y="560541"/>
            <a:ext cx="7886700" cy="451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Why can’t we just run “gdb ./test.sh” ?</a:t>
            </a:r>
            <a:endParaRPr/>
          </a:p>
        </p:txBody>
      </p:sp>
      <p:sp>
        <p:nvSpPr>
          <p:cNvPr id="178" name="Google Shape;178;p31"/>
          <p:cNvSpPr txBox="1"/>
          <p:nvPr>
            <p:ph idx="1" type="body"/>
          </p:nvPr>
        </p:nvSpPr>
        <p:spPr>
          <a:xfrm>
            <a:off x="438954" y="1131888"/>
            <a:ext cx="7661400" cy="3697200"/>
          </a:xfrm>
          <a:prstGeom prst="rect">
            <a:avLst/>
          </a:prstGeom>
        </p:spPr>
        <p:txBody>
          <a:bodyPr anchorCtr="0" anchor="t" bIns="0" lIns="0" spcFirstLastPara="1" rIns="0" wrap="square" tIns="0">
            <a:normAutofit/>
          </a:bodyPr>
          <a:lstStyle/>
          <a:p>
            <a:pPr indent="-323850" lvl="0" marL="457200" rtl="0" algn="l">
              <a:spcBef>
                <a:spcPts val="0"/>
              </a:spcBef>
              <a:spcAft>
                <a:spcPts val="0"/>
              </a:spcAft>
              <a:buSzPts val="1500"/>
              <a:buAutoNum type="arabicPeriod"/>
            </a:pPr>
            <a:r>
              <a:rPr lang="en">
                <a:highlight>
                  <a:schemeClr val="lt2"/>
                </a:highlight>
              </a:rPr>
              <a:t>test.sh</a:t>
            </a:r>
            <a:r>
              <a:rPr lang="en"/>
              <a:t> is a bash script, and gdb is for debugging C programs</a:t>
            </a:r>
            <a:endParaRPr/>
          </a:p>
          <a:p>
            <a:pPr indent="-323850" lvl="0" marL="457200" rtl="0" algn="l">
              <a:spcBef>
                <a:spcPts val="0"/>
              </a:spcBef>
              <a:spcAft>
                <a:spcPts val="0"/>
              </a:spcAft>
              <a:buSzPts val="1500"/>
              <a:buAutoNum type="arabicPeriod"/>
            </a:pPr>
            <a:r>
              <a:rPr lang="en">
                <a:highlight>
                  <a:schemeClr val="lt2"/>
                </a:highlight>
              </a:rPr>
              <a:t>test.sh</a:t>
            </a:r>
            <a:r>
              <a:rPr lang="en"/>
              <a:t> is not the program we want to debug! We want to debug our server, </a:t>
            </a:r>
            <a:r>
              <a:rPr lang="en">
                <a:highlight>
                  <a:schemeClr val="lt2"/>
                </a:highlight>
              </a:rPr>
              <a:t>./mypopd</a:t>
            </a:r>
            <a:r>
              <a:rPr lang="en"/>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2"/>
          <p:cNvSpPr txBox="1"/>
          <p:nvPr>
            <p:ph idx="1" type="body"/>
          </p:nvPr>
        </p:nvSpPr>
        <p:spPr>
          <a:xfrm>
            <a:off x="438954" y="1131888"/>
            <a:ext cx="7661400" cy="3697200"/>
          </a:xfrm>
          <a:prstGeom prst="rect">
            <a:avLst/>
          </a:prstGeom>
        </p:spPr>
        <p:txBody>
          <a:bodyPr anchorCtr="0" anchor="t" bIns="0" lIns="0" spcFirstLastPara="1" rIns="0" wrap="square" tIns="0">
            <a:normAutofit/>
          </a:bodyPr>
          <a:lstStyle/>
          <a:p>
            <a:pPr indent="-323850" lvl="0" marL="457200" rtl="0" algn="l">
              <a:spcBef>
                <a:spcPts val="0"/>
              </a:spcBef>
              <a:spcAft>
                <a:spcPts val="0"/>
              </a:spcAft>
              <a:buSzPts val="1500"/>
              <a:buAutoNum type="arabicPeriod"/>
            </a:pPr>
            <a:r>
              <a:rPr lang="en"/>
              <a:t>Runs the mypopd server: </a:t>
            </a:r>
            <a:endParaRPr/>
          </a:p>
          <a:p>
            <a:pPr indent="-323850" lvl="0" marL="457200" rtl="0" algn="l">
              <a:spcBef>
                <a:spcPts val="0"/>
              </a:spcBef>
              <a:spcAft>
                <a:spcPts val="0"/>
              </a:spcAft>
              <a:buSzPts val="1500"/>
              <a:buAutoNum type="arabicPeriod"/>
            </a:pPr>
            <a:r>
              <a:rPr lang="en"/>
              <a:t>Runs a netcat client: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when we run test.sh, there will be three programs running:</a:t>
            </a:r>
            <a:endParaRPr/>
          </a:p>
        </p:txBody>
      </p:sp>
      <p:sp>
        <p:nvSpPr>
          <p:cNvPr id="184" name="Google Shape;184;p32"/>
          <p:cNvSpPr txBox="1"/>
          <p:nvPr>
            <p:ph type="title"/>
          </p:nvPr>
        </p:nvSpPr>
        <p:spPr>
          <a:xfrm>
            <a:off x="438954" y="560541"/>
            <a:ext cx="7886700" cy="451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What test.sh does</a:t>
            </a:r>
            <a:endParaRPr/>
          </a:p>
        </p:txBody>
      </p:sp>
      <p:sp>
        <p:nvSpPr>
          <p:cNvPr id="185" name="Google Shape;185;p32"/>
          <p:cNvSpPr/>
          <p:nvPr/>
        </p:nvSpPr>
        <p:spPr>
          <a:xfrm>
            <a:off x="4464475" y="3913325"/>
            <a:ext cx="2430900" cy="503100"/>
          </a:xfrm>
          <a:prstGeom prst="roundRect">
            <a:avLst>
              <a:gd fmla="val 16667" name="adj"/>
            </a:avLst>
          </a:prstGeom>
          <a:solidFill>
            <a:srgbClr val="D9EAD3"/>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t>Server: mypopd</a:t>
            </a:r>
            <a:endParaRPr b="1" sz="1700"/>
          </a:p>
        </p:txBody>
      </p:sp>
      <p:pic>
        <p:nvPicPr>
          <p:cNvPr id="186" name="Google Shape;186;p32"/>
          <p:cNvPicPr preferRelativeResize="0"/>
          <p:nvPr/>
        </p:nvPicPr>
        <p:blipFill>
          <a:blip r:embed="rId3">
            <a:alphaModFix/>
          </a:blip>
          <a:stretch>
            <a:fillRect/>
          </a:stretch>
        </p:blipFill>
        <p:spPr>
          <a:xfrm>
            <a:off x="3184841" y="1068509"/>
            <a:ext cx="3302900" cy="284725"/>
          </a:xfrm>
          <a:prstGeom prst="rect">
            <a:avLst/>
          </a:prstGeom>
          <a:noFill/>
          <a:ln>
            <a:noFill/>
          </a:ln>
        </p:spPr>
      </p:pic>
      <p:pic>
        <p:nvPicPr>
          <p:cNvPr id="187" name="Google Shape;187;p32"/>
          <p:cNvPicPr preferRelativeResize="0"/>
          <p:nvPr/>
        </p:nvPicPr>
        <p:blipFill>
          <a:blip r:embed="rId4">
            <a:alphaModFix/>
          </a:blip>
          <a:stretch>
            <a:fillRect/>
          </a:stretch>
        </p:blipFill>
        <p:spPr>
          <a:xfrm>
            <a:off x="2769551" y="1401869"/>
            <a:ext cx="4380385" cy="284725"/>
          </a:xfrm>
          <a:prstGeom prst="rect">
            <a:avLst/>
          </a:prstGeom>
          <a:noFill/>
          <a:ln>
            <a:noFill/>
          </a:ln>
        </p:spPr>
      </p:pic>
      <p:sp>
        <p:nvSpPr>
          <p:cNvPr id="188" name="Google Shape;188;p32"/>
          <p:cNvSpPr/>
          <p:nvPr/>
        </p:nvSpPr>
        <p:spPr>
          <a:xfrm>
            <a:off x="1164375" y="3913325"/>
            <a:ext cx="2430900" cy="503100"/>
          </a:xfrm>
          <a:prstGeom prst="roundRect">
            <a:avLst>
              <a:gd fmla="val 16667" name="adj"/>
            </a:avLst>
          </a:prstGeom>
          <a:solidFill>
            <a:srgbClr val="D9EAD3"/>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t>Client: netcat</a:t>
            </a:r>
            <a:endParaRPr b="1" sz="1700"/>
          </a:p>
        </p:txBody>
      </p:sp>
      <p:cxnSp>
        <p:nvCxnSpPr>
          <p:cNvPr id="189" name="Google Shape;189;p32"/>
          <p:cNvCxnSpPr/>
          <p:nvPr/>
        </p:nvCxnSpPr>
        <p:spPr>
          <a:xfrm>
            <a:off x="3595275" y="4038025"/>
            <a:ext cx="869100" cy="0"/>
          </a:xfrm>
          <a:prstGeom prst="straightConnector1">
            <a:avLst/>
          </a:prstGeom>
          <a:noFill/>
          <a:ln cap="flat" cmpd="sng" w="38100">
            <a:solidFill>
              <a:schemeClr val="dk2"/>
            </a:solidFill>
            <a:prstDash val="solid"/>
            <a:round/>
            <a:headEnd len="med" w="med" type="none"/>
            <a:tailEnd len="med" w="med" type="triangle"/>
          </a:ln>
        </p:spPr>
      </p:cxnSp>
      <p:cxnSp>
        <p:nvCxnSpPr>
          <p:cNvPr id="190" name="Google Shape;190;p32"/>
          <p:cNvCxnSpPr>
            <a:stCxn id="185" idx="1"/>
            <a:endCxn id="188" idx="3"/>
          </p:cNvCxnSpPr>
          <p:nvPr/>
        </p:nvCxnSpPr>
        <p:spPr>
          <a:xfrm rot="10800000">
            <a:off x="3595375" y="4164875"/>
            <a:ext cx="869100" cy="0"/>
          </a:xfrm>
          <a:prstGeom prst="straightConnector1">
            <a:avLst/>
          </a:prstGeom>
          <a:noFill/>
          <a:ln cap="flat" cmpd="sng" w="38100">
            <a:solidFill>
              <a:schemeClr val="dk2"/>
            </a:solidFill>
            <a:prstDash val="solid"/>
            <a:round/>
            <a:headEnd len="med" w="med" type="none"/>
            <a:tailEnd len="med" w="med" type="triangle"/>
          </a:ln>
        </p:spPr>
      </p:cxnSp>
      <p:sp>
        <p:nvSpPr>
          <p:cNvPr id="191" name="Google Shape;191;p32"/>
          <p:cNvSpPr/>
          <p:nvPr/>
        </p:nvSpPr>
        <p:spPr>
          <a:xfrm>
            <a:off x="3409725" y="2952525"/>
            <a:ext cx="1240200" cy="503100"/>
          </a:xfrm>
          <a:prstGeom prst="roundRect">
            <a:avLst>
              <a:gd fmla="val 16667" name="adj"/>
            </a:avLst>
          </a:prstGeom>
          <a:solidFill>
            <a:srgbClr val="D9EAD3"/>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t>test.sh</a:t>
            </a:r>
            <a:endParaRPr b="1" sz="1700"/>
          </a:p>
        </p:txBody>
      </p:sp>
      <p:sp>
        <p:nvSpPr>
          <p:cNvPr id="192" name="Google Shape;192;p32"/>
          <p:cNvSpPr/>
          <p:nvPr/>
        </p:nvSpPr>
        <p:spPr>
          <a:xfrm>
            <a:off x="4263625" y="3657575"/>
            <a:ext cx="2832600" cy="10146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type="title"/>
          </p:nvPr>
        </p:nvSpPr>
        <p:spPr>
          <a:xfrm>
            <a:off x="438954" y="560541"/>
            <a:ext cx="7886700" cy="451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Simplest way to debug a test case:</a:t>
            </a:r>
            <a:endParaRPr/>
          </a:p>
        </p:txBody>
      </p:sp>
      <p:sp>
        <p:nvSpPr>
          <p:cNvPr id="198" name="Google Shape;198;p33"/>
          <p:cNvSpPr/>
          <p:nvPr/>
        </p:nvSpPr>
        <p:spPr>
          <a:xfrm>
            <a:off x="5944150" y="2221200"/>
            <a:ext cx="2430900" cy="672900"/>
          </a:xfrm>
          <a:prstGeom prst="roundRect">
            <a:avLst>
              <a:gd fmla="val 16667" name="adj"/>
            </a:avLst>
          </a:prstGeom>
          <a:solidFill>
            <a:srgbClr val="D9EAD3"/>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t>Server: mypopd running in GDB</a:t>
            </a:r>
            <a:endParaRPr b="1" sz="1700"/>
          </a:p>
        </p:txBody>
      </p:sp>
      <p:sp>
        <p:nvSpPr>
          <p:cNvPr id="199" name="Google Shape;199;p33"/>
          <p:cNvSpPr/>
          <p:nvPr/>
        </p:nvSpPr>
        <p:spPr>
          <a:xfrm>
            <a:off x="2595700" y="2306100"/>
            <a:ext cx="2056500" cy="503100"/>
          </a:xfrm>
          <a:prstGeom prst="roundRect">
            <a:avLst>
              <a:gd fmla="val 16667" name="adj"/>
            </a:avLst>
          </a:prstGeom>
          <a:solidFill>
            <a:srgbClr val="D9EAD3"/>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t>Client: netcat</a:t>
            </a:r>
            <a:endParaRPr b="1" sz="1700"/>
          </a:p>
        </p:txBody>
      </p:sp>
      <p:cxnSp>
        <p:nvCxnSpPr>
          <p:cNvPr id="200" name="Google Shape;200;p33"/>
          <p:cNvCxnSpPr/>
          <p:nvPr/>
        </p:nvCxnSpPr>
        <p:spPr>
          <a:xfrm>
            <a:off x="4652200" y="2494225"/>
            <a:ext cx="1291800" cy="0"/>
          </a:xfrm>
          <a:prstGeom prst="straightConnector1">
            <a:avLst/>
          </a:prstGeom>
          <a:noFill/>
          <a:ln cap="flat" cmpd="sng" w="38100">
            <a:solidFill>
              <a:schemeClr val="dk2"/>
            </a:solidFill>
            <a:prstDash val="solid"/>
            <a:round/>
            <a:headEnd len="med" w="med" type="none"/>
            <a:tailEnd len="med" w="med" type="triangle"/>
          </a:ln>
        </p:spPr>
      </p:cxnSp>
      <p:cxnSp>
        <p:nvCxnSpPr>
          <p:cNvPr id="201" name="Google Shape;201;p33"/>
          <p:cNvCxnSpPr/>
          <p:nvPr/>
        </p:nvCxnSpPr>
        <p:spPr>
          <a:xfrm rot="10800000">
            <a:off x="4652350" y="2682771"/>
            <a:ext cx="1291800" cy="0"/>
          </a:xfrm>
          <a:prstGeom prst="straightConnector1">
            <a:avLst/>
          </a:prstGeom>
          <a:noFill/>
          <a:ln cap="flat" cmpd="sng" w="38100">
            <a:solidFill>
              <a:schemeClr val="dk2"/>
            </a:solidFill>
            <a:prstDash val="solid"/>
            <a:round/>
            <a:headEnd len="med" w="med" type="none"/>
            <a:tailEnd len="med" w="med" type="triangle"/>
          </a:ln>
        </p:spPr>
      </p:cxnSp>
      <p:cxnSp>
        <p:nvCxnSpPr>
          <p:cNvPr id="202" name="Google Shape;202;p33"/>
          <p:cNvCxnSpPr>
            <a:stCxn id="203" idx="3"/>
            <a:endCxn id="199" idx="0"/>
          </p:cNvCxnSpPr>
          <p:nvPr/>
        </p:nvCxnSpPr>
        <p:spPr>
          <a:xfrm>
            <a:off x="1567150" y="1890300"/>
            <a:ext cx="2056800" cy="415800"/>
          </a:xfrm>
          <a:prstGeom prst="curvedConnector2">
            <a:avLst/>
          </a:prstGeom>
          <a:noFill/>
          <a:ln cap="flat" cmpd="sng" w="38100">
            <a:solidFill>
              <a:schemeClr val="dk2"/>
            </a:solidFill>
            <a:prstDash val="dash"/>
            <a:round/>
            <a:headEnd len="med" w="med" type="none"/>
            <a:tailEnd len="med" w="med" type="triangle"/>
          </a:ln>
        </p:spPr>
      </p:cxnSp>
      <p:sp>
        <p:nvSpPr>
          <p:cNvPr id="204" name="Google Shape;204;p33"/>
          <p:cNvSpPr txBox="1"/>
          <p:nvPr/>
        </p:nvSpPr>
        <p:spPr>
          <a:xfrm>
            <a:off x="1722025" y="1443000"/>
            <a:ext cx="3311700" cy="30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Pipe in contents of input file</a:t>
            </a:r>
            <a:endParaRPr sz="1800">
              <a:solidFill>
                <a:schemeClr val="dk2"/>
              </a:solidFill>
            </a:endParaRPr>
          </a:p>
        </p:txBody>
      </p:sp>
      <p:cxnSp>
        <p:nvCxnSpPr>
          <p:cNvPr id="205" name="Google Shape;205;p33"/>
          <p:cNvCxnSpPr>
            <a:stCxn id="199" idx="2"/>
            <a:endCxn id="206" idx="3"/>
          </p:cNvCxnSpPr>
          <p:nvPr/>
        </p:nvCxnSpPr>
        <p:spPr>
          <a:xfrm rot="5400000">
            <a:off x="2129800" y="2323950"/>
            <a:ext cx="1008900" cy="1979400"/>
          </a:xfrm>
          <a:prstGeom prst="curvedConnector2">
            <a:avLst/>
          </a:prstGeom>
          <a:noFill/>
          <a:ln cap="flat" cmpd="sng" w="38100">
            <a:solidFill>
              <a:schemeClr val="dk2"/>
            </a:solidFill>
            <a:prstDash val="dash"/>
            <a:round/>
            <a:headEnd len="med" w="med" type="none"/>
            <a:tailEnd len="med" w="med" type="triangle"/>
          </a:ln>
        </p:spPr>
      </p:cxnSp>
      <p:sp>
        <p:nvSpPr>
          <p:cNvPr id="207" name="Google Shape;207;p33"/>
          <p:cNvSpPr txBox="1"/>
          <p:nvPr/>
        </p:nvSpPr>
        <p:spPr>
          <a:xfrm>
            <a:off x="2852700" y="3566675"/>
            <a:ext cx="1719300" cy="8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Pipe server responses into output file</a:t>
            </a:r>
            <a:endParaRPr sz="1800">
              <a:solidFill>
                <a:schemeClr val="dk2"/>
              </a:solidFill>
            </a:endParaRPr>
          </a:p>
        </p:txBody>
      </p:sp>
      <p:sp>
        <p:nvSpPr>
          <p:cNvPr id="208" name="Google Shape;208;p33"/>
          <p:cNvSpPr/>
          <p:nvPr/>
        </p:nvSpPr>
        <p:spPr>
          <a:xfrm>
            <a:off x="706525" y="1633200"/>
            <a:ext cx="783000" cy="672900"/>
          </a:xfrm>
          <a:prstGeom prst="foldedCorner">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solidFill>
                  <a:schemeClr val="dk1"/>
                </a:solidFill>
              </a:rPr>
              <a:t>in.p.1</a:t>
            </a:r>
            <a:r>
              <a:rPr lang="en" sz="1700">
                <a:solidFill>
                  <a:schemeClr val="dk1"/>
                </a:solidFill>
              </a:rPr>
              <a:t> </a:t>
            </a:r>
            <a:endParaRPr/>
          </a:p>
        </p:txBody>
      </p:sp>
      <p:sp>
        <p:nvSpPr>
          <p:cNvPr id="209" name="Google Shape;209;p33"/>
          <p:cNvSpPr/>
          <p:nvPr/>
        </p:nvSpPr>
        <p:spPr>
          <a:xfrm>
            <a:off x="706525" y="3566675"/>
            <a:ext cx="937200" cy="572700"/>
          </a:xfrm>
          <a:prstGeom prst="foldedCorner">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700">
                <a:solidFill>
                  <a:schemeClr val="dk1"/>
                </a:solidFill>
              </a:rPr>
              <a:t>out</a:t>
            </a:r>
            <a:r>
              <a:rPr b="1" lang="en" sz="1700">
                <a:solidFill>
                  <a:schemeClr val="dk1"/>
                </a:solidFill>
              </a:rPr>
              <a:t>.p.1</a:t>
            </a:r>
            <a:r>
              <a:rPr lang="en" sz="1700">
                <a:solidFill>
                  <a:schemeClr val="dk1"/>
                </a:solidFill>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B7FB"/>
        </a:solidFill>
      </p:bgPr>
    </p:bg>
    <p:spTree>
      <p:nvGrpSpPr>
        <p:cNvPr id="213" name="Shape 213"/>
        <p:cNvGrpSpPr/>
        <p:nvPr/>
      </p:nvGrpSpPr>
      <p:grpSpPr>
        <a:xfrm>
          <a:off x="0" y="0"/>
          <a:ext cx="0" cy="0"/>
          <a:chOff x="0" y="0"/>
          <a:chExt cx="0" cy="0"/>
        </a:xfrm>
      </p:grpSpPr>
      <p:sp>
        <p:nvSpPr>
          <p:cNvPr id="214" name="Google Shape;214;p3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Demo: running a test case with GDB</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438954" y="560541"/>
            <a:ext cx="7886700" cy="451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Steps to run a test case </a:t>
            </a:r>
            <a:r>
              <a:rPr lang="en"/>
              <a:t>while</a:t>
            </a:r>
            <a:r>
              <a:rPr lang="en"/>
              <a:t> using GDB:</a:t>
            </a:r>
            <a:endParaRPr/>
          </a:p>
        </p:txBody>
      </p:sp>
      <p:sp>
        <p:nvSpPr>
          <p:cNvPr id="220" name="Google Shape;220;p35"/>
          <p:cNvSpPr txBox="1"/>
          <p:nvPr>
            <p:ph idx="1" type="body"/>
          </p:nvPr>
        </p:nvSpPr>
        <p:spPr>
          <a:xfrm>
            <a:off x="438954" y="1131888"/>
            <a:ext cx="7661400" cy="3697200"/>
          </a:xfrm>
          <a:prstGeom prst="rect">
            <a:avLst/>
          </a:prstGeom>
        </p:spPr>
        <p:txBody>
          <a:bodyPr anchorCtr="0" anchor="t" bIns="0" lIns="0" spcFirstLastPara="1" rIns="0" wrap="square" tIns="0">
            <a:normAutofit lnSpcReduction="10000"/>
          </a:bodyPr>
          <a:lstStyle/>
          <a:p>
            <a:pPr indent="-323850" lvl="0" marL="457200" rtl="0" algn="l">
              <a:spcBef>
                <a:spcPts val="0"/>
              </a:spcBef>
              <a:spcAft>
                <a:spcPts val="0"/>
              </a:spcAft>
              <a:buSzPts val="1500"/>
              <a:buAutoNum type="arabicPeriod"/>
            </a:pPr>
            <a:r>
              <a:rPr lang="en"/>
              <a:t>Load </a:t>
            </a:r>
            <a:r>
              <a:rPr lang="en">
                <a:highlight>
                  <a:schemeClr val="lt1"/>
                </a:highlight>
              </a:rPr>
              <a:t>mypopd </a:t>
            </a:r>
            <a:r>
              <a:rPr lang="en"/>
              <a:t>into gdb:  </a:t>
            </a:r>
            <a:r>
              <a:rPr lang="en">
                <a:highlight>
                  <a:schemeClr val="lt2"/>
                </a:highlight>
                <a:latin typeface="Roboto Mono Medium"/>
                <a:ea typeface="Roboto Mono Medium"/>
                <a:cs typeface="Roboto Mono Medium"/>
                <a:sym typeface="Roboto Mono Medium"/>
              </a:rPr>
              <a:t> gdb ./mypopd</a:t>
            </a:r>
            <a:endParaRPr>
              <a:highlight>
                <a:schemeClr val="lt2"/>
              </a:highlight>
              <a:latin typeface="Roboto Mono Medium"/>
              <a:ea typeface="Roboto Mono Medium"/>
              <a:cs typeface="Roboto Mono Medium"/>
              <a:sym typeface="Roboto Mono Medium"/>
            </a:endParaRPr>
          </a:p>
          <a:p>
            <a:pPr indent="-323850" lvl="0" marL="457200" rtl="0" algn="l">
              <a:spcBef>
                <a:spcPts val="0"/>
              </a:spcBef>
              <a:spcAft>
                <a:spcPts val="0"/>
              </a:spcAft>
              <a:buSzPts val="1500"/>
              <a:buAutoNum type="arabicPeriod"/>
            </a:pPr>
            <a:r>
              <a:rPr lang="en"/>
              <a:t>Set breakpoint(s):          </a:t>
            </a:r>
            <a:r>
              <a:rPr lang="en">
                <a:highlight>
                  <a:schemeClr val="lt2"/>
                </a:highlight>
                <a:latin typeface="Roboto Mono Medium"/>
                <a:ea typeface="Roboto Mono Medium"/>
                <a:cs typeface="Roboto Mono Medium"/>
                <a:sym typeface="Roboto Mono Medium"/>
              </a:rPr>
              <a:t> b &lt;line number&gt;</a:t>
            </a:r>
            <a:endParaRPr>
              <a:highlight>
                <a:schemeClr val="lt2"/>
              </a:highlight>
              <a:latin typeface="Roboto Mono Medium"/>
              <a:ea typeface="Roboto Mono Medium"/>
              <a:cs typeface="Roboto Mono Medium"/>
              <a:sym typeface="Roboto Mono Medium"/>
            </a:endParaRPr>
          </a:p>
          <a:p>
            <a:pPr indent="-323850" lvl="0" marL="457200" rtl="0" algn="l">
              <a:spcBef>
                <a:spcPts val="0"/>
              </a:spcBef>
              <a:spcAft>
                <a:spcPts val="0"/>
              </a:spcAft>
              <a:buSzPts val="1500"/>
              <a:buAutoNum type="arabicPeriod"/>
            </a:pPr>
            <a:r>
              <a:rPr lang="en"/>
              <a:t>Run the popd server:     </a:t>
            </a:r>
            <a:r>
              <a:rPr lang="en">
                <a:highlight>
                  <a:schemeClr val="lt2"/>
                </a:highlight>
                <a:latin typeface="Roboto Mono Medium"/>
                <a:ea typeface="Roboto Mono Medium"/>
                <a:cs typeface="Roboto Mono Medium"/>
                <a:sym typeface="Roboto Mono Medium"/>
              </a:rPr>
              <a:t> run &lt;port number&gt;</a:t>
            </a:r>
            <a:endParaRPr>
              <a:highlight>
                <a:schemeClr val="lt2"/>
              </a:highlight>
              <a:latin typeface="Roboto Mono Medium"/>
              <a:ea typeface="Roboto Mono Medium"/>
              <a:cs typeface="Roboto Mono Medium"/>
              <a:sym typeface="Roboto Mono Medium"/>
            </a:endParaRPr>
          </a:p>
          <a:p>
            <a:pPr indent="-323850" lvl="0" marL="457200" rtl="0" algn="l">
              <a:spcBef>
                <a:spcPts val="0"/>
              </a:spcBef>
              <a:spcAft>
                <a:spcPts val="0"/>
              </a:spcAft>
              <a:buSzPts val="1500"/>
              <a:buAutoNum type="arabicPeriod"/>
            </a:pPr>
            <a:r>
              <a:rPr lang="en"/>
              <a:t>In a </a:t>
            </a:r>
            <a:r>
              <a:rPr i="1" lang="en"/>
              <a:t>separate terminal window</a:t>
            </a:r>
            <a:r>
              <a:rPr lang="en"/>
              <a:t>, run </a:t>
            </a:r>
            <a:r>
              <a:rPr lang="en"/>
              <a:t>a netcat client using one of the following:</a:t>
            </a:r>
            <a:endParaRPr/>
          </a:p>
          <a:p>
            <a:pPr indent="-323850" lvl="1" marL="914400" rtl="0" algn="l">
              <a:spcBef>
                <a:spcPts val="0"/>
              </a:spcBef>
              <a:spcAft>
                <a:spcPts val="0"/>
              </a:spcAft>
              <a:buSzPts val="1500"/>
              <a:buAutoNum type="alphaLcPeriod"/>
            </a:pPr>
            <a:r>
              <a:rPr lang="en">
                <a:highlight>
                  <a:schemeClr val="lt2"/>
                </a:highlight>
                <a:latin typeface="Roboto Mono Medium"/>
                <a:ea typeface="Roboto Mono Medium"/>
                <a:cs typeface="Roboto Mono Medium"/>
                <a:sym typeface="Roboto Mono Medium"/>
              </a:rPr>
              <a:t>netcat localhost &lt;port number&gt;</a:t>
            </a:r>
            <a:r>
              <a:rPr b="1" i="1" lang="en">
                <a:highlight>
                  <a:schemeClr val="lt2"/>
                </a:highlight>
              </a:rPr>
              <a:t> </a:t>
            </a:r>
            <a:r>
              <a:rPr lang="en"/>
              <a:t>and then provide commands to the server manually</a:t>
            </a:r>
            <a:endParaRPr/>
          </a:p>
          <a:p>
            <a:pPr indent="-323850" lvl="1" marL="914400" rtl="0" algn="l">
              <a:spcBef>
                <a:spcPts val="0"/>
              </a:spcBef>
              <a:spcAft>
                <a:spcPts val="0"/>
              </a:spcAft>
              <a:buSzPts val="1500"/>
              <a:buAutoNum type="alphaLcPeriod"/>
            </a:pPr>
            <a:r>
              <a:rPr lang="en">
                <a:highlight>
                  <a:schemeClr val="lt2"/>
                </a:highlight>
                <a:latin typeface="Roboto Mono Medium"/>
                <a:ea typeface="Roboto Mono Medium"/>
                <a:cs typeface="Roboto Mono Medium"/>
                <a:sym typeface="Roboto Mono Medium"/>
              </a:rPr>
              <a:t>netcat localhost &lt;port number&gt; &lt; &lt;input_file&gt;</a:t>
            </a:r>
            <a:r>
              <a:rPr b="1" i="1" lang="en">
                <a:highlight>
                  <a:schemeClr val="lt2"/>
                </a:highlight>
              </a:rPr>
              <a:t> </a:t>
            </a:r>
            <a:r>
              <a:rPr lang="en"/>
              <a:t> to pipe in the contents of an input file</a:t>
            </a:r>
            <a:endParaRPr/>
          </a:p>
          <a:p>
            <a:pPr indent="-323850" lvl="1" marL="914400" rtl="0" algn="l">
              <a:spcBef>
                <a:spcPts val="0"/>
              </a:spcBef>
              <a:spcAft>
                <a:spcPts val="0"/>
              </a:spcAft>
              <a:buSzPts val="1500"/>
              <a:buAutoNum type="alphaLcPeriod"/>
            </a:pPr>
            <a:r>
              <a:rPr lang="en">
                <a:highlight>
                  <a:schemeClr val="lt2"/>
                </a:highlight>
                <a:latin typeface="Roboto Mono Medium"/>
                <a:ea typeface="Roboto Mono Medium"/>
                <a:cs typeface="Roboto Mono Medium"/>
                <a:sym typeface="Roboto Mono Medium"/>
              </a:rPr>
              <a:t>netcat localhost &lt;port number&gt; &gt; &lt;output_file&gt;</a:t>
            </a:r>
            <a:r>
              <a:rPr b="1" i="1" lang="en">
                <a:highlight>
                  <a:schemeClr val="lt2"/>
                </a:highlight>
              </a:rPr>
              <a:t> </a:t>
            </a:r>
            <a:r>
              <a:rPr lang="en"/>
              <a:t> to save the result to an output file</a:t>
            </a:r>
            <a:endParaRPr/>
          </a:p>
          <a:p>
            <a:pPr indent="-323850" lvl="0" marL="457200" rtl="0" algn="l">
              <a:spcBef>
                <a:spcPts val="0"/>
              </a:spcBef>
              <a:spcAft>
                <a:spcPts val="0"/>
              </a:spcAft>
              <a:buSzPts val="1500"/>
              <a:buAutoNum type="arabicPeriod"/>
            </a:pPr>
            <a:r>
              <a:rPr lang="en"/>
              <a:t>Compare the output to what you expected using one of the following:</a:t>
            </a:r>
            <a:endParaRPr/>
          </a:p>
          <a:p>
            <a:pPr indent="-323850" lvl="1" marL="914400" rtl="0" algn="l">
              <a:spcBef>
                <a:spcPts val="0"/>
              </a:spcBef>
              <a:spcAft>
                <a:spcPts val="0"/>
              </a:spcAft>
              <a:buSzPts val="1500"/>
              <a:buAutoNum type="alphaLcPeriod"/>
            </a:pPr>
            <a:r>
              <a:rPr lang="en"/>
              <a:t>The diff command: </a:t>
            </a:r>
            <a:r>
              <a:rPr lang="en">
                <a:highlight>
                  <a:schemeClr val="lt2"/>
                </a:highlight>
                <a:latin typeface="Roboto Mono Medium"/>
                <a:ea typeface="Roboto Mono Medium"/>
                <a:cs typeface="Roboto Mono Medium"/>
                <a:sym typeface="Roboto Mono Medium"/>
              </a:rPr>
              <a:t>diff &lt;file1&gt; &lt;file2&gt;</a:t>
            </a:r>
            <a:endParaRPr b="1" i="1">
              <a:highlight>
                <a:schemeClr val="lt2"/>
              </a:highlight>
            </a:endParaRPr>
          </a:p>
          <a:p>
            <a:pPr indent="-323850" lvl="1" marL="914400" rtl="0" algn="l">
              <a:spcBef>
                <a:spcPts val="0"/>
              </a:spcBef>
              <a:spcAft>
                <a:spcPts val="0"/>
              </a:spcAft>
              <a:buSzPts val="1500"/>
              <a:buAutoNum type="alphaLcPeriod"/>
            </a:pPr>
            <a:r>
              <a:rPr lang="en"/>
              <a:t>A visual comparison tool like </a:t>
            </a:r>
            <a:r>
              <a:rPr lang="en" u="sng">
                <a:solidFill>
                  <a:schemeClr val="hlink"/>
                </a:solidFill>
                <a:hlinkClick r:id="rId3"/>
              </a:rPr>
              <a:t>https://www.diffchecker.com/</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